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-6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58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nombre del proyecto y al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los tres componentes del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el dato ya existe; falta interpretarlo.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no reemplazamos a INFOBRAS ni MapaInversiones.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la entidad ejecutora no es usuario en esta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explícitos sobre lo que no se construirá.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RF-01 a RF-05 brevemente.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historia corresponde a un requisito funcional.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por qué US04 es Should y no Must.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Detenerse en el riesgo de alucinación de la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como referencia rápida si surgen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cada historia es trazable de punta a punta.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espacio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63046">
                  <a:alpha val="100000"/>
                </a:srgbClr>
              </a:gs>
              <a:gs pos="100000">
                <a:srgbClr val="16223A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E3A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DE CURSO · FASE DE INCEPTION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2495550"/>
            <a:ext cx="176022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719"/>
              </a:lnSpc>
              <a:buNone/>
            </a:pPr>
            <a:r>
              <a:rPr lang="en-US" sz="11250" b="1" i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ObraClara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1143000" y="4229100"/>
            <a:ext cx="1362075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5EFE2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 ciudadana para el seguimiento de obras públicas en el Perú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43000" y="7968704"/>
            <a:ext cx="16002000" cy="9525"/>
          </a:xfrm>
          <a:prstGeom prst="rect">
            <a:avLst/>
          </a:prstGeom>
          <a:solidFill>
            <a:srgbClr val="F5EFE2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143000" y="8321129"/>
            <a:ext cx="5376291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714"/>
              </a:lnSpc>
              <a:buNone/>
            </a:pPr>
            <a:r>
              <a:rPr lang="en-US" sz="1800" dirty="0">
                <a:solidFill>
                  <a:srgbClr val="F5EFE2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Michael Taype Rivas — 22200167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8709720"/>
            <a:ext cx="5376291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714"/>
              </a:lnSpc>
              <a:buNone/>
            </a:pPr>
            <a:r>
              <a:rPr lang="en-US" sz="1800" dirty="0">
                <a:solidFill>
                  <a:srgbClr val="F5EFE2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Sebastián Saavedra Escudero — 23100212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9098310"/>
            <a:ext cx="5376291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714"/>
              </a:lnSpc>
              <a:buNone/>
            </a:pPr>
            <a:r>
              <a:rPr lang="en-US" sz="1800" dirty="0">
                <a:solidFill>
                  <a:srgbClr val="F5EFE2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Renzo Vigo Rojas — 25200098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59046" y="8709720"/>
            <a:ext cx="508595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1111"/>
              </a:lnSpc>
              <a:buNone/>
            </a:pPr>
            <a:r>
              <a:rPr lang="en-US" sz="1800" dirty="0">
                <a:solidFill>
                  <a:srgbClr val="F5EFE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Fundamentals of Vibe Unified Process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59046" y="9098310"/>
            <a:ext cx="508595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1111"/>
              </a:lnSpc>
              <a:buNone/>
            </a:pPr>
            <a:r>
              <a:rPr lang="en-US" sz="1800" dirty="0">
                <a:solidFill>
                  <a:srgbClr val="F5EFE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Agosto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AE5DA">
                  <a:alpha val="100000"/>
                </a:srgbClr>
              </a:gs>
              <a:gs pos="100000">
                <a:srgbClr val="F5EFE2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IDEA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04950"/>
            <a:ext cx="157162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es ObraClara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2514600"/>
            <a:ext cx="14225588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05"/>
              </a:lnSpc>
              <a:buNone/>
            </a:pPr>
            <a:r>
              <a:rPr lang="en-US" sz="240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web que permite buscar, consultar y comprender el estado de obras públicas, respaldada por evidencia verificable.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931741"/>
            <a:ext cx="5130701" cy="5555159"/>
          </a:xfrm>
          <a:prstGeom prst="rect">
            <a:avLst/>
          </a:prstGeom>
          <a:solidFill>
            <a:srgbClr val="ECE3D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485900" y="4350841"/>
            <a:ext cx="48893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59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Plataforma web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85900" y="4846141"/>
            <a:ext cx="4578248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4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Catálogo, búsqueda y ficha de detalle de cada obra pública.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78501" y="3931741"/>
            <a:ext cx="5130850" cy="5555159"/>
          </a:xfrm>
          <a:prstGeom prst="rect">
            <a:avLst/>
          </a:prstGeom>
          <a:solidFill>
            <a:srgbClr val="ECE3D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921401" y="4350841"/>
            <a:ext cx="48895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59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Vigía Público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21401" y="4846141"/>
            <a:ext cx="4578401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4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de Telegram: obras cercanas por geolocalización.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14150" y="3931741"/>
            <a:ext cx="5130850" cy="5555159"/>
          </a:xfrm>
          <a:prstGeom prst="rect">
            <a:avLst/>
          </a:prstGeom>
          <a:solidFill>
            <a:srgbClr val="ECE3D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2357050" y="4350841"/>
            <a:ext cx="48895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59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Analizador con IA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357050" y="4846141"/>
            <a:ext cx="4578401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3A4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traduce fragmentos técnicos a explicaciones ciudadanas, con evidencia textual.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63046">
                  <a:alpha val="100000"/>
                </a:srgbClr>
              </a:gs>
              <a:gs pos="100000">
                <a:srgbClr val="16223A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E3A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PROBLEMA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04950"/>
            <a:ext cx="157162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públicos, pero difíciles de interpretar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2400300"/>
            <a:ext cx="14668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250" dirty="0">
                <a:solidFill>
                  <a:srgbClr val="F5EFE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INFOBRAS y MapaInversiones publican avance físico y financiero desde hace más de una década.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3295650"/>
            <a:ext cx="15206662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421"/>
              </a:lnSpc>
              <a:buNone/>
            </a:pPr>
            <a:r>
              <a:rPr lang="en-US" sz="3750" i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“El problema no es la ausencia de datos, sino la ausencia de una capa de interpretación que explique, en términos simples, por qué una obra se atrasó.”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143000" y="5567363"/>
            <a:ext cx="13620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5EFE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Expedientes técnicos, informes de supervisión y cronogramas no están escritos en lenguaje llano.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AE5DA">
                  <a:alpha val="100000"/>
                </a:srgbClr>
              </a:gs>
              <a:gs pos="100000">
                <a:srgbClr val="F5EFE2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VISIÓN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04950"/>
            <a:ext cx="157162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capa de interpretación, no un reemplazo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2590800"/>
            <a:ext cx="14716125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3150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el mediano plazo, ObraClara busca ser una herramienta de referencia para periodistas, sociedad civil y ciudadanos que necesitan entender —no solo ver— el estado real de la inversión pública en su localidad.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1143000" y="8867775"/>
            <a:ext cx="16002000" cy="9525"/>
          </a:xfrm>
          <a:prstGeom prst="rect">
            <a:avLst/>
          </a:prstGeom>
          <a:solidFill>
            <a:srgbClr val="16223A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143000" y="9182100"/>
            <a:ext cx="16482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COMPLEMENTA A INFOBRAS Y MAPAINVERSIONES — NO LAS SUSTITUYE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AE5DA">
                  <a:alpha val="100000"/>
                </a:srgbClr>
              </a:gs>
              <a:gs pos="100000">
                <a:srgbClr val="F5EFE2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04–05 — USUARIOS Y STAKEHOLDERS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04950"/>
            <a:ext cx="157162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quién construimos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2590800"/>
            <a:ext cx="82981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 OBJETIVO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4174629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143000" y="3257550"/>
            <a:ext cx="224879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82179" y="3257550"/>
            <a:ext cx="7420759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Ciudadanos que fiscalizan obras cercanas a su domicilio o localidad.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1143000" y="4899868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143000" y="4355604"/>
            <a:ext cx="224879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82179" y="4355604"/>
            <a:ext cx="694658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Periodistas de investigación y periodismo de datos.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143000" y="5625108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143000" y="5080843"/>
            <a:ext cx="224879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82179" y="5080843"/>
            <a:ext cx="7660362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 y organizaciones de transparencia / anticorrupción.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143000" y="5844183"/>
            <a:ext cx="777011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considera usuario objetivo en esta fase a la entidad ejecutora ni al contratista.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0" y="2590800"/>
            <a:ext cx="82981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STAKEHOLDERS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01200" y="3801814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601200" y="3257550"/>
            <a:ext cx="224879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940379" y="3257550"/>
            <a:ext cx="465659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 del proyecto.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9601200" y="4527054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9601200" y="3982789"/>
            <a:ext cx="224879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940379" y="3982789"/>
            <a:ext cx="414614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/ evaluador del curso.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9601200" y="5252293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9601200" y="4708029"/>
            <a:ext cx="224879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940379" y="4708029"/>
            <a:ext cx="7029257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finales potenciales — discovery pendiente.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9601200" y="6350347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9601200" y="5433268"/>
            <a:ext cx="224879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940379" y="5433268"/>
            <a:ext cx="7420759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datos abiertas: Contraloría/INFOBRAS, MEF/Invierte.pe.</a:t>
            </a:r>
            <a:endParaRPr lang="en-US" sz="21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AE5DA">
                  <a:alpha val="100000"/>
                </a:srgbClr>
              </a:gs>
              <a:gs pos="100000">
                <a:srgbClr val="F5EFE2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06–07 — ALCANCE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04950"/>
            <a:ext cx="157162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incluye esta entrega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2552700"/>
            <a:ext cx="82981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4B7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DENTRO DEL ALCANCE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3661767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143000" y="3181350"/>
            <a:ext cx="26178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B7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00039" y="3181350"/>
            <a:ext cx="5641806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Catálogo, búsqueda y filtros de obras (US01)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143000" y="4285059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143000" y="3804642"/>
            <a:ext cx="26178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B7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500039" y="3804642"/>
            <a:ext cx="5521806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obra con avance y alertas (US02)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43000" y="4908352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143000" y="4427934"/>
            <a:ext cx="26178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B7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00039" y="4427934"/>
            <a:ext cx="747897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Analizador de texto técnico con IA, con modo demo (US03)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143000" y="5531644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1143000" y="5051227"/>
            <a:ext cx="26178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B7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00039" y="5051227"/>
            <a:ext cx="503051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Vigía Público, versión básica (US04)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143000" y="6154936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1143000" y="5674519"/>
            <a:ext cx="26178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B7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00039" y="5674519"/>
            <a:ext cx="6142762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demostración claramente identificados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601200" y="2552700"/>
            <a:ext cx="82981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A6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FUERA DE ALCANCE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01200" y="3661767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9601200" y="3181350"/>
            <a:ext cx="22487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921329" y="3181350"/>
            <a:ext cx="3285515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de usuarios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601200" y="4285059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9601200" y="3804642"/>
            <a:ext cx="22487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921329" y="3804642"/>
            <a:ext cx="2306196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Pasarela de pagos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9601200" y="4908352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9601200" y="4427934"/>
            <a:ext cx="22487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921329" y="4427934"/>
            <a:ext cx="259792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administrativo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9601200" y="5531644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9601200" y="5051227"/>
            <a:ext cx="22487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921329" y="5051227"/>
            <a:ext cx="656660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Acusar responsables o determinar corrupción vía IA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9601200" y="6154936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9601200" y="5674519"/>
            <a:ext cx="22487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921329" y="5674519"/>
            <a:ext cx="670691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validada con fuente oficial en producción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9601200" y="6778228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9601200" y="6297811"/>
            <a:ext cx="224879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9921329" y="6297811"/>
            <a:ext cx="5997714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nacional completa (dataset: 8 casos)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AE5DA">
                  <a:alpha val="100000"/>
                </a:srgbClr>
              </a:gs>
              <a:gs pos="100000">
                <a:srgbClr val="F5EFE2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REQUISITOS FUNCIONALES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04950"/>
            <a:ext cx="157162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el sistema debe hacer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3178373"/>
            <a:ext cx="160020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143000" y="2686050"/>
            <a:ext cx="13620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647950" y="2667000"/>
            <a:ext cx="10160392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42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y filtrar obras por nombre, código, ubicación, estado y presupuesto.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143000" y="3851672"/>
            <a:ext cx="160020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143000" y="3359348"/>
            <a:ext cx="13620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647950" y="3340298"/>
            <a:ext cx="9092669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42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el detalle de una obra: avance, diferencia y días de retraso.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143000" y="4524970"/>
            <a:ext cx="160020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143000" y="4032647"/>
            <a:ext cx="13620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647950" y="4013597"/>
            <a:ext cx="9621128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42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un fragmento técnico y devolver una explicación estructurada.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143000" y="5198269"/>
            <a:ext cx="160020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1143000" y="4705945"/>
            <a:ext cx="13620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647950" y="4686895"/>
            <a:ext cx="973196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42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obras cercanas y responder preguntas vía el bot de Telegram.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1143000" y="5871567"/>
            <a:ext cx="160020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1143000" y="5379244"/>
            <a:ext cx="13620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RF-05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2647950" y="5360194"/>
            <a:ext cx="9520773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42"/>
              </a:lnSpc>
              <a:buNone/>
            </a:pPr>
            <a:r>
              <a:rPr lang="en-US" sz="21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 en modo demostrativo sin credenciales externas configuradas.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143000" y="9086850"/>
            <a:ext cx="34199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NEGOCIABLES (RNF)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404420" y="8991600"/>
            <a:ext cx="3125837" cy="495300"/>
          </a:xfrm>
          <a:prstGeom prst="rect">
            <a:avLst/>
          </a:prstGeom>
          <a:solidFill>
            <a:srgbClr val="ECE3D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4613970" y="9086850"/>
            <a:ext cx="28005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credenciales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82657" y="8991600"/>
            <a:ext cx="2937421" cy="495300"/>
          </a:xfrm>
          <a:prstGeom prst="rect">
            <a:avLst/>
          </a:prstGeom>
          <a:solidFill>
            <a:srgbClr val="ECE3D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7892207" y="9086850"/>
            <a:ext cx="26064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de la fuente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772477" y="8991600"/>
            <a:ext cx="1783259" cy="495300"/>
          </a:xfrm>
          <a:prstGeom prst="rect">
            <a:avLst/>
          </a:prstGeom>
          <a:solidFill>
            <a:srgbClr val="ECE3D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10982027" y="9086850"/>
            <a:ext cx="14403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Accesibilidad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708136" y="8991600"/>
            <a:ext cx="3009007" cy="495300"/>
          </a:xfrm>
          <a:prstGeom prst="rect">
            <a:avLst/>
          </a:prstGeom>
          <a:solidFill>
            <a:srgbClr val="ECE3D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12917686" y="9086850"/>
            <a:ext cx="26801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responsive en español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AE5DA">
                  <a:alpha val="100000"/>
                </a:srgbClr>
              </a:gs>
              <a:gs pos="100000">
                <a:srgbClr val="F5EFE2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HISTORIAS DE USUARIO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04950"/>
            <a:ext cx="157162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historias de usuario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2514600"/>
            <a:ext cx="7867650" cy="3352800"/>
          </a:xfrm>
          <a:prstGeom prst="rect">
            <a:avLst/>
          </a:prstGeom>
          <a:solidFill>
            <a:srgbClr val="ECE3D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524000" y="2895600"/>
            <a:ext cx="78162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24000" y="3352800"/>
            <a:ext cx="78162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y explorar obras públicas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24000" y="3790950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ciudadano, quiero buscar, filtrar y ordenar obras para encontrarlas por nombre, ubicación, estado o retraso.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277350" y="2514600"/>
            <a:ext cx="7867650" cy="3352800"/>
          </a:xfrm>
          <a:prstGeom prst="rect">
            <a:avLst/>
          </a:prstGeom>
          <a:solidFill>
            <a:srgbClr val="ECE3D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658350" y="2895600"/>
            <a:ext cx="78162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58350" y="3352800"/>
            <a:ext cx="78162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el detalle y evidencia de una obra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58350" y="3790950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ciudadano, quiero ver el estado, avance y evidencia disponible de una obra específica.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143000" y="6134100"/>
            <a:ext cx="7867650" cy="3352800"/>
          </a:xfrm>
          <a:prstGeom prst="rect">
            <a:avLst/>
          </a:prstGeom>
          <a:solidFill>
            <a:srgbClr val="ECE3D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1524000" y="6515100"/>
            <a:ext cx="78162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524000" y="6972300"/>
            <a:ext cx="78162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información técnica con IA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24000" y="7410450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ciudadano, quiero analizar un fragmento técnico y obtener una explicación clara respaldada por evidencia.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277350" y="6134100"/>
            <a:ext cx="7867650" cy="3352800"/>
          </a:xfrm>
          <a:prstGeom prst="rect">
            <a:avLst/>
          </a:prstGeom>
          <a:solidFill>
            <a:srgbClr val="ECE3D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658350" y="6515100"/>
            <a:ext cx="78162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58350" y="6972300"/>
            <a:ext cx="78162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obras cercanas con Vigía Público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658350" y="7410450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ciudadano, quiero compartir mi ubicación en Telegram para ver obras cercanas y preguntar sobre ellas.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63046">
                  <a:alpha val="100000"/>
                </a:srgbClr>
              </a:gs>
              <a:gs pos="100000">
                <a:srgbClr val="16223A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E3A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— PRIORIZACIÓN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04950"/>
            <a:ext cx="157162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construimos primero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5086350"/>
            <a:ext cx="16002000" cy="9525"/>
          </a:xfrm>
          <a:prstGeom prst="rect">
            <a:avLst/>
          </a:prstGeom>
          <a:solidFill>
            <a:srgbClr val="F5EFE2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1143000" y="4400550"/>
            <a:ext cx="1428750" cy="457200"/>
          </a:xfrm>
          <a:prstGeom prst="rect">
            <a:avLst/>
          </a:prstGeom>
          <a:solidFill>
            <a:srgbClr val="7FB08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314450" y="4476750"/>
            <a:ext cx="10858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9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76550" y="4452938"/>
            <a:ext cx="1123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3A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229100" y="4449663"/>
            <a:ext cx="1420749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42"/>
              </a:lnSpc>
              <a:buNone/>
            </a:pPr>
            <a:r>
              <a:rPr lang="en-US" sz="2175" dirty="0">
                <a:solidFill>
                  <a:srgbClr val="F5E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indispensable para navegar cualquier obra.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143000" y="6010275"/>
            <a:ext cx="16002000" cy="9525"/>
          </a:xfrm>
          <a:prstGeom prst="rect">
            <a:avLst/>
          </a:prstGeom>
          <a:solidFill>
            <a:srgbClr val="F5EFE2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1143000" y="5324475"/>
            <a:ext cx="1428750" cy="457200"/>
          </a:xfrm>
          <a:prstGeom prst="rect">
            <a:avLst/>
          </a:prstGeom>
          <a:solidFill>
            <a:srgbClr val="7FB08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314450" y="5400675"/>
            <a:ext cx="10858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9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76550" y="5376863"/>
            <a:ext cx="1123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3A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229100" y="5373588"/>
            <a:ext cx="1420749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42"/>
              </a:lnSpc>
              <a:buNone/>
            </a:pPr>
            <a:r>
              <a:rPr lang="en-US" sz="2175" dirty="0">
                <a:solidFill>
                  <a:srgbClr val="F5E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de la propuesta de valor: comprender el estado real de una obra.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1143000" y="6934200"/>
            <a:ext cx="16002000" cy="9525"/>
          </a:xfrm>
          <a:prstGeom prst="rect">
            <a:avLst/>
          </a:prstGeom>
          <a:solidFill>
            <a:srgbClr val="F5EFE2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1143000" y="6248400"/>
            <a:ext cx="1428750" cy="457200"/>
          </a:xfrm>
          <a:prstGeom prst="rect">
            <a:avLst/>
          </a:prstGeom>
          <a:solidFill>
            <a:srgbClr val="7FB08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1314450" y="6324600"/>
            <a:ext cx="10858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9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76550" y="6300788"/>
            <a:ext cx="1123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3A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229100" y="6297513"/>
            <a:ext cx="1420749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42"/>
              </a:lnSpc>
              <a:buNone/>
            </a:pPr>
            <a:r>
              <a:rPr lang="en-US" sz="2175" dirty="0">
                <a:solidFill>
                  <a:srgbClr val="F5E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Diferenciador frente a INFOBRAS y MapaInversiones: explica causas, no solo cifras.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143000" y="7858125"/>
            <a:ext cx="16002000" cy="9525"/>
          </a:xfrm>
          <a:prstGeom prst="rect">
            <a:avLst/>
          </a:prstGeom>
          <a:solidFill>
            <a:srgbClr val="F5EFE2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1143000" y="7172325"/>
            <a:ext cx="1428750" cy="457200"/>
          </a:xfrm>
          <a:prstGeom prst="rect">
            <a:avLst/>
          </a:prstGeom>
          <a:solidFill>
            <a:srgbClr val="E3A54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1314450" y="7248525"/>
            <a:ext cx="10858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90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876550" y="7224713"/>
            <a:ext cx="1123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3A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229100" y="7221438"/>
            <a:ext cx="1420749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42"/>
              </a:lnSpc>
              <a:buNone/>
            </a:pPr>
            <a:r>
              <a:rPr lang="en-US" sz="2175" dirty="0">
                <a:solidFill>
                  <a:srgbClr val="F5EF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alcance, pero mayor riesgo técnico y de tiempo.</a:t>
            </a:r>
            <a:endParaRPr lang="en-US" sz="21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AE5DA">
                  <a:alpha val="100000"/>
                </a:srgbClr>
              </a:gs>
              <a:gs pos="100000">
                <a:srgbClr val="F5EFE2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12–14 — RIESGOS, SUPUESTOS Y RESTRICCIONES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04950"/>
            <a:ext cx="15716250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778"/>
              </a:lnSpc>
              <a:buNone/>
            </a:pPr>
            <a:r>
              <a:rPr lang="en-US" sz="42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vigilamos de cerca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143000" y="2853630"/>
            <a:ext cx="6156871" cy="9525"/>
          </a:xfrm>
          <a:prstGeom prst="rect">
            <a:avLst/>
          </a:prstGeom>
          <a:solidFill>
            <a:srgbClr val="16223A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143000" y="2434530"/>
            <a:ext cx="63415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04671" y="2853630"/>
            <a:ext cx="1847106" cy="9525"/>
          </a:xfrm>
          <a:prstGeom prst="rect">
            <a:avLst/>
          </a:prstGeom>
          <a:solidFill>
            <a:srgbClr val="16223A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604671" y="2434530"/>
            <a:ext cx="19233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56577" y="2853630"/>
            <a:ext cx="7388423" cy="9525"/>
          </a:xfrm>
          <a:prstGeom prst="rect">
            <a:avLst/>
          </a:prstGeom>
          <a:solidFill>
            <a:srgbClr val="16223A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9756577" y="2434530"/>
            <a:ext cx="76100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MITIGACIÓN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3825180"/>
            <a:ext cx="6156871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143000" y="3091755"/>
            <a:ext cx="634157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real a documentos técnicos oficiales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7604671" y="3825180"/>
            <a:ext cx="1847106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7604671" y="3091755"/>
            <a:ext cx="853529" cy="381000"/>
          </a:xfrm>
          <a:prstGeom prst="rect">
            <a:avLst/>
          </a:prstGeom>
          <a:solidFill>
            <a:srgbClr val="A643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7757071" y="312985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756577" y="3825180"/>
            <a:ext cx="7388423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9756577" y="3091755"/>
            <a:ext cx="76100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con datos demostrativos; validar el formato antes del ETL final.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143000" y="4796730"/>
            <a:ext cx="6156871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1143000" y="4063305"/>
            <a:ext cx="634157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Alucinación de la IA en un tema sensible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7604671" y="4796730"/>
            <a:ext cx="1847106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604671" y="4063305"/>
            <a:ext cx="853529" cy="381000"/>
          </a:xfrm>
          <a:prstGeom prst="rect">
            <a:avLst/>
          </a:prstGeom>
          <a:solidFill>
            <a:srgbClr val="A643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7757071" y="4101405"/>
            <a:ext cx="624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56577" y="4796730"/>
            <a:ext cx="7388423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9756577" y="4063305"/>
            <a:ext cx="76100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restringido: no acusa ni determina culpables; aviso de verificación visible.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143000" y="5768280"/>
            <a:ext cx="6156871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1143000" y="5034855"/>
            <a:ext cx="634157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 con actores establecidos (INFOBRAS, MapaInversiones)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7604671" y="5768280"/>
            <a:ext cx="1847106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7604671" y="5034855"/>
            <a:ext cx="990600" cy="381000"/>
          </a:xfrm>
          <a:prstGeom prst="rect">
            <a:avLst/>
          </a:prstGeom>
          <a:solidFill>
            <a:srgbClr val="C6812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7757071" y="5072955"/>
            <a:ext cx="76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756577" y="5768280"/>
            <a:ext cx="7388423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9756577" y="5034855"/>
            <a:ext cx="76100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Posicionar ObraClara como capa de interpretación, no como sustituto.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143000" y="7720013"/>
            <a:ext cx="16002000" cy="9525"/>
          </a:xfrm>
          <a:prstGeom prst="rect">
            <a:avLst/>
          </a:prstGeom>
          <a:solidFill>
            <a:srgbClr val="16223A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1143000" y="7996237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SUPUESTOS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43000" y="8415338"/>
            <a:ext cx="784860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Acceso, dentro del curso, a un archivo tipo INFOBRAS/SEACE para validar el ETL. La API de Gemma estará disponible en presupuesto y tiempo.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9525000" y="7996237"/>
            <a:ext cx="838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RESTRICCIONES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525000" y="8415338"/>
            <a:ext cx="7848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310"/>
              </a:lnSpc>
              <a:buNone/>
            </a:pPr>
            <a:r>
              <a:rPr lang="en-US" sz="1875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semana de plazo, equipo principiante. Stack obligatorio Python/Flask; sin auth, pagos ni panel admin.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EAE5DA">
                  <a:alpha val="100000"/>
                </a:srgbClr>
              </a:gs>
              <a:gs pos="100000">
                <a:srgbClr val="F5EFE2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— GLOSARIO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04950"/>
            <a:ext cx="157162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Términos clave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43000" y="3986213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143000" y="2724150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CUI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143000" y="3133725"/>
            <a:ext cx="829818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Único de Inversión del sistema Invierte.pe (MEF).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601200" y="3986213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9601200" y="2724150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VUP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601200" y="3133725"/>
            <a:ext cx="777011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Unified Process: metodología de ingeniería asistida por IA usada en el curso.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143000" y="5505450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143000" y="4243388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INFOBRAS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143000" y="4652963"/>
            <a:ext cx="829818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obras públicas de la Contraloría General de la República.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601200" y="5505450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9601200" y="4243388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601200" y="4652963"/>
            <a:ext cx="7770114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mínima de un producto para validar una hipótesis, no una miniatura del final.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43000" y="6703219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1143000" y="5762625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ETL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143000" y="6172200"/>
            <a:ext cx="829818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Extracción, transformación y carga de datos.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601200" y="6703219"/>
            <a:ext cx="7543800" cy="9525"/>
          </a:xfrm>
          <a:prstGeom prst="rect">
            <a:avLst/>
          </a:prstGeom>
          <a:solidFill>
            <a:srgbClr val="16223A">
              <a:alpha val="1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9601200" y="5762625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6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Avance programado / ejecutado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601200" y="6172200"/>
            <a:ext cx="829818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avance físico planificado versus el realmente reportado.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63046">
                  <a:alpha val="100000"/>
                </a:srgbClr>
              </a:gs>
              <a:gs pos="100000">
                <a:srgbClr val="16223A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91440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E3A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— TRAZABILIDAD Y DOCUMENTACIÓN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04950"/>
            <a:ext cx="157162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59"/>
              </a:lnSpc>
              <a:buNone/>
            </a:pPr>
            <a:r>
              <a:rPr lang="en-US" sz="45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idea a la evidencia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2438400"/>
            <a:ext cx="151923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30"/>
              </a:lnSpc>
              <a:buNone/>
            </a:pPr>
            <a:r>
              <a:rPr lang="en-US" sz="2175" dirty="0">
                <a:solidFill>
                  <a:srgbClr val="F5EFE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historia de usuario queda trazada a su requisito, su componente de código y su prueba.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143000" y="3320355"/>
            <a:ext cx="1009650" cy="600075"/>
          </a:xfrm>
          <a:prstGeom prst="rect">
            <a:avLst/>
          </a:prstGeom>
          <a:solidFill>
            <a:srgbClr val="F5EFE2">
              <a:alpha val="8000"/>
            </a:srgbClr>
          </a:solidFill>
          <a:ln w="9525">
            <a:solidFill>
              <a:srgbClr val="F5EFE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362075" y="3463230"/>
            <a:ext cx="647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US02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2324100" y="3444180"/>
            <a:ext cx="342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3A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2762250" y="3320355"/>
            <a:ext cx="1152525" cy="600075"/>
          </a:xfrm>
          <a:prstGeom prst="rect">
            <a:avLst/>
          </a:prstGeom>
          <a:solidFill>
            <a:srgbClr val="F5EFE2">
              <a:alpha val="8000"/>
            </a:srgbClr>
          </a:solidFill>
          <a:ln w="9525">
            <a:solidFill>
              <a:srgbClr val="F5EFE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2981325" y="3463230"/>
            <a:ext cx="7905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RF-02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086225" y="3444180"/>
            <a:ext cx="342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3A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524375" y="3320355"/>
            <a:ext cx="3152775" cy="600075"/>
          </a:xfrm>
          <a:prstGeom prst="rect">
            <a:avLst/>
          </a:prstGeom>
          <a:solidFill>
            <a:srgbClr val="F5EFE2">
              <a:alpha val="8000"/>
            </a:srgbClr>
          </a:solidFill>
          <a:ln w="9525">
            <a:solidFill>
              <a:srgbClr val="F5EFE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743450" y="3463230"/>
            <a:ext cx="28092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app/obras/routes.py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848600" y="3444180"/>
            <a:ext cx="342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3A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86750" y="3320355"/>
            <a:ext cx="2581275" cy="600075"/>
          </a:xfrm>
          <a:prstGeom prst="rect">
            <a:avLst/>
          </a:prstGeom>
          <a:solidFill>
            <a:srgbClr val="F5EFE2">
              <a:alpha val="8000"/>
            </a:srgbClr>
          </a:solidFill>
          <a:ln w="9525">
            <a:solidFill>
              <a:srgbClr val="F5EFE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505825" y="3463230"/>
            <a:ext cx="22205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5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/obras/&lt;id&gt;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43000" y="8591550"/>
            <a:ext cx="16002000" cy="9525"/>
          </a:xfrm>
          <a:prstGeom prst="rect">
            <a:avLst/>
          </a:prstGeom>
          <a:solidFill>
            <a:srgbClr val="F5EFE2">
              <a:alpha val="15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1143000" y="8943975"/>
            <a:ext cx="3200400" cy="28575"/>
          </a:xfrm>
          <a:prstGeom prst="rect">
            <a:avLst/>
          </a:prstGeom>
          <a:solidFill>
            <a:srgbClr val="E3A54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982980" y="9182100"/>
            <a:ext cx="35204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44" dirty="0">
                <a:solidFill>
                  <a:srgbClr val="E3A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INCEPTION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43400" y="8943975"/>
            <a:ext cx="3200400" cy="28575"/>
          </a:xfrm>
          <a:prstGeom prst="rect">
            <a:avLst/>
          </a:prstGeom>
          <a:solidFill>
            <a:srgbClr val="F5EFE2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183380" y="9182100"/>
            <a:ext cx="35204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44" dirty="0">
                <a:solidFill>
                  <a:srgbClr val="F5EFE2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ELABORATION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543800" y="8943975"/>
            <a:ext cx="3200400" cy="28575"/>
          </a:xfrm>
          <a:prstGeom prst="rect">
            <a:avLst/>
          </a:prstGeom>
          <a:solidFill>
            <a:srgbClr val="F5EFE2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7383780" y="9182100"/>
            <a:ext cx="35204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44" dirty="0">
                <a:solidFill>
                  <a:srgbClr val="F5EFE2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744200" y="8943975"/>
            <a:ext cx="3200400" cy="28575"/>
          </a:xfrm>
          <a:prstGeom prst="rect">
            <a:avLst/>
          </a:prstGeom>
          <a:solidFill>
            <a:srgbClr val="F5EFE2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10584180" y="9182100"/>
            <a:ext cx="35204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44" dirty="0">
                <a:solidFill>
                  <a:srgbClr val="F5EFE2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944600" y="8943975"/>
            <a:ext cx="3200400" cy="28575"/>
          </a:xfrm>
          <a:prstGeom prst="rect">
            <a:avLst/>
          </a:prstGeom>
          <a:solidFill>
            <a:srgbClr val="F5EFE2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13784580" y="9182100"/>
            <a:ext cx="35204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144" dirty="0">
                <a:solidFill>
                  <a:srgbClr val="F5EFE2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USAGE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7569" y="-105507"/>
            <a:ext cx="18288000" cy="10287000"/>
          </a:xfrm>
          <a:prstGeom prst="rect">
            <a:avLst/>
          </a:prstGeom>
          <a:gradFill rotWithShape="1">
            <a:gsLst>
              <a:gs pos="0">
                <a:srgbClr val="263046">
                  <a:alpha val="100000"/>
                </a:srgbClr>
              </a:gs>
              <a:gs pos="100000">
                <a:srgbClr val="16223A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143000" y="2320494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8000" kern="0" spc="273" dirty="0">
                <a:solidFill>
                  <a:srgbClr val="E3A5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GRACIAS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143000" y="4038600"/>
            <a:ext cx="141446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5EFE2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ObraClara — una capa de interpretación sobre datos públicos ya existentes.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7968704"/>
            <a:ext cx="16002000" cy="9525"/>
          </a:xfrm>
          <a:prstGeom prst="rect">
            <a:avLst/>
          </a:prstGeom>
          <a:solidFill>
            <a:srgbClr val="F5EFE2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143000" y="8321129"/>
            <a:ext cx="5376291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714"/>
              </a:lnSpc>
              <a:buNone/>
            </a:pPr>
            <a:r>
              <a:rPr lang="en-US" sz="1800" dirty="0">
                <a:solidFill>
                  <a:srgbClr val="F5EFE2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Michael Taype Rivas — 22200167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8709720"/>
            <a:ext cx="5376291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714"/>
              </a:lnSpc>
              <a:buNone/>
            </a:pPr>
            <a:r>
              <a:rPr lang="en-US" sz="1800" dirty="0">
                <a:solidFill>
                  <a:srgbClr val="F5EFE2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Sebastián Saavedra Escudero — 23100212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9098310"/>
            <a:ext cx="5376291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714"/>
              </a:lnSpc>
              <a:buNone/>
            </a:pPr>
            <a:r>
              <a:rPr lang="en-US" sz="1800" dirty="0">
                <a:solidFill>
                  <a:srgbClr val="F5EFE2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Renzo Vigo Rojas — 25200098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59046" y="8709720"/>
            <a:ext cx="508595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1111"/>
              </a:lnSpc>
              <a:buNone/>
            </a:pPr>
            <a:r>
              <a:rPr lang="en-US" sz="1800" dirty="0">
                <a:solidFill>
                  <a:srgbClr val="F5EFE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Fundamentals of Vibe Unified Process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59046" y="9098310"/>
            <a:ext cx="5085954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1111"/>
              </a:lnSpc>
              <a:buNone/>
            </a:pPr>
            <a:r>
              <a:rPr lang="en-US" sz="1800" dirty="0">
                <a:solidFill>
                  <a:srgbClr val="F5EFE2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Agosto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1138</Words>
  <Application>Microsoft Office PowerPoint</Application>
  <PresentationFormat>Personalizado</PresentationFormat>
  <Paragraphs>196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Renzo Rodrigo Vigo Rojas</cp:lastModifiedBy>
  <cp:revision>2</cp:revision>
  <dcterms:created xsi:type="dcterms:W3CDTF">2026-08-12T15:47:25Z</dcterms:created>
  <dcterms:modified xsi:type="dcterms:W3CDTF">2026-08-12T15:51:22Z</dcterms:modified>
</cp:coreProperties>
</file>