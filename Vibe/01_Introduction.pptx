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211" r:id="rId1"/>
    <p:sldMasterId id="2147484236" r:id="rId2"/>
  </p:sldMasterIdLst>
  <p:notesMasterIdLst>
    <p:notesMasterId r:id="rId74"/>
  </p:notesMasterIdLst>
  <p:handoutMasterIdLst>
    <p:handoutMasterId r:id="rId75"/>
  </p:handoutMasterIdLst>
  <p:sldIdLst>
    <p:sldId id="291" r:id="rId3"/>
    <p:sldId id="511" r:id="rId4"/>
    <p:sldId id="567" r:id="rId5"/>
    <p:sldId id="619" r:id="rId6"/>
    <p:sldId id="621" r:id="rId7"/>
    <p:sldId id="413" r:id="rId8"/>
    <p:sldId id="556" r:id="rId9"/>
    <p:sldId id="554" r:id="rId10"/>
    <p:sldId id="620" r:id="rId11"/>
    <p:sldId id="618" r:id="rId12"/>
    <p:sldId id="581" r:id="rId13"/>
    <p:sldId id="585" r:id="rId14"/>
    <p:sldId id="583" r:id="rId15"/>
    <p:sldId id="582" r:id="rId16"/>
    <p:sldId id="584" r:id="rId17"/>
    <p:sldId id="529" r:id="rId18"/>
    <p:sldId id="577" r:id="rId19"/>
    <p:sldId id="555" r:id="rId20"/>
    <p:sldId id="587" r:id="rId21"/>
    <p:sldId id="588" r:id="rId22"/>
    <p:sldId id="504" r:id="rId23"/>
    <p:sldId id="590" r:id="rId24"/>
    <p:sldId id="617" r:id="rId25"/>
    <p:sldId id="559" r:id="rId26"/>
    <p:sldId id="578" r:id="rId27"/>
    <p:sldId id="601" r:id="rId28"/>
    <p:sldId id="565" r:id="rId29"/>
    <p:sldId id="573" r:id="rId30"/>
    <p:sldId id="591" r:id="rId31"/>
    <p:sldId id="589" r:id="rId32"/>
    <p:sldId id="527" r:id="rId33"/>
    <p:sldId id="547" r:id="rId34"/>
    <p:sldId id="533" r:id="rId35"/>
    <p:sldId id="579" r:id="rId36"/>
    <p:sldId id="592" r:id="rId37"/>
    <p:sldId id="595" r:id="rId38"/>
    <p:sldId id="548" r:id="rId39"/>
    <p:sldId id="594" r:id="rId40"/>
    <p:sldId id="550" r:id="rId41"/>
    <p:sldId id="593" r:id="rId42"/>
    <p:sldId id="572" r:id="rId43"/>
    <p:sldId id="580" r:id="rId44"/>
    <p:sldId id="562" r:id="rId45"/>
    <p:sldId id="441" r:id="rId46"/>
    <p:sldId id="574" r:id="rId47"/>
    <p:sldId id="597" r:id="rId48"/>
    <p:sldId id="563" r:id="rId49"/>
    <p:sldId id="600" r:id="rId50"/>
    <p:sldId id="541" r:id="rId51"/>
    <p:sldId id="598" r:id="rId52"/>
    <p:sldId id="564" r:id="rId53"/>
    <p:sldId id="571" r:id="rId54"/>
    <p:sldId id="549" r:id="rId55"/>
    <p:sldId id="599" r:id="rId56"/>
    <p:sldId id="566" r:id="rId57"/>
    <p:sldId id="551" r:id="rId58"/>
    <p:sldId id="602" r:id="rId59"/>
    <p:sldId id="603" r:id="rId60"/>
    <p:sldId id="596" r:id="rId61"/>
    <p:sldId id="604" r:id="rId62"/>
    <p:sldId id="616" r:id="rId63"/>
    <p:sldId id="605" r:id="rId64"/>
    <p:sldId id="606" r:id="rId65"/>
    <p:sldId id="607" r:id="rId66"/>
    <p:sldId id="608" r:id="rId67"/>
    <p:sldId id="615" r:id="rId68"/>
    <p:sldId id="609" r:id="rId69"/>
    <p:sldId id="614" r:id="rId70"/>
    <p:sldId id="610" r:id="rId71"/>
    <p:sldId id="611" r:id="rId72"/>
    <p:sldId id="612" r:id="rId73"/>
  </p:sldIdLst>
  <p:sldSz cx="12192000" cy="6858000"/>
  <p:notesSz cx="7099300" cy="10234613"/>
  <p:defaultTextStyle>
    <a:defPPr>
      <a:defRPr lang="pl-PL"/>
    </a:defPPr>
    <a:lvl1pPr algn="l" rtl="0" fontAlgn="base">
      <a:spcBef>
        <a:spcPct val="0"/>
      </a:spcBef>
      <a:spcAft>
        <a:spcPct val="0"/>
      </a:spcAft>
      <a:defRPr kern="1200">
        <a:solidFill>
          <a:schemeClr val="tx1"/>
        </a:solidFill>
        <a:latin typeface="Garamond" pitchFamily="18" charset="0"/>
        <a:ea typeface="+mn-ea"/>
        <a:cs typeface="+mn-cs"/>
      </a:defRPr>
    </a:lvl1pPr>
    <a:lvl2pPr marL="457200" algn="l" rtl="0" fontAlgn="base">
      <a:spcBef>
        <a:spcPct val="0"/>
      </a:spcBef>
      <a:spcAft>
        <a:spcPct val="0"/>
      </a:spcAft>
      <a:defRPr kern="1200">
        <a:solidFill>
          <a:schemeClr val="tx1"/>
        </a:solidFill>
        <a:latin typeface="Garamond" pitchFamily="18" charset="0"/>
        <a:ea typeface="+mn-ea"/>
        <a:cs typeface="+mn-cs"/>
      </a:defRPr>
    </a:lvl2pPr>
    <a:lvl3pPr marL="914400" algn="l" rtl="0" fontAlgn="base">
      <a:spcBef>
        <a:spcPct val="0"/>
      </a:spcBef>
      <a:spcAft>
        <a:spcPct val="0"/>
      </a:spcAft>
      <a:defRPr kern="1200">
        <a:solidFill>
          <a:schemeClr val="tx1"/>
        </a:solidFill>
        <a:latin typeface="Garamond" pitchFamily="18" charset="0"/>
        <a:ea typeface="+mn-ea"/>
        <a:cs typeface="+mn-cs"/>
      </a:defRPr>
    </a:lvl3pPr>
    <a:lvl4pPr marL="1371600" algn="l" rtl="0" fontAlgn="base">
      <a:spcBef>
        <a:spcPct val="0"/>
      </a:spcBef>
      <a:spcAft>
        <a:spcPct val="0"/>
      </a:spcAft>
      <a:defRPr kern="1200">
        <a:solidFill>
          <a:schemeClr val="tx1"/>
        </a:solidFill>
        <a:latin typeface="Garamond" pitchFamily="18" charset="0"/>
        <a:ea typeface="+mn-ea"/>
        <a:cs typeface="+mn-cs"/>
      </a:defRPr>
    </a:lvl4pPr>
    <a:lvl5pPr marL="1828800" algn="l" rtl="0" fontAlgn="base">
      <a:spcBef>
        <a:spcPct val="0"/>
      </a:spcBef>
      <a:spcAft>
        <a:spcPct val="0"/>
      </a:spcAft>
      <a:defRPr kern="1200">
        <a:solidFill>
          <a:schemeClr val="tx1"/>
        </a:solidFill>
        <a:latin typeface="Garamond" pitchFamily="18" charset="0"/>
        <a:ea typeface="+mn-ea"/>
        <a:cs typeface="+mn-cs"/>
      </a:defRPr>
    </a:lvl5pPr>
    <a:lvl6pPr marL="2286000" algn="l" defTabSz="914400" rtl="0" eaLnBrk="1" latinLnBrk="0" hangingPunct="1">
      <a:defRPr kern="1200">
        <a:solidFill>
          <a:schemeClr val="tx1"/>
        </a:solidFill>
        <a:latin typeface="Garamond" pitchFamily="18" charset="0"/>
        <a:ea typeface="+mn-ea"/>
        <a:cs typeface="+mn-cs"/>
      </a:defRPr>
    </a:lvl6pPr>
    <a:lvl7pPr marL="2743200" algn="l" defTabSz="914400" rtl="0" eaLnBrk="1" latinLnBrk="0" hangingPunct="1">
      <a:defRPr kern="1200">
        <a:solidFill>
          <a:schemeClr val="tx1"/>
        </a:solidFill>
        <a:latin typeface="Garamond" pitchFamily="18" charset="0"/>
        <a:ea typeface="+mn-ea"/>
        <a:cs typeface="+mn-cs"/>
      </a:defRPr>
    </a:lvl7pPr>
    <a:lvl8pPr marL="3200400" algn="l" defTabSz="914400" rtl="0" eaLnBrk="1" latinLnBrk="0" hangingPunct="1">
      <a:defRPr kern="1200">
        <a:solidFill>
          <a:schemeClr val="tx1"/>
        </a:solidFill>
        <a:latin typeface="Garamond" pitchFamily="18" charset="0"/>
        <a:ea typeface="+mn-ea"/>
        <a:cs typeface="+mn-cs"/>
      </a:defRPr>
    </a:lvl8pPr>
    <a:lvl9pPr marL="3657600" algn="l" defTabSz="914400" rtl="0" eaLnBrk="1" latinLnBrk="0" hangingPunct="1">
      <a:defRPr kern="1200">
        <a:solidFill>
          <a:schemeClr val="tx1"/>
        </a:solidFill>
        <a:latin typeface="Garamond" pitchFamily="18"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1D247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Styl z motywem 1 — Ak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62" autoAdjust="0"/>
    <p:restoredTop sz="93824" autoAdjust="0"/>
  </p:normalViewPr>
  <p:slideViewPr>
    <p:cSldViewPr>
      <p:cViewPr varScale="1">
        <p:scale>
          <a:sx n="74" d="100"/>
          <a:sy n="74" d="100"/>
        </p:scale>
        <p:origin x="816" y="67"/>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p:scale>
          <a:sx n="83" d="100"/>
          <a:sy n="83" d="100"/>
        </p:scale>
        <p:origin x="3072" y="-192"/>
      </p:cViewPr>
      <p:guideLst>
        <p:guide orient="horz" pos="3224"/>
        <p:guide pos="2236"/>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058" name="Rectangle 2"/>
          <p:cNvSpPr>
            <a:spLocks noGrp="1" noChangeArrowheads="1"/>
          </p:cNvSpPr>
          <p:nvPr>
            <p:ph type="hdr" sz="quarter"/>
          </p:nvPr>
        </p:nvSpPr>
        <p:spPr bwMode="auto">
          <a:xfrm>
            <a:off x="0" y="0"/>
            <a:ext cx="7099300" cy="54530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lgn="ctr"/>
            <a:endParaRPr lang="pl-PL" dirty="0"/>
          </a:p>
        </p:txBody>
      </p:sp>
      <p:sp>
        <p:nvSpPr>
          <p:cNvPr id="45060" name="Rectangle 4"/>
          <p:cNvSpPr>
            <a:spLocks noGrp="1" noChangeArrowheads="1"/>
          </p:cNvSpPr>
          <p:nvPr>
            <p:ph type="ftr" sz="quarter" idx="2"/>
          </p:nvPr>
        </p:nvSpPr>
        <p:spPr bwMode="auto">
          <a:xfrm>
            <a:off x="0" y="9719329"/>
            <a:ext cx="3075424" cy="513064"/>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endParaRPr lang="pl-PL" dirty="0"/>
          </a:p>
        </p:txBody>
      </p:sp>
      <p:sp>
        <p:nvSpPr>
          <p:cNvPr id="45061" name="Rectangle 5"/>
          <p:cNvSpPr>
            <a:spLocks noGrp="1" noChangeArrowheads="1"/>
          </p:cNvSpPr>
          <p:nvPr>
            <p:ph type="sldNum" sz="quarter" idx="3"/>
          </p:nvPr>
        </p:nvSpPr>
        <p:spPr bwMode="auto">
          <a:xfrm>
            <a:off x="4021528" y="9719329"/>
            <a:ext cx="3076599" cy="513064"/>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fld id="{5AEE7B2C-8B7B-4E41-9BE9-6DFEE0C05302}" type="slidenum">
              <a:rPr lang="pl-PL"/>
              <a:pPr/>
              <a:t>‹#›</a:t>
            </a:fld>
            <a:endParaRPr lang="pl-PL" dirty="0"/>
          </a:p>
        </p:txBody>
      </p:sp>
      <p:cxnSp>
        <p:nvCxnSpPr>
          <p:cNvPr id="6" name="Łącznik prosty 5"/>
          <p:cNvCxnSpPr/>
          <p:nvPr/>
        </p:nvCxnSpPr>
        <p:spPr>
          <a:xfrm>
            <a:off x="0" y="468313"/>
            <a:ext cx="70993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ectangle 4"/>
          <p:cNvSpPr txBox="1">
            <a:spLocks noChangeArrowheads="1"/>
          </p:cNvSpPr>
          <p:nvPr/>
        </p:nvSpPr>
        <p:spPr bwMode="auto">
          <a:xfrm>
            <a:off x="0" y="9718675"/>
            <a:ext cx="7099300" cy="5143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000" dirty="0" smtClean="0">
                <a:latin typeface="+mn-lt"/>
                <a:cs typeface="+mn-cs"/>
              </a:defRPr>
            </a:lvl1pPr>
          </a:lstStyle>
          <a:p>
            <a:pPr lvl="0">
              <a:defRPr/>
            </a:pPr>
            <a:r>
              <a:rPr lang="pl-PL" dirty="0"/>
              <a:t>Copyright</a:t>
            </a:r>
            <a:r>
              <a:rPr kumimoji="0" lang="en-GB" sz="1000" b="0" i="0" u="none" strike="noStrike" kern="1200" cap="none" spc="0" normalizeH="0" baseline="0" noProof="0" dirty="0">
                <a:ln>
                  <a:noFill/>
                </a:ln>
                <a:solidFill>
                  <a:schemeClr val="tx1"/>
                </a:solidFill>
                <a:effectLst/>
                <a:uLnTx/>
                <a:uFillTx/>
                <a:latin typeface="+mn-lt"/>
                <a:ea typeface="+mn-ea"/>
                <a:cs typeface="+mn-cs"/>
              </a:rPr>
              <a:t> © </a:t>
            </a:r>
            <a:r>
              <a:rPr kumimoji="0" lang="pl-PL" sz="1000" b="0" i="0" u="none" strike="noStrike" kern="1200" cap="none" spc="0" normalizeH="0" baseline="0" noProof="0" dirty="0">
                <a:ln>
                  <a:noFill/>
                </a:ln>
                <a:solidFill>
                  <a:schemeClr val="tx1"/>
                </a:solidFill>
                <a:effectLst/>
                <a:uLnTx/>
                <a:uFillTx/>
                <a:latin typeface="+mn-lt"/>
                <a:ea typeface="+mn-ea"/>
                <a:cs typeface="+mn-cs"/>
              </a:rPr>
              <a:t>by Uniwersytet Ekonomiczny w Krakowie</a:t>
            </a:r>
            <a:endParaRPr kumimoji="0" lang="en-GB" sz="1000" b="0"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pl-PL" sz="1000" b="0" i="0" u="none" strike="noStrike" kern="1200" cap="none" spc="0" normalizeH="0" baseline="0" noProof="0" dirty="0">
              <a:ln>
                <a:noFill/>
              </a:ln>
              <a:solidFill>
                <a:schemeClr val="tx1"/>
              </a:solidFill>
              <a:effectLst/>
              <a:uLnTx/>
              <a:uFillTx/>
              <a:latin typeface="+mn-lt"/>
              <a:ea typeface="+mn-ea"/>
              <a:cs typeface="+mn-cs"/>
            </a:endParaRPr>
          </a:p>
        </p:txBody>
      </p:sp>
      <p:sp>
        <p:nvSpPr>
          <p:cNvPr id="8" name="Rectangle 2"/>
          <p:cNvSpPr txBox="1">
            <a:spLocks noChangeArrowheads="1"/>
          </p:cNvSpPr>
          <p:nvPr/>
        </p:nvSpPr>
        <p:spPr bwMode="auto">
          <a:xfrm>
            <a:off x="0" y="0"/>
            <a:ext cx="7099300" cy="5445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b="1" dirty="0" smtClean="0">
                <a:latin typeface="+mn-lt"/>
                <a:cs typeface="+mn-cs"/>
              </a:defRPr>
            </a:lvl1pPr>
          </a:lstStyle>
          <a:p>
            <a:pPr lvl="0">
              <a:defRPr/>
            </a:pPr>
            <a:r>
              <a:rPr kumimoji="0" lang="pl-PL" sz="1000" b="1" i="0" u="none" strike="noStrike" kern="1200" cap="none" spc="0" normalizeH="0" baseline="0" noProof="0" dirty="0">
                <a:ln>
                  <a:noFill/>
                </a:ln>
                <a:solidFill>
                  <a:schemeClr val="tx1"/>
                </a:solidFill>
                <a:effectLst/>
                <a:uLnTx/>
                <a:uFillTx/>
                <a:latin typeface="+mn-lt"/>
                <a:ea typeface="+mn-ea"/>
                <a:cs typeface="+mn-cs"/>
              </a:rPr>
              <a:t>Materiały dla studentów z przedmiotu</a:t>
            </a:r>
            <a:r>
              <a:rPr kumimoji="0" lang="en-GB" sz="1000" b="1" i="0" u="none" strike="noStrike" kern="1200" cap="none" spc="0" normalizeH="0" baseline="0" noProof="0" dirty="0">
                <a:ln>
                  <a:noFill/>
                </a:ln>
                <a:solidFill>
                  <a:schemeClr val="tx1"/>
                </a:solidFill>
                <a:effectLst/>
                <a:uLnTx/>
                <a:uFillTx/>
                <a:latin typeface="+mn-lt"/>
                <a:ea typeface="+mn-ea"/>
                <a:cs typeface="+mn-cs"/>
              </a:rPr>
              <a:t> </a:t>
            </a:r>
            <a:r>
              <a:rPr lang="pl-PL" i="1" dirty="0"/>
              <a:t>Wprowadzenie do baz danych</a:t>
            </a:r>
            <a:endParaRPr kumimoji="0" lang="en-GB" sz="1000" b="1" i="1" u="none" strike="noStrike" kern="1200" cap="none" spc="0" normalizeH="0" baseline="0" noProof="0" dirty="0">
              <a:ln>
                <a:noFill/>
              </a:ln>
              <a:solidFill>
                <a:schemeClr val="tx1"/>
              </a:solidFill>
              <a:effectLst/>
              <a:uLnTx/>
              <a:uFillTx/>
              <a:latin typeface="+mn-lt"/>
              <a:ea typeface="+mn-ea"/>
              <a:cs typeface="+mn-cs"/>
            </a:endParaRPr>
          </a:p>
          <a:p>
            <a:pPr lvl="0">
              <a:defRPr/>
            </a:pPr>
            <a:r>
              <a:rPr kumimoji="0" lang="pl-PL" sz="1000" b="1" i="0" u="none" strike="noStrike" kern="1200" cap="none" spc="0" normalizeH="0" baseline="0" noProof="0" dirty="0">
                <a:ln>
                  <a:noFill/>
                </a:ln>
                <a:solidFill>
                  <a:schemeClr val="tx1"/>
                </a:solidFill>
                <a:effectLst/>
                <a:uLnTx/>
                <a:uFillTx/>
                <a:latin typeface="+mn-lt"/>
                <a:ea typeface="+mn-ea"/>
                <a:cs typeface="+mn-cs"/>
              </a:rPr>
              <a:t>Wprowadzenie</a:t>
            </a:r>
            <a:endParaRPr kumimoji="0" lang="en-GB" sz="1000" b="1"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bwMode="auto">
          <a:xfrm>
            <a:off x="0" y="0"/>
            <a:ext cx="3075424" cy="51306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endParaRPr lang="pl-PL" dirty="0"/>
          </a:p>
        </p:txBody>
      </p:sp>
      <p:sp>
        <p:nvSpPr>
          <p:cNvPr id="49155" name="Rectangle 3"/>
          <p:cNvSpPr>
            <a:spLocks noGrp="1" noChangeArrowheads="1"/>
          </p:cNvSpPr>
          <p:nvPr>
            <p:ph type="dt" idx="1"/>
          </p:nvPr>
        </p:nvSpPr>
        <p:spPr bwMode="auto">
          <a:xfrm>
            <a:off x="4021528" y="0"/>
            <a:ext cx="3076599" cy="51306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endParaRPr lang="pl-PL" dirty="0"/>
          </a:p>
        </p:txBody>
      </p:sp>
      <p:sp>
        <p:nvSpPr>
          <p:cNvPr id="49156" name="Rectangle 4"/>
          <p:cNvSpPr>
            <a:spLocks noGrp="1" noRot="1" noChangeAspect="1" noChangeArrowheads="1" noTextEdit="1"/>
          </p:cNvSpPr>
          <p:nvPr>
            <p:ph type="sldImg" idx="2"/>
          </p:nvPr>
        </p:nvSpPr>
        <p:spPr bwMode="auto">
          <a:xfrm>
            <a:off x="142875" y="768350"/>
            <a:ext cx="6818313" cy="3836988"/>
          </a:xfrm>
          <a:prstGeom prst="rect">
            <a:avLst/>
          </a:prstGeom>
          <a:noFill/>
          <a:ln w="9525">
            <a:solidFill>
              <a:srgbClr val="000000"/>
            </a:solidFill>
            <a:miter lim="800000"/>
            <a:headEnd/>
            <a:tailEnd/>
          </a:ln>
          <a:effectLst/>
        </p:spPr>
      </p:sp>
      <p:sp>
        <p:nvSpPr>
          <p:cNvPr id="49157" name="Rectangle 5"/>
          <p:cNvSpPr>
            <a:spLocks noGrp="1" noChangeArrowheads="1"/>
          </p:cNvSpPr>
          <p:nvPr>
            <p:ph type="body" sz="quarter" idx="3"/>
          </p:nvPr>
        </p:nvSpPr>
        <p:spPr bwMode="auto">
          <a:xfrm>
            <a:off x="710166" y="4861888"/>
            <a:ext cx="5678971" cy="460424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9158" name="Rectangle 6"/>
          <p:cNvSpPr>
            <a:spLocks noGrp="1" noChangeArrowheads="1"/>
          </p:cNvSpPr>
          <p:nvPr>
            <p:ph type="ftr" sz="quarter" idx="4"/>
          </p:nvPr>
        </p:nvSpPr>
        <p:spPr bwMode="auto">
          <a:xfrm>
            <a:off x="0" y="9719329"/>
            <a:ext cx="3075424" cy="513064"/>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endParaRPr lang="pl-PL" dirty="0"/>
          </a:p>
        </p:txBody>
      </p:sp>
      <p:sp>
        <p:nvSpPr>
          <p:cNvPr id="49159" name="Rectangle 7"/>
          <p:cNvSpPr>
            <a:spLocks noGrp="1" noChangeArrowheads="1"/>
          </p:cNvSpPr>
          <p:nvPr>
            <p:ph type="sldNum" sz="quarter" idx="5"/>
          </p:nvPr>
        </p:nvSpPr>
        <p:spPr bwMode="auto">
          <a:xfrm>
            <a:off x="4021528" y="9719329"/>
            <a:ext cx="3076599" cy="513064"/>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fld id="{88C4402D-B936-4E91-8F17-ABB741B4E7D2}" type="slidenum">
              <a:rPr lang="pl-PL"/>
              <a:pPr/>
              <a:t>‹#›</a:t>
            </a:fld>
            <a:endParaRPr lang="pl-PL" dirty="0"/>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22B04B-58CA-482F-803E-0DD9291FA5FC}" type="slidenum">
              <a:rPr lang="pl-PL"/>
              <a:pPr/>
              <a:t>1</a:t>
            </a:fld>
            <a:endParaRPr lang="pl-PL" dirty="0"/>
          </a:p>
        </p:txBody>
      </p:sp>
      <p:sp>
        <p:nvSpPr>
          <p:cNvPr id="197634" name="Rectangle 2"/>
          <p:cNvSpPr>
            <a:spLocks noGrp="1" noRot="1" noChangeAspect="1" noChangeArrowheads="1" noTextEdit="1"/>
          </p:cNvSpPr>
          <p:nvPr>
            <p:ph type="sldImg"/>
          </p:nvPr>
        </p:nvSpPr>
        <p:spPr>
          <a:xfrm>
            <a:off x="144463" y="768350"/>
            <a:ext cx="6819900" cy="3836988"/>
          </a:xfrm>
          <a:ln/>
        </p:spPr>
      </p:sp>
      <p:sp>
        <p:nvSpPr>
          <p:cNvPr id="197635" name="Rectangle 3"/>
          <p:cNvSpPr>
            <a:spLocks noGrp="1" noChangeArrowheads="1"/>
          </p:cNvSpPr>
          <p:nvPr>
            <p:ph type="body" idx="1"/>
          </p:nvPr>
        </p:nvSpPr>
        <p:spPr>
          <a:xfrm>
            <a:off x="947279" y="4859666"/>
            <a:ext cx="5204745" cy="4606464"/>
          </a:xfrm>
        </p:spPr>
        <p:txBody>
          <a:bodyPr/>
          <a:lstStyle/>
          <a:p>
            <a:endParaRPr lang="pl-PL"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a:xfrm>
            <a:off x="142875" y="768350"/>
            <a:ext cx="6818313" cy="3836988"/>
          </a:xfrm>
        </p:spPr>
      </p:sp>
      <p:sp>
        <p:nvSpPr>
          <p:cNvPr id="3" name="Symbol zastępczy notatek 2"/>
          <p:cNvSpPr>
            <a:spLocks noGrp="1"/>
          </p:cNvSpPr>
          <p:nvPr>
            <p:ph type="body" idx="1"/>
          </p:nvPr>
        </p:nvSpPr>
        <p:spPr/>
        <p:txBody>
          <a:bodyPr>
            <a:normAutofit/>
          </a:bodyPr>
          <a:lstStyle/>
          <a:p>
            <a:endParaRPr lang="pl-PL" dirty="0"/>
          </a:p>
        </p:txBody>
      </p:sp>
      <p:sp>
        <p:nvSpPr>
          <p:cNvPr id="4" name="Symbol zastępczy numeru slajdu 3"/>
          <p:cNvSpPr>
            <a:spLocks noGrp="1"/>
          </p:cNvSpPr>
          <p:nvPr>
            <p:ph type="sldNum" sz="quarter" idx="10"/>
          </p:nvPr>
        </p:nvSpPr>
        <p:spPr/>
        <p:txBody>
          <a:bodyPr/>
          <a:lstStyle/>
          <a:p>
            <a:fld id="{88C4402D-B936-4E91-8F17-ABB741B4E7D2}" type="slidenum">
              <a:rPr lang="pl-PL" smtClean="0"/>
              <a:pPr/>
              <a:t>6</a:t>
            </a:fld>
            <a:endParaRPr lang="pl-PL"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p:cNvSpPr>
            <a:spLocks noGrp="1"/>
          </p:cNvSpPr>
          <p:nvPr>
            <p:ph type="ctrTitle"/>
          </p:nvPr>
        </p:nvSpPr>
        <p:spPr>
          <a:xfrm>
            <a:off x="914400" y="2130426"/>
            <a:ext cx="10363200" cy="1470025"/>
          </a:xfrm>
        </p:spPr>
        <p:txBody>
          <a:bodyPr/>
          <a:lstStyle/>
          <a:p>
            <a:r>
              <a:rPr lang="pl-PL"/>
              <a:t>Kliknij, aby edytować styl</a:t>
            </a:r>
          </a:p>
        </p:txBody>
      </p:sp>
      <p:sp>
        <p:nvSpPr>
          <p:cNvPr id="3" name="Podtytuł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l-PL"/>
              <a:t>Kliknij, aby edytować styl wzorca podtytułu</a:t>
            </a:r>
          </a:p>
        </p:txBody>
      </p:sp>
      <p:sp>
        <p:nvSpPr>
          <p:cNvPr id="4" name="Symbol zastępczy daty 3"/>
          <p:cNvSpPr>
            <a:spLocks noGrp="1"/>
          </p:cNvSpPr>
          <p:nvPr>
            <p:ph type="dt" sz="half" idx="10"/>
          </p:nvPr>
        </p:nvSpPr>
        <p:spPr/>
        <p:txBody>
          <a:bodyPr/>
          <a:lstStyle/>
          <a:p>
            <a:fld id="{2F5F8426-4085-4152-9678-ED60F051FDED}" type="datetime1">
              <a:rPr lang="pl-PL" smtClean="0"/>
              <a:t>10.08.2026</a:t>
            </a:fld>
            <a:endParaRPr lang="pl-PL" dirty="0"/>
          </a:p>
        </p:txBody>
      </p:sp>
      <p:sp>
        <p:nvSpPr>
          <p:cNvPr id="5" name="Symbol zastępczy stopki 4"/>
          <p:cNvSpPr>
            <a:spLocks noGrp="1"/>
          </p:cNvSpPr>
          <p:nvPr>
            <p:ph type="ftr" sz="quarter" idx="11"/>
          </p:nvPr>
        </p:nvSpPr>
        <p:spPr/>
        <p:txBody>
          <a:bodyPr/>
          <a:lstStyle/>
          <a:p>
            <a:endParaRPr lang="pl-PL" dirty="0"/>
          </a:p>
        </p:txBody>
      </p:sp>
      <p:sp>
        <p:nvSpPr>
          <p:cNvPr id="6" name="Symbol zastępczy numeru slajdu 5"/>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0DB2D777-68CC-442E-8E75-3B9A327DB870}" type="datetime1">
              <a:rPr lang="pl-PL" smtClean="0"/>
              <a:t>10.08.2026</a:t>
            </a:fld>
            <a:endParaRPr lang="pl-PL" dirty="0"/>
          </a:p>
        </p:txBody>
      </p:sp>
      <p:sp>
        <p:nvSpPr>
          <p:cNvPr id="5" name="Symbol zastępczy stopki 4"/>
          <p:cNvSpPr>
            <a:spLocks noGrp="1"/>
          </p:cNvSpPr>
          <p:nvPr>
            <p:ph type="ftr" sz="quarter" idx="11"/>
          </p:nvPr>
        </p:nvSpPr>
        <p:spPr/>
        <p:txBody>
          <a:bodyPr/>
          <a:lstStyle/>
          <a:p>
            <a:endParaRPr lang="pl-PL" dirty="0"/>
          </a:p>
        </p:txBody>
      </p:sp>
      <p:sp>
        <p:nvSpPr>
          <p:cNvPr id="6" name="Symbol zastępczy numeru slajdu 5"/>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p:cNvSpPr>
            <a:spLocks noGrp="1"/>
          </p:cNvSpPr>
          <p:nvPr>
            <p:ph type="title"/>
          </p:nvPr>
        </p:nvSpPr>
        <p:spPr>
          <a:xfrm>
            <a:off x="963084" y="4406901"/>
            <a:ext cx="10363200" cy="1362075"/>
          </a:xfrm>
        </p:spPr>
        <p:txBody>
          <a:bodyPr anchor="t"/>
          <a:lstStyle>
            <a:lvl1pPr algn="l">
              <a:defRPr sz="4000" b="1" cap="all"/>
            </a:lvl1pPr>
          </a:lstStyle>
          <a:p>
            <a:r>
              <a:rPr lang="pl-PL"/>
              <a:t>Kliknij, aby edytować styl</a:t>
            </a:r>
          </a:p>
        </p:txBody>
      </p:sp>
      <p:sp>
        <p:nvSpPr>
          <p:cNvPr id="3" name="Symbol zastępczy tekstu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a:t>Kliknij, aby edytować style wzorca tekstu</a:t>
            </a:r>
          </a:p>
        </p:txBody>
      </p:sp>
      <p:sp>
        <p:nvSpPr>
          <p:cNvPr id="4" name="Symbol zastępczy daty 3"/>
          <p:cNvSpPr>
            <a:spLocks noGrp="1"/>
          </p:cNvSpPr>
          <p:nvPr>
            <p:ph type="dt" sz="half" idx="10"/>
          </p:nvPr>
        </p:nvSpPr>
        <p:spPr/>
        <p:txBody>
          <a:bodyPr/>
          <a:lstStyle/>
          <a:p>
            <a:fld id="{E58E1378-0DED-4CD8-A9CE-C774A2E99379}" type="datetime1">
              <a:rPr lang="pl-PL" smtClean="0"/>
              <a:t>10.08.2026</a:t>
            </a:fld>
            <a:endParaRPr lang="pl-PL" dirty="0"/>
          </a:p>
        </p:txBody>
      </p:sp>
      <p:sp>
        <p:nvSpPr>
          <p:cNvPr id="5" name="Symbol zastępczy stopki 4"/>
          <p:cNvSpPr>
            <a:spLocks noGrp="1"/>
          </p:cNvSpPr>
          <p:nvPr>
            <p:ph type="ftr" sz="quarter" idx="11"/>
          </p:nvPr>
        </p:nvSpPr>
        <p:spPr/>
        <p:txBody>
          <a:bodyPr/>
          <a:lstStyle/>
          <a:p>
            <a:endParaRPr lang="pl-PL" dirty="0"/>
          </a:p>
        </p:txBody>
      </p:sp>
      <p:sp>
        <p:nvSpPr>
          <p:cNvPr id="6" name="Symbol zastępczy numeru slajdu 5"/>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4"/>
          <p:cNvSpPr>
            <a:spLocks noGrp="1"/>
          </p:cNvSpPr>
          <p:nvPr>
            <p:ph type="dt" sz="half" idx="10"/>
          </p:nvPr>
        </p:nvSpPr>
        <p:spPr/>
        <p:txBody>
          <a:bodyPr/>
          <a:lstStyle/>
          <a:p>
            <a:fld id="{6AD0AE7C-3FC0-46F6-B6EF-CB275775028C}" type="datetime1">
              <a:rPr lang="pl-PL" smtClean="0"/>
              <a:t>10.08.2026</a:t>
            </a:fld>
            <a:endParaRPr lang="pl-PL" dirty="0"/>
          </a:p>
        </p:txBody>
      </p:sp>
      <p:sp>
        <p:nvSpPr>
          <p:cNvPr id="6" name="Symbol zastępczy stopki 5"/>
          <p:cNvSpPr>
            <a:spLocks noGrp="1"/>
          </p:cNvSpPr>
          <p:nvPr>
            <p:ph type="ftr" sz="quarter" idx="11"/>
          </p:nvPr>
        </p:nvSpPr>
        <p:spPr/>
        <p:txBody>
          <a:bodyPr/>
          <a:lstStyle/>
          <a:p>
            <a:endParaRPr lang="pl-PL" dirty="0"/>
          </a:p>
        </p:txBody>
      </p:sp>
      <p:sp>
        <p:nvSpPr>
          <p:cNvPr id="7" name="Symbol zastępczy numeru slajdu 6"/>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lvl1pPr>
              <a:defRPr/>
            </a:lvl1pPr>
          </a:lstStyle>
          <a:p>
            <a:r>
              <a:rPr lang="pl-PL"/>
              <a:t>Kliknij, aby edytować styl</a:t>
            </a:r>
          </a:p>
        </p:txBody>
      </p:sp>
      <p:sp>
        <p:nvSpPr>
          <p:cNvPr id="3" name="Symbol zastępczy tekstu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6"/>
          <p:cNvSpPr>
            <a:spLocks noGrp="1"/>
          </p:cNvSpPr>
          <p:nvPr>
            <p:ph type="dt" sz="half" idx="10"/>
          </p:nvPr>
        </p:nvSpPr>
        <p:spPr/>
        <p:txBody>
          <a:bodyPr/>
          <a:lstStyle/>
          <a:p>
            <a:fld id="{88113C85-C2EC-49A4-9238-8D5CAB1FE66C}" type="datetime1">
              <a:rPr lang="pl-PL" smtClean="0"/>
              <a:t>10.08.2026</a:t>
            </a:fld>
            <a:endParaRPr lang="pl-PL" dirty="0"/>
          </a:p>
        </p:txBody>
      </p:sp>
      <p:sp>
        <p:nvSpPr>
          <p:cNvPr id="8" name="Symbol zastępczy stopki 7"/>
          <p:cNvSpPr>
            <a:spLocks noGrp="1"/>
          </p:cNvSpPr>
          <p:nvPr>
            <p:ph type="ftr" sz="quarter" idx="11"/>
          </p:nvPr>
        </p:nvSpPr>
        <p:spPr/>
        <p:txBody>
          <a:bodyPr/>
          <a:lstStyle/>
          <a:p>
            <a:endParaRPr lang="pl-PL" dirty="0"/>
          </a:p>
        </p:txBody>
      </p:sp>
      <p:sp>
        <p:nvSpPr>
          <p:cNvPr id="9" name="Symbol zastępczy numeru slajdu 8"/>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daty 2"/>
          <p:cNvSpPr>
            <a:spLocks noGrp="1"/>
          </p:cNvSpPr>
          <p:nvPr>
            <p:ph type="dt" sz="half" idx="10"/>
          </p:nvPr>
        </p:nvSpPr>
        <p:spPr/>
        <p:txBody>
          <a:bodyPr/>
          <a:lstStyle/>
          <a:p>
            <a:fld id="{EFC4F458-5DC7-42F4-B368-988BDC32B66D}" type="datetime1">
              <a:rPr lang="pl-PL" smtClean="0"/>
              <a:t>10.08.2026</a:t>
            </a:fld>
            <a:endParaRPr lang="pl-PL" dirty="0"/>
          </a:p>
        </p:txBody>
      </p:sp>
      <p:sp>
        <p:nvSpPr>
          <p:cNvPr id="4" name="Symbol zastępczy stopki 3"/>
          <p:cNvSpPr>
            <a:spLocks noGrp="1"/>
          </p:cNvSpPr>
          <p:nvPr>
            <p:ph type="ftr" sz="quarter" idx="11"/>
          </p:nvPr>
        </p:nvSpPr>
        <p:spPr/>
        <p:txBody>
          <a:bodyPr/>
          <a:lstStyle/>
          <a:p>
            <a:endParaRPr lang="pl-PL" dirty="0"/>
          </a:p>
        </p:txBody>
      </p:sp>
      <p:sp>
        <p:nvSpPr>
          <p:cNvPr id="5" name="Symbol zastępczy numeru slajdu 4"/>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p:cNvSpPr>
            <a:spLocks noGrp="1"/>
          </p:cNvSpPr>
          <p:nvPr>
            <p:ph type="dt" sz="half" idx="10"/>
          </p:nvPr>
        </p:nvSpPr>
        <p:spPr/>
        <p:txBody>
          <a:bodyPr/>
          <a:lstStyle/>
          <a:p>
            <a:fld id="{BB672F39-7664-423A-81D2-A3C7811F6345}" type="datetime1">
              <a:rPr lang="pl-PL" smtClean="0"/>
              <a:t>10.08.2026</a:t>
            </a:fld>
            <a:endParaRPr lang="pl-PL" dirty="0"/>
          </a:p>
        </p:txBody>
      </p:sp>
      <p:sp>
        <p:nvSpPr>
          <p:cNvPr id="3" name="Symbol zastępczy stopki 2"/>
          <p:cNvSpPr>
            <a:spLocks noGrp="1"/>
          </p:cNvSpPr>
          <p:nvPr>
            <p:ph type="ftr" sz="quarter" idx="11"/>
          </p:nvPr>
        </p:nvSpPr>
        <p:spPr/>
        <p:txBody>
          <a:bodyPr/>
          <a:lstStyle/>
          <a:p>
            <a:endParaRPr lang="pl-PL" dirty="0"/>
          </a:p>
        </p:txBody>
      </p:sp>
      <p:sp>
        <p:nvSpPr>
          <p:cNvPr id="4" name="Symbol zastępczy numeru slajdu 3"/>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609601" y="273050"/>
            <a:ext cx="4011084" cy="1162050"/>
          </a:xfrm>
        </p:spPr>
        <p:txBody>
          <a:bodyPr anchor="b"/>
          <a:lstStyle>
            <a:lvl1pPr algn="l">
              <a:defRPr sz="2000" b="1"/>
            </a:lvl1pPr>
          </a:lstStyle>
          <a:p>
            <a:r>
              <a:rPr lang="pl-PL"/>
              <a:t>Kliknij, aby edytować styl</a:t>
            </a:r>
          </a:p>
        </p:txBody>
      </p:sp>
      <p:sp>
        <p:nvSpPr>
          <p:cNvPr id="3" name="Symbol zastępczy zawartości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Symbol zastępczy daty 4"/>
          <p:cNvSpPr>
            <a:spLocks noGrp="1"/>
          </p:cNvSpPr>
          <p:nvPr>
            <p:ph type="dt" sz="half" idx="10"/>
          </p:nvPr>
        </p:nvSpPr>
        <p:spPr/>
        <p:txBody>
          <a:bodyPr/>
          <a:lstStyle/>
          <a:p>
            <a:fld id="{327C616B-9D33-443E-A4BC-D4D8B755BE5F}" type="datetime1">
              <a:rPr lang="pl-PL" smtClean="0"/>
              <a:t>10.08.2026</a:t>
            </a:fld>
            <a:endParaRPr lang="pl-PL" dirty="0"/>
          </a:p>
        </p:txBody>
      </p:sp>
      <p:sp>
        <p:nvSpPr>
          <p:cNvPr id="6" name="Symbol zastępczy stopki 5"/>
          <p:cNvSpPr>
            <a:spLocks noGrp="1"/>
          </p:cNvSpPr>
          <p:nvPr>
            <p:ph type="ftr" sz="quarter" idx="11"/>
          </p:nvPr>
        </p:nvSpPr>
        <p:spPr/>
        <p:txBody>
          <a:bodyPr/>
          <a:lstStyle/>
          <a:p>
            <a:endParaRPr lang="pl-PL" dirty="0"/>
          </a:p>
        </p:txBody>
      </p:sp>
      <p:sp>
        <p:nvSpPr>
          <p:cNvPr id="7" name="Symbol zastępczy numeru slajdu 6"/>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2389717" y="4800600"/>
            <a:ext cx="7315200" cy="566738"/>
          </a:xfrm>
        </p:spPr>
        <p:txBody>
          <a:bodyPr anchor="b"/>
          <a:lstStyle>
            <a:lvl1pPr algn="l">
              <a:defRPr sz="2000" b="1"/>
            </a:lvl1pPr>
          </a:lstStyle>
          <a:p>
            <a:r>
              <a:rPr lang="pl-PL"/>
              <a:t>Kliknij, aby edytować styl</a:t>
            </a:r>
          </a:p>
        </p:txBody>
      </p:sp>
      <p:sp>
        <p:nvSpPr>
          <p:cNvPr id="3" name="Symbol zastępczy obrazu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l-PL" dirty="0"/>
          </a:p>
        </p:txBody>
      </p:sp>
      <p:sp>
        <p:nvSpPr>
          <p:cNvPr id="4" name="Symbol zastępczy tekstu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Symbol zastępczy daty 4"/>
          <p:cNvSpPr>
            <a:spLocks noGrp="1"/>
          </p:cNvSpPr>
          <p:nvPr>
            <p:ph type="dt" sz="half" idx="10"/>
          </p:nvPr>
        </p:nvSpPr>
        <p:spPr/>
        <p:txBody>
          <a:bodyPr/>
          <a:lstStyle/>
          <a:p>
            <a:fld id="{7F2A8EE7-A099-48DE-A6EC-DA7DFD8EC955}" type="datetime1">
              <a:rPr lang="pl-PL" smtClean="0"/>
              <a:t>10.08.2026</a:t>
            </a:fld>
            <a:endParaRPr lang="pl-PL" dirty="0"/>
          </a:p>
        </p:txBody>
      </p:sp>
      <p:sp>
        <p:nvSpPr>
          <p:cNvPr id="6" name="Symbol zastępczy stopki 5"/>
          <p:cNvSpPr>
            <a:spLocks noGrp="1"/>
          </p:cNvSpPr>
          <p:nvPr>
            <p:ph type="ftr" sz="quarter" idx="11"/>
          </p:nvPr>
        </p:nvSpPr>
        <p:spPr/>
        <p:txBody>
          <a:bodyPr/>
          <a:lstStyle/>
          <a:p>
            <a:endParaRPr lang="pl-PL" dirty="0"/>
          </a:p>
        </p:txBody>
      </p:sp>
      <p:sp>
        <p:nvSpPr>
          <p:cNvPr id="7" name="Symbol zastępczy numeru slajdu 6"/>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tytułu pionowego 2"/>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0216B700-0D8E-48DF-B15F-8AD7E79EECD4}" type="datetime1">
              <a:rPr lang="pl-PL" smtClean="0"/>
              <a:t>10.08.2026</a:t>
            </a:fld>
            <a:endParaRPr lang="pl-PL" dirty="0"/>
          </a:p>
        </p:txBody>
      </p:sp>
      <p:sp>
        <p:nvSpPr>
          <p:cNvPr id="5" name="Symbol zastępczy stopki 4"/>
          <p:cNvSpPr>
            <a:spLocks noGrp="1"/>
          </p:cNvSpPr>
          <p:nvPr>
            <p:ph type="ftr" sz="quarter" idx="11"/>
          </p:nvPr>
        </p:nvSpPr>
        <p:spPr/>
        <p:txBody>
          <a:bodyPr/>
          <a:lstStyle/>
          <a:p>
            <a:endParaRPr lang="pl-PL" dirty="0"/>
          </a:p>
        </p:txBody>
      </p:sp>
      <p:sp>
        <p:nvSpPr>
          <p:cNvPr id="6" name="Symbol zastępczy numeru slajdu 5"/>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p:cNvSpPr>
            <a:spLocks noGrp="1"/>
          </p:cNvSpPr>
          <p:nvPr>
            <p:ph type="title" orient="vert"/>
          </p:nvPr>
        </p:nvSpPr>
        <p:spPr>
          <a:xfrm>
            <a:off x="8839200" y="274639"/>
            <a:ext cx="2743200" cy="5851525"/>
          </a:xfrm>
        </p:spPr>
        <p:txBody>
          <a:bodyPr vert="eaVert"/>
          <a:lstStyle/>
          <a:p>
            <a:r>
              <a:rPr lang="pl-PL"/>
              <a:t>Kliknij, aby edytować styl</a:t>
            </a:r>
          </a:p>
        </p:txBody>
      </p:sp>
      <p:sp>
        <p:nvSpPr>
          <p:cNvPr id="3" name="Symbol zastępczy tytułu pionowego 2"/>
          <p:cNvSpPr>
            <a:spLocks noGrp="1"/>
          </p:cNvSpPr>
          <p:nvPr>
            <p:ph type="body" orient="vert" idx="1"/>
          </p:nvPr>
        </p:nvSpPr>
        <p:spPr>
          <a:xfrm>
            <a:off x="609600" y="274639"/>
            <a:ext cx="8026400" cy="5851525"/>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8460EF2D-DD37-45C2-B490-8BB1B563B789}" type="datetime1">
              <a:rPr lang="pl-PL" smtClean="0"/>
              <a:t>10.08.2026</a:t>
            </a:fld>
            <a:endParaRPr lang="pl-PL" dirty="0"/>
          </a:p>
        </p:txBody>
      </p:sp>
      <p:sp>
        <p:nvSpPr>
          <p:cNvPr id="5" name="Symbol zastępczy stopki 4"/>
          <p:cNvSpPr>
            <a:spLocks noGrp="1"/>
          </p:cNvSpPr>
          <p:nvPr>
            <p:ph type="ftr" sz="quarter" idx="11"/>
          </p:nvPr>
        </p:nvSpPr>
        <p:spPr/>
        <p:txBody>
          <a:bodyPr/>
          <a:lstStyle/>
          <a:p>
            <a:endParaRPr lang="pl-PL" dirty="0"/>
          </a:p>
        </p:txBody>
      </p:sp>
      <p:sp>
        <p:nvSpPr>
          <p:cNvPr id="6" name="Symbol zastępczy numeru slajdu 5"/>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Obraz z podpisem">
    <p:spTree>
      <p:nvGrpSpPr>
        <p:cNvPr id="1" name=""/>
        <p:cNvGrpSpPr/>
        <p:nvPr/>
      </p:nvGrpSpPr>
      <p:grpSpPr>
        <a:xfrm>
          <a:off x="0" y="0"/>
          <a:ext cx="0" cy="0"/>
          <a:chOff x="0" y="0"/>
          <a:chExt cx="0" cy="0"/>
        </a:xfrm>
      </p:grpSpPr>
      <p:sp>
        <p:nvSpPr>
          <p:cNvPr id="4" name="Rectangle 4"/>
          <p:cNvSpPr>
            <a:spLocks noGrp="1"/>
          </p:cNvSpPr>
          <p:nvPr>
            <p:ph type="body" sz="half" idx="2"/>
          </p:nvPr>
        </p:nvSpPr>
        <p:spPr>
          <a:xfrm>
            <a:off x="7352715" y="1371600"/>
            <a:ext cx="4059936" cy="2930086"/>
          </a:xfrm>
        </p:spPr>
        <p:txBody>
          <a:bodyPr bIns="0" anchor="b">
            <a:normAutofit/>
          </a:bodyPr>
          <a:lstStyle>
            <a:lvl1pPr marL="0" marR="0" indent="0" algn="l">
              <a:buFontTx/>
              <a:buNone/>
              <a:defRPr sz="1300">
                <a:solidFill>
                  <a:schemeClr val="tx1">
                    <a:tint val="95000"/>
                  </a:schemeClr>
                </a:solidFill>
              </a:defRPr>
            </a:lvl1pPr>
            <a:lvl2pPr marL="460375" marR="0" indent="-112713">
              <a:buFontTx/>
              <a:buNone/>
              <a:defRPr sz="1200"/>
            </a:lvl2pPr>
            <a:lvl3pPr marL="914400" marR="0" indent="-117475">
              <a:buFontTx/>
              <a:buNone/>
              <a:defRPr sz="1000"/>
            </a:lvl3pPr>
            <a:lvl4pPr marL="1316038" marR="0" indent="-112713">
              <a:buFontTx/>
              <a:buNone/>
              <a:defRPr sz="900"/>
            </a:lvl4pPr>
            <a:lvl5pPr marL="1711325" marR="0" indent="-117475">
              <a:buFontTx/>
              <a:buNone/>
              <a:defRPr sz="900"/>
            </a:lvl5pPr>
          </a:lstStyle>
          <a:p>
            <a:pPr lvl="0"/>
            <a:r>
              <a:rPr lang="pl-PL"/>
              <a:t>Kliknij, aby edytować style wzorca tekstu</a:t>
            </a:r>
          </a:p>
        </p:txBody>
      </p:sp>
      <p:sp>
        <p:nvSpPr>
          <p:cNvPr id="9" name="Footer Placeholder 8"/>
          <p:cNvSpPr>
            <a:spLocks noGrp="1"/>
          </p:cNvSpPr>
          <p:nvPr>
            <p:ph type="ftr" sz="quarter" idx="10"/>
          </p:nvPr>
        </p:nvSpPr>
        <p:spPr/>
        <p:txBody>
          <a:bodyPr/>
          <a:lstStyle/>
          <a:p>
            <a:endParaRPr lang="pl-PL" dirty="0"/>
          </a:p>
        </p:txBody>
      </p:sp>
      <p:sp>
        <p:nvSpPr>
          <p:cNvPr id="10" name="Slide Number Placeholder 9"/>
          <p:cNvSpPr>
            <a:spLocks noGrp="1"/>
          </p:cNvSpPr>
          <p:nvPr>
            <p:ph type="sldNum" sz="quarter" idx="11"/>
          </p:nvPr>
        </p:nvSpPr>
        <p:spPr/>
        <p:txBody>
          <a:bodyPr/>
          <a:lstStyle/>
          <a:p>
            <a:fld id="{7E179A1A-A0F5-4001-A6E3-A7675233E5F9}" type="slidenum">
              <a:rPr lang="pl-PL" smtClean="0"/>
              <a:pPr/>
              <a:t>‹#›</a:t>
            </a:fld>
            <a:endParaRPr lang="pl-PL"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p:cNvSpPr>
            <a:spLocks noGrp="1"/>
          </p:cNvSpPr>
          <p:nvPr>
            <p:ph type="ctrTitle"/>
          </p:nvPr>
        </p:nvSpPr>
        <p:spPr>
          <a:xfrm>
            <a:off x="914400" y="2130426"/>
            <a:ext cx="10363200" cy="1470025"/>
          </a:xfrm>
        </p:spPr>
        <p:txBody>
          <a:bodyPr/>
          <a:lstStyle/>
          <a:p>
            <a:r>
              <a:rPr lang="pl-PL"/>
              <a:t>Kliknij, aby edytować styl</a:t>
            </a:r>
          </a:p>
        </p:txBody>
      </p:sp>
      <p:sp>
        <p:nvSpPr>
          <p:cNvPr id="3" name="Podtytuł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l-PL"/>
              <a:t>Kliknij, aby edytować styl wzorca podtytułu</a:t>
            </a:r>
          </a:p>
        </p:txBody>
      </p:sp>
      <p:sp>
        <p:nvSpPr>
          <p:cNvPr id="4" name="Symbol zastępczy daty 3"/>
          <p:cNvSpPr>
            <a:spLocks noGrp="1"/>
          </p:cNvSpPr>
          <p:nvPr>
            <p:ph type="dt" sz="half" idx="10"/>
          </p:nvPr>
        </p:nvSpPr>
        <p:spPr/>
        <p:txBody>
          <a:bodyPr/>
          <a:lstStyle/>
          <a:p>
            <a:fld id="{9B6EDD0D-709D-4DDA-9D4C-9ECAB3ADA661}" type="datetime1">
              <a:rPr lang="pl-PL" smtClean="0"/>
              <a:t>10.08.2026</a:t>
            </a:fld>
            <a:endParaRPr lang="pl-PL" dirty="0"/>
          </a:p>
        </p:txBody>
      </p:sp>
      <p:sp>
        <p:nvSpPr>
          <p:cNvPr id="5" name="Symbol zastępczy stopki 4"/>
          <p:cNvSpPr>
            <a:spLocks noGrp="1"/>
          </p:cNvSpPr>
          <p:nvPr>
            <p:ph type="ftr" sz="quarter" idx="11"/>
          </p:nvPr>
        </p:nvSpPr>
        <p:spPr/>
        <p:txBody>
          <a:bodyPr/>
          <a:lstStyle/>
          <a:p>
            <a:endParaRPr lang="pl-PL" dirty="0"/>
          </a:p>
        </p:txBody>
      </p:sp>
      <p:sp>
        <p:nvSpPr>
          <p:cNvPr id="6" name="Symbol zastępczy numeru slajdu 5"/>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E10D3399-327D-42BA-A958-0E7BDFAD8300}" type="datetime1">
              <a:rPr lang="pl-PL" smtClean="0"/>
              <a:t>10.08.2026</a:t>
            </a:fld>
            <a:endParaRPr lang="pl-PL" dirty="0"/>
          </a:p>
        </p:txBody>
      </p:sp>
      <p:sp>
        <p:nvSpPr>
          <p:cNvPr id="5" name="Symbol zastępczy stopki 4"/>
          <p:cNvSpPr>
            <a:spLocks noGrp="1"/>
          </p:cNvSpPr>
          <p:nvPr>
            <p:ph type="ftr" sz="quarter" idx="11"/>
          </p:nvPr>
        </p:nvSpPr>
        <p:spPr/>
        <p:txBody>
          <a:bodyPr/>
          <a:lstStyle/>
          <a:p>
            <a:endParaRPr lang="pl-PL" dirty="0"/>
          </a:p>
        </p:txBody>
      </p:sp>
      <p:sp>
        <p:nvSpPr>
          <p:cNvPr id="6" name="Symbol zastępczy numeru slajdu 5"/>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p:cNvSpPr>
            <a:spLocks noGrp="1"/>
          </p:cNvSpPr>
          <p:nvPr>
            <p:ph type="title"/>
          </p:nvPr>
        </p:nvSpPr>
        <p:spPr>
          <a:xfrm>
            <a:off x="963084" y="4406901"/>
            <a:ext cx="10363200" cy="1362075"/>
          </a:xfrm>
        </p:spPr>
        <p:txBody>
          <a:bodyPr anchor="t"/>
          <a:lstStyle>
            <a:lvl1pPr algn="l">
              <a:defRPr sz="4000" b="1" cap="all"/>
            </a:lvl1pPr>
          </a:lstStyle>
          <a:p>
            <a:r>
              <a:rPr lang="pl-PL"/>
              <a:t>Kliknij, aby edytować styl</a:t>
            </a:r>
          </a:p>
        </p:txBody>
      </p:sp>
      <p:sp>
        <p:nvSpPr>
          <p:cNvPr id="3" name="Symbol zastępczy tekstu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a:t>Kliknij, aby edytować style wzorca tekstu</a:t>
            </a:r>
          </a:p>
        </p:txBody>
      </p:sp>
      <p:sp>
        <p:nvSpPr>
          <p:cNvPr id="4" name="Symbol zastępczy daty 3"/>
          <p:cNvSpPr>
            <a:spLocks noGrp="1"/>
          </p:cNvSpPr>
          <p:nvPr>
            <p:ph type="dt" sz="half" idx="10"/>
          </p:nvPr>
        </p:nvSpPr>
        <p:spPr/>
        <p:txBody>
          <a:bodyPr/>
          <a:lstStyle/>
          <a:p>
            <a:fld id="{23BE29C7-D880-4E30-8EE8-B393D0C69803}" type="datetime1">
              <a:rPr lang="pl-PL" smtClean="0"/>
              <a:t>10.08.2026</a:t>
            </a:fld>
            <a:endParaRPr lang="pl-PL" dirty="0"/>
          </a:p>
        </p:txBody>
      </p:sp>
      <p:sp>
        <p:nvSpPr>
          <p:cNvPr id="5" name="Symbol zastępczy stopki 4"/>
          <p:cNvSpPr>
            <a:spLocks noGrp="1"/>
          </p:cNvSpPr>
          <p:nvPr>
            <p:ph type="ftr" sz="quarter" idx="11"/>
          </p:nvPr>
        </p:nvSpPr>
        <p:spPr/>
        <p:txBody>
          <a:bodyPr/>
          <a:lstStyle/>
          <a:p>
            <a:endParaRPr lang="pl-PL" dirty="0"/>
          </a:p>
        </p:txBody>
      </p:sp>
      <p:sp>
        <p:nvSpPr>
          <p:cNvPr id="6" name="Symbol zastępczy numeru slajdu 5"/>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4"/>
          <p:cNvSpPr>
            <a:spLocks noGrp="1"/>
          </p:cNvSpPr>
          <p:nvPr>
            <p:ph type="dt" sz="half" idx="10"/>
          </p:nvPr>
        </p:nvSpPr>
        <p:spPr/>
        <p:txBody>
          <a:bodyPr/>
          <a:lstStyle/>
          <a:p>
            <a:fld id="{FDCB8D79-1861-40E5-8F72-CB31B3CFD151}" type="datetime1">
              <a:rPr lang="pl-PL" smtClean="0"/>
              <a:t>10.08.2026</a:t>
            </a:fld>
            <a:endParaRPr lang="pl-PL" dirty="0"/>
          </a:p>
        </p:txBody>
      </p:sp>
      <p:sp>
        <p:nvSpPr>
          <p:cNvPr id="6" name="Symbol zastępczy stopki 5"/>
          <p:cNvSpPr>
            <a:spLocks noGrp="1"/>
          </p:cNvSpPr>
          <p:nvPr>
            <p:ph type="ftr" sz="quarter" idx="11"/>
          </p:nvPr>
        </p:nvSpPr>
        <p:spPr/>
        <p:txBody>
          <a:bodyPr/>
          <a:lstStyle/>
          <a:p>
            <a:endParaRPr lang="pl-PL" dirty="0"/>
          </a:p>
        </p:txBody>
      </p:sp>
      <p:sp>
        <p:nvSpPr>
          <p:cNvPr id="7" name="Symbol zastępczy numeru slajdu 6"/>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lvl1pPr>
              <a:defRPr/>
            </a:lvl1pPr>
          </a:lstStyle>
          <a:p>
            <a:r>
              <a:rPr lang="pl-PL"/>
              <a:t>Kliknij, aby edytować styl</a:t>
            </a:r>
          </a:p>
        </p:txBody>
      </p:sp>
      <p:sp>
        <p:nvSpPr>
          <p:cNvPr id="3" name="Symbol zastępczy tekstu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6"/>
          <p:cNvSpPr>
            <a:spLocks noGrp="1"/>
          </p:cNvSpPr>
          <p:nvPr>
            <p:ph type="dt" sz="half" idx="10"/>
          </p:nvPr>
        </p:nvSpPr>
        <p:spPr/>
        <p:txBody>
          <a:bodyPr/>
          <a:lstStyle/>
          <a:p>
            <a:fld id="{DD46B526-5DE9-4485-939A-060735463E6F}" type="datetime1">
              <a:rPr lang="pl-PL" smtClean="0"/>
              <a:t>10.08.2026</a:t>
            </a:fld>
            <a:endParaRPr lang="pl-PL" dirty="0"/>
          </a:p>
        </p:txBody>
      </p:sp>
      <p:sp>
        <p:nvSpPr>
          <p:cNvPr id="8" name="Symbol zastępczy stopki 7"/>
          <p:cNvSpPr>
            <a:spLocks noGrp="1"/>
          </p:cNvSpPr>
          <p:nvPr>
            <p:ph type="ftr" sz="quarter" idx="11"/>
          </p:nvPr>
        </p:nvSpPr>
        <p:spPr/>
        <p:txBody>
          <a:bodyPr/>
          <a:lstStyle/>
          <a:p>
            <a:endParaRPr lang="pl-PL" dirty="0"/>
          </a:p>
        </p:txBody>
      </p:sp>
      <p:sp>
        <p:nvSpPr>
          <p:cNvPr id="9" name="Symbol zastępczy numeru slajdu 8"/>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daty 2"/>
          <p:cNvSpPr>
            <a:spLocks noGrp="1"/>
          </p:cNvSpPr>
          <p:nvPr>
            <p:ph type="dt" sz="half" idx="10"/>
          </p:nvPr>
        </p:nvSpPr>
        <p:spPr/>
        <p:txBody>
          <a:bodyPr/>
          <a:lstStyle/>
          <a:p>
            <a:fld id="{F93C53B6-752A-49EF-91B8-B01454185D02}" type="datetime1">
              <a:rPr lang="pl-PL" smtClean="0"/>
              <a:t>10.08.2026</a:t>
            </a:fld>
            <a:endParaRPr lang="pl-PL" dirty="0"/>
          </a:p>
        </p:txBody>
      </p:sp>
      <p:sp>
        <p:nvSpPr>
          <p:cNvPr id="4" name="Symbol zastępczy stopki 3"/>
          <p:cNvSpPr>
            <a:spLocks noGrp="1"/>
          </p:cNvSpPr>
          <p:nvPr>
            <p:ph type="ftr" sz="quarter" idx="11"/>
          </p:nvPr>
        </p:nvSpPr>
        <p:spPr/>
        <p:txBody>
          <a:bodyPr/>
          <a:lstStyle/>
          <a:p>
            <a:endParaRPr lang="pl-PL" dirty="0"/>
          </a:p>
        </p:txBody>
      </p:sp>
      <p:sp>
        <p:nvSpPr>
          <p:cNvPr id="5" name="Symbol zastępczy numeru slajdu 4"/>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p:cNvSpPr>
            <a:spLocks noGrp="1"/>
          </p:cNvSpPr>
          <p:nvPr>
            <p:ph type="dt" sz="half" idx="10"/>
          </p:nvPr>
        </p:nvSpPr>
        <p:spPr/>
        <p:txBody>
          <a:bodyPr/>
          <a:lstStyle/>
          <a:p>
            <a:fld id="{AE60ADEC-94F6-466C-96E8-380859ABD0FC}" type="datetime1">
              <a:rPr lang="pl-PL" smtClean="0"/>
              <a:t>10.08.2026</a:t>
            </a:fld>
            <a:endParaRPr lang="pl-PL" dirty="0"/>
          </a:p>
        </p:txBody>
      </p:sp>
      <p:sp>
        <p:nvSpPr>
          <p:cNvPr id="3" name="Symbol zastępczy stopki 2"/>
          <p:cNvSpPr>
            <a:spLocks noGrp="1"/>
          </p:cNvSpPr>
          <p:nvPr>
            <p:ph type="ftr" sz="quarter" idx="11"/>
          </p:nvPr>
        </p:nvSpPr>
        <p:spPr/>
        <p:txBody>
          <a:bodyPr/>
          <a:lstStyle/>
          <a:p>
            <a:endParaRPr lang="pl-PL" dirty="0"/>
          </a:p>
        </p:txBody>
      </p:sp>
      <p:sp>
        <p:nvSpPr>
          <p:cNvPr id="4" name="Symbol zastępczy numeru slajdu 3"/>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609601" y="273050"/>
            <a:ext cx="4011084" cy="1162050"/>
          </a:xfrm>
        </p:spPr>
        <p:txBody>
          <a:bodyPr anchor="b"/>
          <a:lstStyle>
            <a:lvl1pPr algn="l">
              <a:defRPr sz="2000" b="1"/>
            </a:lvl1pPr>
          </a:lstStyle>
          <a:p>
            <a:r>
              <a:rPr lang="pl-PL"/>
              <a:t>Kliknij, aby edytować styl</a:t>
            </a:r>
          </a:p>
        </p:txBody>
      </p:sp>
      <p:sp>
        <p:nvSpPr>
          <p:cNvPr id="3" name="Symbol zastępczy zawartości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Symbol zastępczy daty 4"/>
          <p:cNvSpPr>
            <a:spLocks noGrp="1"/>
          </p:cNvSpPr>
          <p:nvPr>
            <p:ph type="dt" sz="half" idx="10"/>
          </p:nvPr>
        </p:nvSpPr>
        <p:spPr/>
        <p:txBody>
          <a:bodyPr/>
          <a:lstStyle/>
          <a:p>
            <a:fld id="{3ED9B978-172D-4D12-A927-77152D472CBF}" type="datetime1">
              <a:rPr lang="pl-PL" smtClean="0"/>
              <a:t>10.08.2026</a:t>
            </a:fld>
            <a:endParaRPr lang="pl-PL" dirty="0"/>
          </a:p>
        </p:txBody>
      </p:sp>
      <p:sp>
        <p:nvSpPr>
          <p:cNvPr id="6" name="Symbol zastępczy stopki 5"/>
          <p:cNvSpPr>
            <a:spLocks noGrp="1"/>
          </p:cNvSpPr>
          <p:nvPr>
            <p:ph type="ftr" sz="quarter" idx="11"/>
          </p:nvPr>
        </p:nvSpPr>
        <p:spPr/>
        <p:txBody>
          <a:bodyPr/>
          <a:lstStyle/>
          <a:p>
            <a:endParaRPr lang="pl-PL" dirty="0"/>
          </a:p>
        </p:txBody>
      </p:sp>
      <p:sp>
        <p:nvSpPr>
          <p:cNvPr id="7" name="Symbol zastępczy numeru slajdu 6"/>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2389717" y="4800600"/>
            <a:ext cx="7315200" cy="566738"/>
          </a:xfrm>
        </p:spPr>
        <p:txBody>
          <a:bodyPr anchor="b"/>
          <a:lstStyle>
            <a:lvl1pPr algn="l">
              <a:defRPr sz="2000" b="1"/>
            </a:lvl1pPr>
          </a:lstStyle>
          <a:p>
            <a:r>
              <a:rPr lang="pl-PL"/>
              <a:t>Kliknij, aby edytować styl</a:t>
            </a:r>
          </a:p>
        </p:txBody>
      </p:sp>
      <p:sp>
        <p:nvSpPr>
          <p:cNvPr id="3" name="Symbol zastępczy obrazu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l-PL" dirty="0"/>
          </a:p>
        </p:txBody>
      </p:sp>
      <p:sp>
        <p:nvSpPr>
          <p:cNvPr id="4" name="Symbol zastępczy tekstu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Symbol zastępczy daty 4"/>
          <p:cNvSpPr>
            <a:spLocks noGrp="1"/>
          </p:cNvSpPr>
          <p:nvPr>
            <p:ph type="dt" sz="half" idx="10"/>
          </p:nvPr>
        </p:nvSpPr>
        <p:spPr/>
        <p:txBody>
          <a:bodyPr/>
          <a:lstStyle/>
          <a:p>
            <a:fld id="{9C6E89DF-7EA8-452F-AF88-78DE748BB068}" type="datetime1">
              <a:rPr lang="pl-PL" smtClean="0"/>
              <a:t>10.08.2026</a:t>
            </a:fld>
            <a:endParaRPr lang="pl-PL" dirty="0"/>
          </a:p>
        </p:txBody>
      </p:sp>
      <p:sp>
        <p:nvSpPr>
          <p:cNvPr id="6" name="Symbol zastępczy stopki 5"/>
          <p:cNvSpPr>
            <a:spLocks noGrp="1"/>
          </p:cNvSpPr>
          <p:nvPr>
            <p:ph type="ftr" sz="quarter" idx="11"/>
          </p:nvPr>
        </p:nvSpPr>
        <p:spPr/>
        <p:txBody>
          <a:bodyPr/>
          <a:lstStyle/>
          <a:p>
            <a:endParaRPr lang="pl-PL" dirty="0"/>
          </a:p>
        </p:txBody>
      </p:sp>
      <p:sp>
        <p:nvSpPr>
          <p:cNvPr id="7" name="Symbol zastępczy numeru slajdu 6"/>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tytułu pionowego 2"/>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65F72681-A5D9-42F1-A34B-9D4CA08F2816}" type="datetime1">
              <a:rPr lang="pl-PL" smtClean="0"/>
              <a:t>10.08.2026</a:t>
            </a:fld>
            <a:endParaRPr lang="pl-PL" dirty="0"/>
          </a:p>
        </p:txBody>
      </p:sp>
      <p:sp>
        <p:nvSpPr>
          <p:cNvPr id="5" name="Symbol zastępczy stopki 4"/>
          <p:cNvSpPr>
            <a:spLocks noGrp="1"/>
          </p:cNvSpPr>
          <p:nvPr>
            <p:ph type="ftr" sz="quarter" idx="11"/>
          </p:nvPr>
        </p:nvSpPr>
        <p:spPr/>
        <p:txBody>
          <a:bodyPr/>
          <a:lstStyle/>
          <a:p>
            <a:endParaRPr lang="pl-PL" dirty="0"/>
          </a:p>
        </p:txBody>
      </p:sp>
      <p:sp>
        <p:nvSpPr>
          <p:cNvPr id="6" name="Symbol zastępczy numeru slajdu 5"/>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p:cNvSpPr>
            <a:spLocks noGrp="1"/>
          </p:cNvSpPr>
          <p:nvPr>
            <p:ph type="title" orient="vert"/>
          </p:nvPr>
        </p:nvSpPr>
        <p:spPr>
          <a:xfrm>
            <a:off x="8839200" y="274639"/>
            <a:ext cx="2743200" cy="5851525"/>
          </a:xfrm>
        </p:spPr>
        <p:txBody>
          <a:bodyPr vert="eaVert"/>
          <a:lstStyle/>
          <a:p>
            <a:r>
              <a:rPr lang="pl-PL"/>
              <a:t>Kliknij, aby edytować styl</a:t>
            </a:r>
          </a:p>
        </p:txBody>
      </p:sp>
      <p:sp>
        <p:nvSpPr>
          <p:cNvPr id="3" name="Symbol zastępczy tytułu pionowego 2"/>
          <p:cNvSpPr>
            <a:spLocks noGrp="1"/>
          </p:cNvSpPr>
          <p:nvPr>
            <p:ph type="body" orient="vert" idx="1"/>
          </p:nvPr>
        </p:nvSpPr>
        <p:spPr>
          <a:xfrm>
            <a:off x="609600" y="274639"/>
            <a:ext cx="8026400" cy="5851525"/>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965529A7-9327-4034-BCAB-153D77F8EAD8}" type="datetime1">
              <a:rPr lang="pl-PL" smtClean="0"/>
              <a:t>10.08.2026</a:t>
            </a:fld>
            <a:endParaRPr lang="pl-PL" dirty="0"/>
          </a:p>
        </p:txBody>
      </p:sp>
      <p:sp>
        <p:nvSpPr>
          <p:cNvPr id="5" name="Symbol zastępczy stopki 4"/>
          <p:cNvSpPr>
            <a:spLocks noGrp="1"/>
          </p:cNvSpPr>
          <p:nvPr>
            <p:ph type="ftr" sz="quarter" idx="11"/>
          </p:nvPr>
        </p:nvSpPr>
        <p:spPr/>
        <p:txBody>
          <a:bodyPr/>
          <a:lstStyle/>
          <a:p>
            <a:endParaRPr lang="pl-PL" dirty="0"/>
          </a:p>
        </p:txBody>
      </p:sp>
      <p:sp>
        <p:nvSpPr>
          <p:cNvPr id="6" name="Symbol zastępczy numeru slajdu 5"/>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Symbol zastępczy tytułu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pl-PL"/>
              <a:t>Kliknij, aby edytować styl</a:t>
            </a:r>
          </a:p>
        </p:txBody>
      </p:sp>
      <p:sp>
        <p:nvSpPr>
          <p:cNvPr id="3" name="Symbol zastępczy tekstu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608866-B86D-4167-AE55-BBC4BAC99BBC}" type="datetime1">
              <a:rPr lang="pl-PL" smtClean="0"/>
              <a:t>10.08.2026</a:t>
            </a:fld>
            <a:endParaRPr lang="pl-PL" dirty="0"/>
          </a:p>
        </p:txBody>
      </p:sp>
      <p:sp>
        <p:nvSpPr>
          <p:cNvPr id="5" name="Symbol zastępczy stopki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l-PL" dirty="0"/>
          </a:p>
        </p:txBody>
      </p:sp>
      <p:sp>
        <p:nvSpPr>
          <p:cNvPr id="6" name="Symbol zastępczy numeru slajdu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D4B2D9-DB10-4EB9-B7A6-032A6D4E75AC}" type="slidenum">
              <a:rPr lang="pl-PL" smtClean="0"/>
              <a:pPr/>
              <a:t>‹#›</a:t>
            </a:fld>
            <a:endParaRPr lang="pl-PL" dirty="0"/>
          </a:p>
        </p:txBody>
      </p:sp>
    </p:spTree>
  </p:cSld>
  <p:clrMap bg1="lt1" tx1="dk1" bg2="lt2" tx2="dk2" accent1="accent1" accent2="accent2" accent3="accent3" accent4="accent4" accent5="accent5" accent6="accent6" hlink="hlink" folHlink="folHlink"/>
  <p:sldLayoutIdLst>
    <p:sldLayoutId id="2147484212" r:id="rId1"/>
    <p:sldLayoutId id="2147484213" r:id="rId2"/>
    <p:sldLayoutId id="2147484214" r:id="rId3"/>
    <p:sldLayoutId id="2147484215" r:id="rId4"/>
    <p:sldLayoutId id="2147484216" r:id="rId5"/>
    <p:sldLayoutId id="2147484217" r:id="rId6"/>
    <p:sldLayoutId id="2147484218" r:id="rId7"/>
    <p:sldLayoutId id="2147484219" r:id="rId8"/>
    <p:sldLayoutId id="2147484220" r:id="rId9"/>
    <p:sldLayoutId id="2147484221" r:id="rId10"/>
    <p:sldLayoutId id="2147484222" r:id="rId11"/>
    <p:sldLayoutId id="2147484233" r:id="rId1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Symbol zastępczy tytułu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pl-PL"/>
              <a:t>Kliknij, aby edytować styl</a:t>
            </a:r>
          </a:p>
        </p:txBody>
      </p:sp>
      <p:sp>
        <p:nvSpPr>
          <p:cNvPr id="3" name="Symbol zastępczy tekstu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E5E7B6-408A-4CCE-8CDF-767618FEAFBE}" type="datetime1">
              <a:rPr lang="pl-PL" smtClean="0"/>
              <a:t>10.08.2026</a:t>
            </a:fld>
            <a:endParaRPr lang="pl-PL" dirty="0"/>
          </a:p>
        </p:txBody>
      </p:sp>
      <p:sp>
        <p:nvSpPr>
          <p:cNvPr id="5" name="Symbol zastępczy stopki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l-PL" dirty="0"/>
          </a:p>
        </p:txBody>
      </p:sp>
      <p:sp>
        <p:nvSpPr>
          <p:cNvPr id="6" name="Symbol zastępczy numeru slajdu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C1CA4F-6684-461B-A968-23E3DD2ABA14}" type="slidenum">
              <a:rPr lang="pl-PL" smtClean="0"/>
              <a:pPr/>
              <a:t>‹#›</a:t>
            </a:fld>
            <a:endParaRPr lang="pl-PL" dirty="0"/>
          </a:p>
        </p:txBody>
      </p:sp>
    </p:spTree>
  </p:cSld>
  <p:clrMap bg1="lt1" tx1="dk1" bg2="lt2" tx2="dk2" accent1="accent1" accent2="accent2" accent3="accent3" accent4="accent4" accent5="accent5" accent6="accent6" hlink="hlink" folHlink="folHlink"/>
  <p:sldLayoutIdLst>
    <p:sldLayoutId id="2147484237" r:id="rId1"/>
    <p:sldLayoutId id="2147484238" r:id="rId2"/>
    <p:sldLayoutId id="2147484239" r:id="rId3"/>
    <p:sldLayoutId id="2147484240" r:id="rId4"/>
    <p:sldLayoutId id="2147484241" r:id="rId5"/>
    <p:sldLayoutId id="2147484242" r:id="rId6"/>
    <p:sldLayoutId id="2147484243" r:id="rId7"/>
    <p:sldLayoutId id="2147484244" r:id="rId8"/>
    <p:sldLayoutId id="2147484245" r:id="rId9"/>
    <p:sldLayoutId id="2147484246" r:id="rId10"/>
    <p:sldLayoutId id="2147484247"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ctrTitle"/>
          </p:nvPr>
        </p:nvSpPr>
        <p:spPr>
          <a:xfrm>
            <a:off x="0" y="0"/>
            <a:ext cx="6553200" cy="3124200"/>
          </a:xfrm>
        </p:spPr>
        <p:txBody>
          <a:bodyPr anchor="t">
            <a:noAutofit/>
          </a:bodyPr>
          <a:lstStyle/>
          <a:p>
            <a:r>
              <a:rPr lang="pl-PL" b="1">
                <a:solidFill>
                  <a:srgbClr val="0000FF"/>
                </a:solidFill>
                <a:latin typeface="Candara" panose="020E0502030303020204" pitchFamily="34" charset="0"/>
              </a:rPr>
              <a:t>Machine Learning Models </a:t>
            </a:r>
            <a:br>
              <a:rPr lang="pl-PL" b="1">
                <a:solidFill>
                  <a:srgbClr val="0000FF"/>
                </a:solidFill>
                <a:latin typeface="Candara" panose="020E0502030303020204" pitchFamily="34" charset="0"/>
              </a:rPr>
            </a:br>
            <a:r>
              <a:rPr lang="pl-PL" b="1">
                <a:solidFill>
                  <a:srgbClr val="0000FF"/>
                </a:solidFill>
                <a:latin typeface="Candara" panose="020E0502030303020204" pitchFamily="34" charset="0"/>
              </a:rPr>
              <a:t>Design</a:t>
            </a:r>
            <a:br>
              <a:rPr lang="pl-PL" b="1" dirty="0">
                <a:solidFill>
                  <a:srgbClr val="0000FF"/>
                </a:solidFill>
                <a:latin typeface="Candara" panose="020E0502030303020204" pitchFamily="34" charset="0"/>
              </a:rPr>
            </a:br>
            <a:br>
              <a:rPr lang="pl-PL"/>
            </a:br>
            <a:r>
              <a:rPr lang="pl-PL" sz="2800" b="1">
                <a:effectLst>
                  <a:outerShdw blurRad="38100" dist="38100" dir="2700000" algn="tl">
                    <a:srgbClr val="000000">
                      <a:alpha val="43137"/>
                    </a:srgbClr>
                  </a:outerShdw>
                </a:effectLst>
                <a:latin typeface="Candara" panose="020E0502030303020204" pitchFamily="34" charset="0"/>
              </a:rPr>
              <a:t>assoc. prof. Dariusz Put</a:t>
            </a:r>
            <a:br>
              <a:rPr lang="pl-PL" sz="2800" b="1">
                <a:effectLst>
                  <a:outerShdw blurRad="38100" dist="38100" dir="2700000" algn="tl">
                    <a:srgbClr val="000000">
                      <a:alpha val="43137"/>
                    </a:srgbClr>
                  </a:outerShdw>
                </a:effectLst>
                <a:latin typeface="Candara" panose="020E0502030303020204" pitchFamily="34" charset="0"/>
              </a:rPr>
            </a:br>
            <a:r>
              <a:rPr lang="pl-PL" sz="2800" b="1">
                <a:effectLst>
                  <a:outerShdw blurRad="38100" dist="38100" dir="2700000" algn="tl">
                    <a:srgbClr val="000000">
                      <a:alpha val="43137"/>
                    </a:srgbClr>
                  </a:outerShdw>
                </a:effectLst>
                <a:latin typeface="Candara" panose="020E0502030303020204" pitchFamily="34" charset="0"/>
              </a:rPr>
              <a:t>Krakow University of Economics, Poland</a:t>
            </a:r>
            <a:endParaRPr lang="en-GB" b="1" dirty="0">
              <a:effectLst>
                <a:outerShdw blurRad="38100" dist="38100" dir="2700000" algn="tl">
                  <a:srgbClr val="000000">
                    <a:alpha val="43137"/>
                  </a:srgbClr>
                </a:outerShdw>
              </a:effectLst>
              <a:latin typeface="Candara" panose="020E0502030303020204" pitchFamily="34" charset="0"/>
            </a:endParaRPr>
          </a:p>
        </p:txBody>
      </p:sp>
      <p:pic>
        <p:nvPicPr>
          <p:cNvPr id="3" name="Picture 2" descr="Pin">
            <a:extLst>
              <a:ext uri="{FF2B5EF4-FFF2-40B4-BE49-F238E27FC236}">
                <a16:creationId xmlns:a16="http://schemas.microsoft.com/office/drawing/2014/main" id="{26513C35-8636-BBA8-AAA9-3AA05923B5F4}"/>
              </a:ext>
            </a:extLst>
          </p:cNvPr>
          <p:cNvPicPr>
            <a:picLocks noChangeAspect="1"/>
          </p:cNvPicPr>
          <p:nvPr/>
        </p:nvPicPr>
        <p:blipFill>
          <a:blip r:embed="rId3"/>
          <a:stretch>
            <a:fillRect/>
          </a:stretch>
        </p:blipFill>
        <p:spPr>
          <a:xfrm>
            <a:off x="6934200" y="76200"/>
            <a:ext cx="5168391" cy="6569989"/>
          </a:xfrm>
          <a:prstGeom prst="rect">
            <a:avLst/>
          </a:prstGeom>
        </p:spPr>
      </p:pic>
      <p:cxnSp>
        <p:nvCxnSpPr>
          <p:cNvPr id="7" name="Straight Arrow Connector 6">
            <a:extLst>
              <a:ext uri="{FF2B5EF4-FFF2-40B4-BE49-F238E27FC236}">
                <a16:creationId xmlns:a16="http://schemas.microsoft.com/office/drawing/2014/main" id="{D2052919-0E21-0626-1862-498CF6F2A895}"/>
              </a:ext>
            </a:extLst>
          </p:cNvPr>
          <p:cNvCxnSpPr/>
          <p:nvPr/>
        </p:nvCxnSpPr>
        <p:spPr>
          <a:xfrm flipV="1">
            <a:off x="5791200" y="3886200"/>
            <a:ext cx="4724400" cy="1905000"/>
          </a:xfrm>
          <a:prstGeom prst="straightConnector1">
            <a:avLst/>
          </a:prstGeom>
          <a:ln w="412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EC4F886-8AD3-A3B4-8306-47F77AEBA173}"/>
              </a:ext>
            </a:extLst>
          </p:cNvPr>
          <p:cNvSpPr txBox="1"/>
          <p:nvPr/>
        </p:nvSpPr>
        <p:spPr>
          <a:xfrm>
            <a:off x="4495800" y="5516880"/>
            <a:ext cx="1447800" cy="432414"/>
          </a:xfrm>
          <a:prstGeom prst="rect">
            <a:avLst/>
          </a:prstGeom>
          <a:noFill/>
        </p:spPr>
        <p:txBody>
          <a:bodyPr wrap="square">
            <a:spAutoFit/>
          </a:bodyPr>
          <a:lstStyle/>
          <a:p>
            <a:r>
              <a:rPr lang="pl-PL" sz="2800" b="1">
                <a:effectLst>
                  <a:outerShdw blurRad="38100" dist="38100" dir="2700000" algn="tl">
                    <a:srgbClr val="000000">
                      <a:alpha val="43137"/>
                    </a:srgbClr>
                  </a:outerShdw>
                </a:effectLst>
                <a:latin typeface="Candara" panose="020E0502030303020204" pitchFamily="34" charset="0"/>
              </a:rPr>
              <a:t>Krakow</a:t>
            </a:r>
            <a:endParaRPr lang="pl-PL"/>
          </a:p>
        </p:txBody>
      </p:sp>
    </p:spTree>
  </p:cSld>
  <p:clrMapOvr>
    <a:masterClrMapping/>
  </p:clrMapOvr>
  <p:transition>
    <p:pull dir="d"/>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0D4B2D9-DB10-4EB9-B7A6-032A6D4E75AC}" type="slidenum">
              <a:rPr lang="pl-PL" smtClean="0"/>
              <a:pPr/>
              <a:t>2</a:t>
            </a:fld>
            <a:endParaRPr lang="pl-PL" dirty="0"/>
          </a:p>
        </p:txBody>
      </p:sp>
      <p:sp>
        <p:nvSpPr>
          <p:cNvPr id="6" name="TextBox 5"/>
          <p:cNvSpPr txBox="1"/>
          <p:nvPr/>
        </p:nvSpPr>
        <p:spPr>
          <a:xfrm>
            <a:off x="304800" y="304800"/>
            <a:ext cx="10210800" cy="4191000"/>
          </a:xfrm>
          <a:prstGeom prst="rect">
            <a:avLst/>
          </a:prstGeom>
          <a:noFill/>
        </p:spPr>
        <p:txBody>
          <a:bodyPr wrap="square" lIns="36000" tIns="36000" rIns="36000" bIns="36000" rtlCol="0">
            <a:noAutofit/>
          </a:bodyPr>
          <a:lstStyle/>
          <a:p>
            <a:r>
              <a:rPr lang="pl-PL" sz="2400" b="1">
                <a:solidFill>
                  <a:srgbClr val="0000FF"/>
                </a:solidFill>
                <a:latin typeface="Arial Narrow" panose="020B0606020202030204" pitchFamily="34" charset="0"/>
              </a:rPr>
              <a:t>Agenda</a:t>
            </a:r>
            <a:endParaRPr lang="pl-PL" sz="2400" b="1" dirty="0">
              <a:solidFill>
                <a:srgbClr val="0000FF"/>
              </a:solidFill>
              <a:latin typeface="Arial Narrow" panose="020B0606020202030204" pitchFamily="34" charset="0"/>
            </a:endParaRPr>
          </a:p>
          <a:p>
            <a:pPr marL="269875" indent="-269875">
              <a:buFont typeface="+mj-lt"/>
              <a:buAutoNum type="arabicPeriod"/>
            </a:pPr>
            <a:r>
              <a:rPr lang="pl-PL" sz="2400">
                <a:solidFill>
                  <a:srgbClr val="0000FF"/>
                </a:solidFill>
                <a:latin typeface="Arial Narrow" panose="020B0606020202030204" pitchFamily="34" charset="0"/>
              </a:rPr>
              <a:t>Introduction to </a:t>
            </a:r>
            <a:r>
              <a:rPr lang="en-US" sz="2400">
                <a:solidFill>
                  <a:srgbClr val="0000FF"/>
                </a:solidFill>
                <a:latin typeface="Arial Narrow" panose="020B0606020202030204" pitchFamily="34" charset="0"/>
              </a:rPr>
              <a:t>Artificial Intelligence and Machine Learning</a:t>
            </a:r>
            <a:endParaRPr lang="pl-PL" sz="2400" dirty="0">
              <a:solidFill>
                <a:srgbClr val="0000FF"/>
              </a:solidFill>
              <a:latin typeface="Arial Narrow" panose="020B0606020202030204" pitchFamily="34" charset="0"/>
            </a:endParaRPr>
          </a:p>
          <a:p>
            <a:pPr marL="269875" indent="-269875">
              <a:buFont typeface="+mj-lt"/>
              <a:buAutoNum type="arabicPeriod"/>
            </a:pPr>
            <a:r>
              <a:rPr lang="en-US" sz="2400">
                <a:solidFill>
                  <a:srgbClr val="0000FF"/>
                </a:solidFill>
                <a:latin typeface="Arial Narrow" panose="020B0606020202030204" pitchFamily="34" charset="0"/>
              </a:rPr>
              <a:t>Selected concepts related to Machine Learning</a:t>
            </a:r>
            <a:endParaRPr lang="pl-PL" sz="2400">
              <a:solidFill>
                <a:srgbClr val="0000FF"/>
              </a:solidFill>
              <a:latin typeface="Arial Narrow" panose="020B0606020202030204" pitchFamily="34" charset="0"/>
            </a:endParaRPr>
          </a:p>
          <a:p>
            <a:pPr marL="269875" indent="-269875">
              <a:buFont typeface="+mj-lt"/>
              <a:buAutoNum type="arabicPeriod"/>
            </a:pPr>
            <a:r>
              <a:rPr lang="en-US" sz="2400">
                <a:solidFill>
                  <a:srgbClr val="0000FF"/>
                </a:solidFill>
                <a:latin typeface="Arial Narrow" panose="020B0606020202030204" pitchFamily="34" charset="0"/>
              </a:rPr>
              <a:t>The types of Machine Learning tasks</a:t>
            </a:r>
            <a:endParaRPr lang="pl-PL" sz="2400">
              <a:solidFill>
                <a:srgbClr val="0000FF"/>
              </a:solidFill>
              <a:latin typeface="Arial Narrow" panose="020B0606020202030204" pitchFamily="34" charset="0"/>
            </a:endParaRPr>
          </a:p>
          <a:p>
            <a:pPr marL="269875" indent="-269875">
              <a:buFont typeface="+mj-lt"/>
              <a:buAutoNum type="arabicPeriod"/>
            </a:pPr>
            <a:r>
              <a:rPr lang="pl-PL" sz="2400">
                <a:solidFill>
                  <a:srgbClr val="0000FF"/>
                </a:solidFill>
                <a:latin typeface="Arial Narrow" panose="020B0606020202030204" pitchFamily="34" charset="0"/>
              </a:rPr>
              <a:t>Python libraries used in ML</a:t>
            </a:r>
          </a:p>
          <a:p>
            <a:pPr marL="269875" indent="-269875">
              <a:buFont typeface="+mj-lt"/>
              <a:buAutoNum type="arabicPeriod"/>
            </a:pPr>
            <a:r>
              <a:rPr lang="pl-PL" sz="2400">
                <a:solidFill>
                  <a:srgbClr val="0000FF"/>
                </a:solidFill>
                <a:latin typeface="Arial Narrow" panose="020B0606020202030204" pitchFamily="34" charset="0"/>
              </a:rPr>
              <a:t>Data in ML</a:t>
            </a:r>
          </a:p>
          <a:p>
            <a:pPr marL="269875" indent="-269875">
              <a:buFont typeface="+mj-lt"/>
              <a:buAutoNum type="arabicPeriod"/>
            </a:pPr>
            <a:endParaRPr lang="pl-PL" sz="2400">
              <a:latin typeface="Arial Narrow" panose="020B0606020202030204" pitchFamily="34" charset="0"/>
            </a:endParaRPr>
          </a:p>
          <a:p>
            <a:endParaRPr lang="pl-PL" sz="2400">
              <a:latin typeface="Arial Narrow" panose="020B0606020202030204" pitchFamily="34" charset="0"/>
            </a:endParaRPr>
          </a:p>
        </p:txBody>
      </p:sp>
    </p:spTree>
    <p:extLst>
      <p:ext uri="{BB962C8B-B14F-4D97-AF65-F5344CB8AC3E}">
        <p14:creationId xmlns:p14="http://schemas.microsoft.com/office/powerpoint/2010/main" val="2725003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74C1CD9-1091-BE35-CC25-30280339D263}"/>
              </a:ext>
            </a:extLst>
          </p:cNvPr>
          <p:cNvSpPr>
            <a:spLocks noGrp="1"/>
          </p:cNvSpPr>
          <p:nvPr>
            <p:ph type="sldNum" sz="quarter" idx="12"/>
          </p:nvPr>
        </p:nvSpPr>
        <p:spPr/>
        <p:txBody>
          <a:bodyPr/>
          <a:lstStyle/>
          <a:p>
            <a:fld id="{20D4B2D9-DB10-4EB9-B7A6-032A6D4E75AC}" type="slidenum">
              <a:rPr lang="pl-PL" smtClean="0"/>
              <a:pPr/>
              <a:t>3</a:t>
            </a:fld>
            <a:endParaRPr lang="pl-PL" dirty="0"/>
          </a:p>
        </p:txBody>
      </p:sp>
      <p:sp>
        <p:nvSpPr>
          <p:cNvPr id="5" name="Prostokąt 4">
            <a:extLst>
              <a:ext uri="{FF2B5EF4-FFF2-40B4-BE49-F238E27FC236}">
                <a16:creationId xmlns:a16="http://schemas.microsoft.com/office/drawing/2014/main" id="{03DE7B51-4841-1410-5553-A1AE36AA61CA}"/>
              </a:ext>
            </a:extLst>
          </p:cNvPr>
          <p:cNvSpPr/>
          <p:nvPr/>
        </p:nvSpPr>
        <p:spPr>
          <a:xfrm>
            <a:off x="1534886" y="1155919"/>
            <a:ext cx="8915400" cy="3477875"/>
          </a:xfrm>
          <a:prstGeom prst="rect">
            <a:avLst/>
          </a:prstGeom>
        </p:spPr>
        <p:txBody>
          <a:bodyPr wrap="square">
            <a:spAutoFit/>
          </a:bodyPr>
          <a:lstStyle/>
          <a:p>
            <a:r>
              <a:rPr lang="pl-PL" sz="3200" b="1" dirty="0">
                <a:solidFill>
                  <a:srgbClr val="0000FF"/>
                </a:solidFill>
                <a:latin typeface="Arial Narrow" panose="020B0606020202030204" pitchFamily="34" charset="0"/>
                <a:cs typeface="Calibri" panose="020F0502020204030204" pitchFamily="34" charset="0"/>
              </a:rPr>
              <a:t>Introduction to </a:t>
            </a:r>
          </a:p>
          <a:p>
            <a:r>
              <a:rPr lang="pl-PL" sz="3600" b="1" dirty="0">
                <a:solidFill>
                  <a:srgbClr val="0000FF"/>
                </a:solidFill>
                <a:latin typeface="Arial Narrow" panose="020B0606020202030204" pitchFamily="34" charset="0"/>
                <a:cs typeface="Calibri" panose="020F0502020204030204" pitchFamily="34" charset="0"/>
              </a:rPr>
              <a:t>Artificial Intelligence (AI)</a:t>
            </a:r>
            <a:br>
              <a:rPr lang="pl-PL" sz="3600" b="1" dirty="0">
                <a:solidFill>
                  <a:srgbClr val="0000FF"/>
                </a:solidFill>
                <a:latin typeface="Arial Narrow" panose="020B0606020202030204" pitchFamily="34" charset="0"/>
                <a:cs typeface="Calibri" panose="020F0502020204030204" pitchFamily="34" charset="0"/>
              </a:rPr>
            </a:br>
            <a:r>
              <a:rPr lang="pl-PL" sz="3200" b="1" dirty="0">
                <a:solidFill>
                  <a:srgbClr val="0000FF"/>
                </a:solidFill>
                <a:latin typeface="Arial Narrow" panose="020B0606020202030204" pitchFamily="34" charset="0"/>
                <a:cs typeface="Calibri" panose="020F0502020204030204" pitchFamily="34" charset="0"/>
              </a:rPr>
              <a:t>and </a:t>
            </a:r>
            <a:br>
              <a:rPr lang="pl-PL" sz="3200" b="1" dirty="0">
                <a:solidFill>
                  <a:srgbClr val="0000FF"/>
                </a:solidFill>
                <a:latin typeface="Arial Narrow" panose="020B0606020202030204" pitchFamily="34" charset="0"/>
                <a:cs typeface="Calibri" panose="020F0502020204030204" pitchFamily="34" charset="0"/>
              </a:rPr>
            </a:br>
            <a:r>
              <a:rPr lang="pl-PL" sz="3600" b="1" dirty="0">
                <a:solidFill>
                  <a:srgbClr val="0000FF"/>
                </a:solidFill>
                <a:latin typeface="Arial Narrow" panose="020B0606020202030204" pitchFamily="34" charset="0"/>
                <a:cs typeface="Calibri" panose="020F0502020204030204" pitchFamily="34" charset="0"/>
              </a:rPr>
              <a:t>Machine Learning (ML)</a:t>
            </a:r>
            <a:endParaRPr lang="pl-PL" sz="2800" dirty="0">
              <a:solidFill>
                <a:srgbClr val="0000FF"/>
              </a:solidFill>
              <a:latin typeface="Arial Narrow" panose="020B0606020202030204" pitchFamily="34" charset="0"/>
              <a:cs typeface="Calibri" panose="020F0502020204030204" pitchFamily="34" charset="0"/>
            </a:endParaRPr>
          </a:p>
          <a:p>
            <a:endParaRPr lang="pl-PL" sz="2800" dirty="0">
              <a:latin typeface="Arial Narrow" panose="020B0606020202030204" pitchFamily="34" charset="0"/>
              <a:cs typeface="Calibri" panose="020F0502020204030204" pitchFamily="34" charset="0"/>
            </a:endParaRPr>
          </a:p>
          <a:p>
            <a:endParaRPr lang="pl-PL" sz="2800" b="1" dirty="0">
              <a:solidFill>
                <a:srgbClr val="0000FF"/>
              </a:solidFill>
              <a:latin typeface="Arial Narrow" panose="020B0606020202030204" pitchFamily="34" charset="0"/>
              <a:cs typeface="Calibri" panose="020F0502020204030204" pitchFamily="34" charset="0"/>
            </a:endParaRPr>
          </a:p>
          <a:p>
            <a:endParaRPr lang="pl-PL" sz="2800" dirty="0">
              <a:solidFill>
                <a:srgbClr val="0000FF"/>
              </a:solidFill>
              <a:latin typeface="Arial Narrow" panose="020B0606020202030204" pitchFamily="34" charset="0"/>
              <a:cs typeface="Calibri" panose="020F0502020204030204" pitchFamily="34" charset="0"/>
            </a:endParaRPr>
          </a:p>
        </p:txBody>
      </p:sp>
    </p:spTree>
    <p:extLst>
      <p:ext uri="{BB962C8B-B14F-4D97-AF65-F5344CB8AC3E}">
        <p14:creationId xmlns:p14="http://schemas.microsoft.com/office/powerpoint/2010/main" val="10334500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493F74D-57BE-4BBC-8BBF-47263522FB7D}"/>
              </a:ext>
            </a:extLst>
          </p:cNvPr>
          <p:cNvSpPr>
            <a:spLocks noGrp="1"/>
          </p:cNvSpPr>
          <p:nvPr>
            <p:ph type="sldNum" sz="quarter" idx="12"/>
          </p:nvPr>
        </p:nvSpPr>
        <p:spPr/>
        <p:txBody>
          <a:bodyPr/>
          <a:lstStyle/>
          <a:p>
            <a:fld id="{20D4B2D9-DB10-4EB9-B7A6-032A6D4E75AC}" type="slidenum">
              <a:rPr lang="pl-PL" smtClean="0"/>
              <a:pPr/>
              <a:t>4</a:t>
            </a:fld>
            <a:endParaRPr lang="pl-PL" dirty="0"/>
          </a:p>
        </p:txBody>
      </p:sp>
      <p:sp>
        <p:nvSpPr>
          <p:cNvPr id="5" name="TextBox 4">
            <a:extLst>
              <a:ext uri="{FF2B5EF4-FFF2-40B4-BE49-F238E27FC236}">
                <a16:creationId xmlns:a16="http://schemas.microsoft.com/office/drawing/2014/main" id="{76373227-ECAB-CAEF-2AA2-BD436A3AAFFE}"/>
              </a:ext>
            </a:extLst>
          </p:cNvPr>
          <p:cNvSpPr txBox="1"/>
          <p:nvPr/>
        </p:nvSpPr>
        <p:spPr>
          <a:xfrm>
            <a:off x="0" y="304800"/>
            <a:ext cx="12192000" cy="4191000"/>
          </a:xfrm>
          <a:prstGeom prst="rect">
            <a:avLst/>
          </a:prstGeom>
          <a:noFill/>
        </p:spPr>
        <p:txBody>
          <a:bodyPr wrap="square" lIns="18000" tIns="18000" rIns="18000" bIns="18000" rtlCol="0">
            <a:noAutofit/>
          </a:bodyPr>
          <a:lstStyle/>
          <a:p>
            <a:pPr algn="l"/>
            <a:r>
              <a:rPr lang="pl-PL" sz="2400" dirty="0">
                <a:latin typeface="Arial Narrow" panose="020B0606020202030204" pitchFamily="34" charset="0"/>
              </a:rPr>
              <a:t>To be </a:t>
            </a:r>
            <a:r>
              <a:rPr lang="pl-PL" sz="2400" b="1" dirty="0">
                <a:latin typeface="Arial Narrow" panose="020B0606020202030204" pitchFamily="34" charset="0"/>
              </a:rPr>
              <a:t>Machine Learning specialist </a:t>
            </a:r>
            <a:r>
              <a:rPr lang="pl-PL" sz="2400" dirty="0">
                <a:latin typeface="Arial Narrow" panose="020B0606020202030204" pitchFamily="34" charset="0"/>
              </a:rPr>
              <a:t>you have to:</a:t>
            </a:r>
          </a:p>
          <a:p>
            <a:pPr marL="342900" indent="-342900" algn="l">
              <a:buFont typeface="Arial" panose="020B0604020202020204" pitchFamily="34" charset="0"/>
              <a:buChar char="•"/>
            </a:pPr>
            <a:r>
              <a:rPr lang="pl-PL" sz="2400" dirty="0">
                <a:latin typeface="Arial Narrow" panose="020B0606020202030204" pitchFamily="34" charset="0"/>
              </a:rPr>
              <a:t>be very good at mathematics, statistics, probability theory and practice</a:t>
            </a:r>
          </a:p>
          <a:p>
            <a:pPr marL="342900" indent="-342900" algn="l">
              <a:buFont typeface="Arial" panose="020B0604020202020204" pitchFamily="34" charset="0"/>
              <a:buChar char="•"/>
            </a:pPr>
            <a:r>
              <a:rPr lang="pl-PL" sz="2400" dirty="0">
                <a:latin typeface="Arial Narrow" panose="020B0606020202030204" pitchFamily="34" charset="0"/>
              </a:rPr>
              <a:t>be quite good at programming</a:t>
            </a:r>
          </a:p>
          <a:p>
            <a:pPr marL="342900" indent="-342900" algn="l">
              <a:buFont typeface="Arial" panose="020B0604020202020204" pitchFamily="34" charset="0"/>
              <a:buChar char="•"/>
            </a:pPr>
            <a:r>
              <a:rPr lang="pl-PL" sz="2400" dirty="0">
                <a:latin typeface="Arial Narrow" panose="020B0606020202030204" pitchFamily="34" charset="0"/>
              </a:rPr>
              <a:t>be able to organize data (cope with different data formats and missing data, be able to select parts of texts)</a:t>
            </a:r>
          </a:p>
          <a:p>
            <a:pPr marL="342900" indent="-342900" algn="l">
              <a:buFont typeface="Arial" panose="020B0604020202020204" pitchFamily="34" charset="0"/>
              <a:buChar char="•"/>
            </a:pPr>
            <a:r>
              <a:rPr lang="pl-PL" sz="2400" dirty="0">
                <a:latin typeface="Arial Narrow" panose="020B0606020202030204" pitchFamily="34" charset="0"/>
              </a:rPr>
              <a:t>be familiar with Exploratory Data Analysis (EDA) and be able to interpret various types of graphs</a:t>
            </a:r>
          </a:p>
          <a:p>
            <a:pPr marL="342900" indent="-342900" algn="l">
              <a:buFont typeface="Arial" panose="020B0604020202020204" pitchFamily="34" charset="0"/>
              <a:buChar char="•"/>
            </a:pPr>
            <a:r>
              <a:rPr lang="pl-PL" sz="2400" dirty="0">
                <a:latin typeface="Arial Narrow" panose="020B0606020202030204" pitchFamily="34" charset="0"/>
              </a:rPr>
              <a:t>be very good at logical thinking</a:t>
            </a:r>
          </a:p>
          <a:p>
            <a:pPr marL="342900" indent="-342900" algn="l">
              <a:buFont typeface="Arial" panose="020B0604020202020204" pitchFamily="34" charset="0"/>
              <a:buChar char="•"/>
            </a:pPr>
            <a:r>
              <a:rPr lang="pl-PL" sz="2400" dirty="0">
                <a:latin typeface="Arial Narrow" panose="020B0606020202030204" pitchFamily="34" charset="0"/>
              </a:rPr>
              <a:t>have time and strong motivation to practice</a:t>
            </a:r>
          </a:p>
          <a:p>
            <a:pPr marL="342900" indent="-342900" algn="l">
              <a:buFont typeface="Arial" panose="020B0604020202020204" pitchFamily="34" charset="0"/>
              <a:buChar char="•"/>
            </a:pPr>
            <a:r>
              <a:rPr lang="pl-PL" sz="2400" dirty="0">
                <a:latin typeface="Arial Narrow" panose="020B0606020202030204" pitchFamily="34" charset="0"/>
              </a:rPr>
              <a:t>be able to keep going despite setbacks</a:t>
            </a:r>
          </a:p>
          <a:p>
            <a:pPr marL="342900" indent="-342900" algn="l">
              <a:buFont typeface="Arial" panose="020B0604020202020204" pitchFamily="34" charset="0"/>
              <a:buChar char="•"/>
            </a:pPr>
            <a:r>
              <a:rPr lang="pl-PL" sz="2400" dirty="0">
                <a:latin typeface="Arial Narrow" panose="020B0606020202030204" pitchFamily="34" charset="0"/>
              </a:rPr>
              <a:t>know ML methods and be able to put them into practice</a:t>
            </a:r>
          </a:p>
        </p:txBody>
      </p:sp>
      <p:sp>
        <p:nvSpPr>
          <p:cNvPr id="6" name="Rectangle 2">
            <a:extLst>
              <a:ext uri="{FF2B5EF4-FFF2-40B4-BE49-F238E27FC236}">
                <a16:creationId xmlns:a16="http://schemas.microsoft.com/office/drawing/2014/main" id="{084099A3-C081-CFB6-FBCB-3E59013E002E}"/>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a:latin typeface="Arial" pitchFamily="34" charset="0"/>
                <a:ea typeface="+mj-lt"/>
                <a:cs typeface="Arial" pitchFamily="34" charset="0"/>
              </a:rPr>
              <a:t>Introduction</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3824591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B92B748-B68A-31C4-9E13-56BB8AD4BACA}"/>
              </a:ext>
            </a:extLst>
          </p:cNvPr>
          <p:cNvSpPr>
            <a:spLocks noGrp="1"/>
          </p:cNvSpPr>
          <p:nvPr>
            <p:ph type="sldNum" sz="quarter" idx="12"/>
          </p:nvPr>
        </p:nvSpPr>
        <p:spPr/>
        <p:txBody>
          <a:bodyPr/>
          <a:lstStyle/>
          <a:p>
            <a:fld id="{20D4B2D9-DB10-4EB9-B7A6-032A6D4E75AC}" type="slidenum">
              <a:rPr lang="pl-PL" smtClean="0"/>
              <a:pPr/>
              <a:t>5</a:t>
            </a:fld>
            <a:endParaRPr lang="pl-PL" dirty="0"/>
          </a:p>
        </p:txBody>
      </p:sp>
      <p:sp>
        <p:nvSpPr>
          <p:cNvPr id="6" name="TextBox 5">
            <a:extLst>
              <a:ext uri="{FF2B5EF4-FFF2-40B4-BE49-F238E27FC236}">
                <a16:creationId xmlns:a16="http://schemas.microsoft.com/office/drawing/2014/main" id="{A9A8491D-A734-C609-C757-30F2D9968F86}"/>
              </a:ext>
            </a:extLst>
          </p:cNvPr>
          <p:cNvSpPr txBox="1"/>
          <p:nvPr/>
        </p:nvSpPr>
        <p:spPr>
          <a:xfrm>
            <a:off x="0" y="304800"/>
            <a:ext cx="12192000" cy="4191000"/>
          </a:xfrm>
          <a:prstGeom prst="rect">
            <a:avLst/>
          </a:prstGeom>
          <a:noFill/>
        </p:spPr>
        <p:txBody>
          <a:bodyPr wrap="square" lIns="18000" tIns="18000" rIns="18000" bIns="18000" rtlCol="0">
            <a:noAutofit/>
          </a:bodyPr>
          <a:lstStyle/>
          <a:p>
            <a:r>
              <a:rPr lang="pl-PL" sz="2400" dirty="0">
                <a:latin typeface="Arial Narrow" panose="020B0606020202030204" pitchFamily="34" charset="0"/>
              </a:rPr>
              <a:t>E</a:t>
            </a:r>
            <a:r>
              <a:rPr lang="en-US" sz="2400" dirty="0" err="1">
                <a:latin typeface="Arial Narrow" panose="020B0606020202030204" pitchFamily="34" charset="0"/>
              </a:rPr>
              <a:t>xpected</a:t>
            </a:r>
            <a:r>
              <a:rPr lang="en-US" sz="2400" dirty="0">
                <a:latin typeface="Arial Narrow" panose="020B0606020202030204" pitchFamily="34" charset="0"/>
              </a:rPr>
              <a:t> </a:t>
            </a:r>
            <a:r>
              <a:rPr lang="en-US" sz="2400" b="1" dirty="0">
                <a:latin typeface="Arial Narrow" panose="020B0606020202030204" pitchFamily="34" charset="0"/>
              </a:rPr>
              <a:t>benefits </a:t>
            </a:r>
            <a:r>
              <a:rPr lang="en-US" sz="2400" dirty="0">
                <a:latin typeface="Arial Narrow" panose="020B0606020202030204" pitchFamily="34" charset="0"/>
              </a:rPr>
              <a:t>upon completion of the course</a:t>
            </a:r>
            <a:r>
              <a:rPr lang="pl-PL" sz="2400" dirty="0">
                <a:latin typeface="Arial Narrow" panose="020B0606020202030204" pitchFamily="34" charset="0"/>
              </a:rPr>
              <a:t>:</a:t>
            </a:r>
          </a:p>
          <a:p>
            <a:pPr marL="342900" indent="-342900">
              <a:buFont typeface="Arial" panose="020B0604020202020204" pitchFamily="34" charset="0"/>
              <a:buChar char="•"/>
            </a:pPr>
            <a:r>
              <a:rPr lang="en-US" sz="2400" dirty="0">
                <a:latin typeface="Arial Narrow" panose="020B0606020202030204" pitchFamily="34" charset="0"/>
              </a:rPr>
              <a:t>you will be familiar with the key concepts related to ML</a:t>
            </a:r>
            <a:endParaRPr lang="pl-PL" sz="2400" dirty="0">
              <a:latin typeface="Arial Narrow" panose="020B0606020202030204" pitchFamily="34" charset="0"/>
            </a:endParaRPr>
          </a:p>
          <a:p>
            <a:pPr marL="342900" indent="-342900" algn="l">
              <a:buFont typeface="Arial" panose="020B0604020202020204" pitchFamily="34" charset="0"/>
              <a:buChar char="•"/>
            </a:pPr>
            <a:r>
              <a:rPr lang="pl-PL" sz="2400" dirty="0">
                <a:latin typeface="Arial Narrow" panose="020B0606020202030204" pitchFamily="34" charset="0"/>
              </a:rPr>
              <a:t>you will be able to prepare data for analysis</a:t>
            </a:r>
          </a:p>
          <a:p>
            <a:pPr marL="342900" indent="-342900">
              <a:buFont typeface="Arial" panose="020B0604020202020204" pitchFamily="34" charset="0"/>
              <a:buChar char="•"/>
            </a:pPr>
            <a:r>
              <a:rPr lang="en-US" sz="2400" dirty="0">
                <a:latin typeface="Arial Narrow" panose="020B0606020202030204" pitchFamily="34" charset="0"/>
              </a:rPr>
              <a:t>you will be able to choose an </a:t>
            </a:r>
            <a:r>
              <a:rPr lang="pl-PL" sz="2400" dirty="0">
                <a:latin typeface="Arial Narrow" panose="020B0606020202030204" pitchFamily="34" charset="0"/>
              </a:rPr>
              <a:t>ML </a:t>
            </a:r>
            <a:r>
              <a:rPr lang="en-US" sz="2400" dirty="0">
                <a:latin typeface="Arial Narrow" panose="020B0606020202030204" pitchFamily="34" charset="0"/>
              </a:rPr>
              <a:t>algorithm suited to the task</a:t>
            </a:r>
            <a:endParaRPr lang="pl-PL" sz="2400" dirty="0">
              <a:latin typeface="Arial Narrow" panose="020B0606020202030204" pitchFamily="34" charset="0"/>
            </a:endParaRPr>
          </a:p>
          <a:p>
            <a:pPr marL="342900" indent="-342900">
              <a:buFont typeface="Arial" panose="020B0604020202020204" pitchFamily="34" charset="0"/>
              <a:buChar char="•"/>
            </a:pPr>
            <a:r>
              <a:rPr lang="en-US" sz="2400" dirty="0">
                <a:latin typeface="Arial Narrow" panose="020B0606020202030204" pitchFamily="34" charset="0"/>
              </a:rPr>
              <a:t>you will be able to build a machine learning model, train it and verify its accuracy</a:t>
            </a:r>
            <a:endParaRPr lang="pl-PL" sz="2400" dirty="0">
              <a:latin typeface="Arial Narrow" panose="020B0606020202030204" pitchFamily="34" charset="0"/>
            </a:endParaRPr>
          </a:p>
          <a:p>
            <a:pPr marL="342900" indent="-342900">
              <a:buFont typeface="Arial" panose="020B0604020202020204" pitchFamily="34" charset="0"/>
              <a:buChar char="•"/>
            </a:pPr>
            <a:endParaRPr lang="pl-PL" sz="2400" dirty="0">
              <a:latin typeface="Arial Narrow" panose="020B0606020202030204" pitchFamily="34" charset="0"/>
            </a:endParaRPr>
          </a:p>
          <a:p>
            <a:pPr marL="342900" indent="-342900" algn="l">
              <a:buFont typeface="Arial" panose="020B0604020202020204" pitchFamily="34" charset="0"/>
              <a:buChar char="•"/>
            </a:pPr>
            <a:endParaRPr lang="pl-PL" sz="2400" dirty="0">
              <a:latin typeface="Arial Narrow" panose="020B0606020202030204" pitchFamily="34" charset="0"/>
            </a:endParaRPr>
          </a:p>
        </p:txBody>
      </p:sp>
      <p:sp>
        <p:nvSpPr>
          <p:cNvPr id="8" name="Rectangle 2">
            <a:extLst>
              <a:ext uri="{FF2B5EF4-FFF2-40B4-BE49-F238E27FC236}">
                <a16:creationId xmlns:a16="http://schemas.microsoft.com/office/drawing/2014/main" id="{E82773C1-8BBF-DC43-B6F8-B94349C8A66B}"/>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a:latin typeface="Arial" pitchFamily="34" charset="0"/>
                <a:ea typeface="+mj-lt"/>
                <a:cs typeface="Arial" pitchFamily="34" charset="0"/>
              </a:rPr>
              <a:t>Introduction</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2795065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fld id="{83D82602-3ACC-4341-B614-755528165B64}" type="slidenum">
              <a:rPr lang="pl-PL" smtClean="0"/>
              <a:pPr/>
              <a:t>6</a:t>
            </a:fld>
            <a:endParaRPr lang="pl-PL" dirty="0"/>
          </a:p>
        </p:txBody>
      </p:sp>
      <p:sp>
        <p:nvSpPr>
          <p:cNvPr id="6" name="TextBox 5"/>
          <p:cNvSpPr txBox="1"/>
          <p:nvPr/>
        </p:nvSpPr>
        <p:spPr>
          <a:xfrm>
            <a:off x="76200" y="304800"/>
            <a:ext cx="12115800" cy="3962400"/>
          </a:xfrm>
          <a:prstGeom prst="rect">
            <a:avLst/>
          </a:prstGeom>
          <a:noFill/>
        </p:spPr>
        <p:txBody>
          <a:bodyPr wrap="square" lIns="18000" tIns="18000" rIns="18000" bIns="18000" rtlCol="0">
            <a:noAutofit/>
          </a:bodyPr>
          <a:lstStyle/>
          <a:p>
            <a:r>
              <a:rPr lang="en-US" sz="2000" b="1">
                <a:latin typeface="Arial Narrow" panose="020B0606020202030204" pitchFamily="34" charset="0"/>
              </a:rPr>
              <a:t>Artificial Intelligence (AI) </a:t>
            </a:r>
            <a:r>
              <a:rPr lang="en-US" sz="2000">
                <a:latin typeface="Arial Narrow" panose="020B0606020202030204" pitchFamily="34" charset="0"/>
              </a:rPr>
              <a:t>is a branch of Computer Science that focuses on creating machines or software capable of performing tasks that normally require human intelligence.</a:t>
            </a:r>
            <a:endParaRPr lang="pl-PL" sz="2000" dirty="0">
              <a:latin typeface="Arial Narrow" panose="020B0606020202030204" pitchFamily="34" charset="0"/>
            </a:endParaRPr>
          </a:p>
          <a:p>
            <a:endParaRPr lang="pl-PL" sz="2000">
              <a:latin typeface="Arial Narrow" panose="020B0606020202030204" pitchFamily="34" charset="0"/>
            </a:endParaRPr>
          </a:p>
          <a:p>
            <a:r>
              <a:rPr lang="en-US" sz="2000">
                <a:latin typeface="Arial Narrow" panose="020B0606020202030204" pitchFamily="34" charset="0"/>
              </a:rPr>
              <a:t>Artificial Intelligence is about building smart systems that can learn, </a:t>
            </a:r>
            <a:r>
              <a:rPr lang="pl-PL" sz="2000">
                <a:latin typeface="Arial Narrow" panose="020B0606020202030204" pitchFamily="34" charset="0"/>
              </a:rPr>
              <a:t>„</a:t>
            </a:r>
            <a:r>
              <a:rPr lang="en-US" sz="2000">
                <a:latin typeface="Arial Narrow" panose="020B0606020202030204" pitchFamily="34" charset="0"/>
              </a:rPr>
              <a:t>think,</a:t>
            </a:r>
            <a:r>
              <a:rPr lang="pl-PL" sz="2000">
                <a:latin typeface="Arial Narrow" panose="020B0606020202030204" pitchFamily="34" charset="0"/>
              </a:rPr>
              <a:t>”</a:t>
            </a:r>
            <a:r>
              <a:rPr lang="en-US" sz="2000">
                <a:latin typeface="Arial Narrow" panose="020B0606020202030204" pitchFamily="34" charset="0"/>
              </a:rPr>
              <a:t> and act like humans</a:t>
            </a:r>
            <a:r>
              <a:rPr lang="pl-PL" sz="2000">
                <a:latin typeface="Arial Narrow" panose="020B0606020202030204" pitchFamily="34" charset="0"/>
              </a:rPr>
              <a:t>, </a:t>
            </a:r>
          </a:p>
          <a:p>
            <a:r>
              <a:rPr lang="pl-PL" sz="2000">
                <a:latin typeface="Arial Narrow" panose="020B0606020202030204" pitchFamily="34" charset="0"/>
              </a:rPr>
              <a:t>o</a:t>
            </a:r>
            <a:r>
              <a:rPr lang="en-US" sz="2000">
                <a:latin typeface="Arial Narrow" panose="020B0606020202030204" pitchFamily="34" charset="0"/>
              </a:rPr>
              <a:t>r even better in some cases.</a:t>
            </a:r>
            <a:endParaRPr lang="pl-PL" sz="2000">
              <a:latin typeface="Arial Narrow" panose="020B0606020202030204" pitchFamily="34" charset="0"/>
            </a:endParaRPr>
          </a:p>
          <a:p>
            <a:endParaRPr lang="pl-PL" sz="2000" dirty="0">
              <a:latin typeface="Arial Narrow" panose="020B0606020202030204" pitchFamily="34" charset="0"/>
            </a:endParaRPr>
          </a:p>
          <a:p>
            <a:r>
              <a:rPr lang="en-US" sz="2000">
                <a:latin typeface="Arial Narrow" panose="020B0606020202030204" pitchFamily="34" charset="0"/>
              </a:rPr>
              <a:t>AI systems </a:t>
            </a:r>
            <a:r>
              <a:rPr lang="pl-PL" sz="2000">
                <a:latin typeface="Arial Narrow" panose="020B0606020202030204" pitchFamily="34" charset="0"/>
              </a:rPr>
              <a:t>can perform various tasks, including</a:t>
            </a:r>
            <a:r>
              <a:rPr lang="en-US" sz="2000">
                <a:latin typeface="Arial Narrow" panose="020B0606020202030204" pitchFamily="34" charset="0"/>
              </a:rPr>
              <a:t>:</a:t>
            </a:r>
            <a:endParaRPr lang="pl-PL" sz="2000">
              <a:latin typeface="Arial Narrow" panose="020B0606020202030204" pitchFamily="34" charset="0"/>
            </a:endParaRPr>
          </a:p>
          <a:p>
            <a:pPr marL="263525" indent="-263525">
              <a:buFont typeface="Arial" panose="020B0604020202020204" pitchFamily="34" charset="0"/>
              <a:buChar char="•"/>
            </a:pPr>
            <a:r>
              <a:rPr lang="pl-PL" sz="2000">
                <a:latin typeface="Arial Narrow" panose="020B0606020202030204" pitchFamily="34" charset="0"/>
              </a:rPr>
              <a:t>l</a:t>
            </a:r>
            <a:r>
              <a:rPr lang="en-US" sz="2000">
                <a:latin typeface="Arial Narrow" panose="020B0606020202030204" pitchFamily="34" charset="0"/>
              </a:rPr>
              <a:t>earning (from data and experience)</a:t>
            </a:r>
            <a:endParaRPr lang="pl-PL" sz="2000">
              <a:latin typeface="Arial Narrow" panose="020B0606020202030204" pitchFamily="34" charset="0"/>
            </a:endParaRPr>
          </a:p>
          <a:p>
            <a:pPr marL="263525" indent="-263525">
              <a:buFont typeface="Arial" panose="020B0604020202020204" pitchFamily="34" charset="0"/>
              <a:buChar char="•"/>
            </a:pPr>
            <a:r>
              <a:rPr lang="pl-PL" sz="2000">
                <a:latin typeface="Arial Narrow" panose="020B0606020202030204" pitchFamily="34" charset="0"/>
              </a:rPr>
              <a:t>r</a:t>
            </a:r>
            <a:r>
              <a:rPr lang="en-US" sz="2000">
                <a:latin typeface="Arial Narrow" panose="020B0606020202030204" pitchFamily="34" charset="0"/>
              </a:rPr>
              <a:t>easoning (making decisions</a:t>
            </a:r>
            <a:r>
              <a:rPr lang="pl-PL" sz="2000">
                <a:latin typeface="Arial Narrow" panose="020B0606020202030204" pitchFamily="34" charset="0"/>
              </a:rPr>
              <a:t>, </a:t>
            </a:r>
            <a:r>
              <a:rPr lang="en-US" sz="2000">
                <a:latin typeface="Arial Narrow" panose="020B0606020202030204" pitchFamily="34" charset="0"/>
              </a:rPr>
              <a:t>solving problems</a:t>
            </a:r>
            <a:r>
              <a:rPr lang="pl-PL" sz="2000">
                <a:latin typeface="Arial Narrow" panose="020B0606020202030204" pitchFamily="34" charset="0"/>
              </a:rPr>
              <a:t>, planning</a:t>
            </a:r>
            <a:r>
              <a:rPr lang="en-US" sz="2000">
                <a:latin typeface="Arial Narrow" panose="020B0606020202030204" pitchFamily="34" charset="0"/>
              </a:rPr>
              <a:t>)</a:t>
            </a:r>
            <a:endParaRPr lang="pl-PL" sz="2000">
              <a:latin typeface="Arial Narrow" panose="020B0606020202030204" pitchFamily="34" charset="0"/>
            </a:endParaRPr>
          </a:p>
          <a:p>
            <a:pPr marL="263525" indent="-263525">
              <a:buFont typeface="Arial" panose="020B0604020202020204" pitchFamily="34" charset="0"/>
              <a:buChar char="•"/>
            </a:pPr>
            <a:r>
              <a:rPr lang="pl-PL" sz="2000">
                <a:latin typeface="Arial Narrow" panose="020B0606020202030204" pitchFamily="34" charset="0"/>
              </a:rPr>
              <a:t>p</a:t>
            </a:r>
            <a:r>
              <a:rPr lang="en-US" sz="2000">
                <a:latin typeface="Arial Narrow" panose="020B0606020202030204" pitchFamily="34" charset="0"/>
              </a:rPr>
              <a:t>erception (understanding images, speech, or text)</a:t>
            </a:r>
            <a:endParaRPr lang="pl-PL" sz="2000">
              <a:latin typeface="Arial Narrow" panose="020B0606020202030204" pitchFamily="34" charset="0"/>
            </a:endParaRPr>
          </a:p>
          <a:p>
            <a:endParaRPr lang="pl-PL" sz="2000">
              <a:latin typeface="Arial Narrow" panose="020B0606020202030204" pitchFamily="34" charset="0"/>
            </a:endParaRPr>
          </a:p>
          <a:p>
            <a:r>
              <a:rPr lang="en-US" sz="2000" b="1">
                <a:latin typeface="Arial Narrow" panose="020B0606020202030204" pitchFamily="34" charset="0"/>
              </a:rPr>
              <a:t>These capabilities are often built using techniques from Machine Learning and Deep Learning.</a:t>
            </a:r>
            <a:endParaRPr lang="pl-PL" sz="2000" b="1">
              <a:latin typeface="Arial Narrow" panose="020B0606020202030204" pitchFamily="34" charset="0"/>
            </a:endParaRPr>
          </a:p>
          <a:p>
            <a:endParaRPr lang="pl-PL" sz="2000" b="1">
              <a:latin typeface="Arial Narrow" panose="020B0606020202030204" pitchFamily="34" charset="0"/>
            </a:endParaRPr>
          </a:p>
          <a:p>
            <a:endParaRPr lang="pl-PL" sz="2000" b="1">
              <a:latin typeface="Arial Narrow" panose="020B0606020202030204" pitchFamily="34" charset="0"/>
            </a:endParaRPr>
          </a:p>
        </p:txBody>
      </p:sp>
      <p:sp>
        <p:nvSpPr>
          <p:cNvPr id="16"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a:latin typeface="Arial" pitchFamily="34" charset="0"/>
                <a:ea typeface="+mj-lt"/>
                <a:cs typeface="Arial" pitchFamily="34" charset="0"/>
              </a:rPr>
              <a:t>Introduction</a:t>
            </a:r>
            <a:endParaRPr lang="en-GB" sz="4400" dirty="0">
              <a:latin typeface="Arial" pitchFamily="34" charset="0"/>
              <a:ea typeface="+mj-lt"/>
              <a:cs typeface="Arial"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A8079C6-BB95-390F-ED38-FA319B06C9F4}"/>
              </a:ext>
            </a:extLst>
          </p:cNvPr>
          <p:cNvSpPr>
            <a:spLocks noGrp="1"/>
          </p:cNvSpPr>
          <p:nvPr>
            <p:ph type="sldNum" sz="quarter" idx="12"/>
          </p:nvPr>
        </p:nvSpPr>
        <p:spPr/>
        <p:txBody>
          <a:bodyPr/>
          <a:lstStyle/>
          <a:p>
            <a:fld id="{20D4B2D9-DB10-4EB9-B7A6-032A6D4E75AC}" type="slidenum">
              <a:rPr lang="pl-PL" smtClean="0"/>
              <a:pPr/>
              <a:t>7</a:t>
            </a:fld>
            <a:endParaRPr lang="pl-PL" dirty="0"/>
          </a:p>
        </p:txBody>
      </p:sp>
      <p:sp>
        <p:nvSpPr>
          <p:cNvPr id="5" name="TextBox 4">
            <a:extLst>
              <a:ext uri="{FF2B5EF4-FFF2-40B4-BE49-F238E27FC236}">
                <a16:creationId xmlns:a16="http://schemas.microsoft.com/office/drawing/2014/main" id="{CED8F797-2F09-05C0-D42F-F8ED5C07D92E}"/>
              </a:ext>
            </a:extLst>
          </p:cNvPr>
          <p:cNvSpPr txBox="1"/>
          <p:nvPr/>
        </p:nvSpPr>
        <p:spPr>
          <a:xfrm>
            <a:off x="0" y="304800"/>
            <a:ext cx="11582400" cy="838200"/>
          </a:xfrm>
          <a:prstGeom prst="rect">
            <a:avLst/>
          </a:prstGeom>
          <a:noFill/>
        </p:spPr>
        <p:txBody>
          <a:bodyPr wrap="square" lIns="18000" tIns="18000" rIns="18000" bIns="18000" rtlCol="0">
            <a:noAutofit/>
          </a:bodyPr>
          <a:lstStyle/>
          <a:p>
            <a:r>
              <a:rPr lang="en-US" sz="2000">
                <a:latin typeface="Arial Narrow" panose="020B0606020202030204" pitchFamily="34" charset="0"/>
              </a:rPr>
              <a:t>Artificial </a:t>
            </a:r>
            <a:r>
              <a:rPr lang="pl-PL" sz="2000">
                <a:latin typeface="Arial Narrow" panose="020B0606020202030204" pitchFamily="34" charset="0"/>
              </a:rPr>
              <a:t>I</a:t>
            </a:r>
            <a:r>
              <a:rPr lang="en-US" sz="2000">
                <a:latin typeface="Arial Narrow" panose="020B0606020202030204" pitchFamily="34" charset="0"/>
              </a:rPr>
              <a:t>ntelligence is an umbrella term for all subsets of machine learning. </a:t>
            </a:r>
            <a:br>
              <a:rPr lang="pl-PL" sz="2000">
                <a:latin typeface="Arial Narrow" panose="020B0606020202030204" pitchFamily="34" charset="0"/>
              </a:rPr>
            </a:br>
            <a:r>
              <a:rPr lang="en-US" sz="2000">
                <a:latin typeface="Arial Narrow" panose="020B0606020202030204" pitchFamily="34" charset="0"/>
              </a:rPr>
              <a:t>The first subset is machine learning itself, and the next is deep learning, which is implemented using neural networks.</a:t>
            </a:r>
            <a:endParaRPr lang="pl-PL" sz="2000">
              <a:latin typeface="Arial Narrow" panose="020B0606020202030204" pitchFamily="34" charset="0"/>
            </a:endParaRPr>
          </a:p>
          <a:p>
            <a:endParaRPr lang="pl-PL" sz="2000">
              <a:latin typeface="Arial Narrow" panose="020B0606020202030204" pitchFamily="34" charset="0"/>
            </a:endParaRPr>
          </a:p>
        </p:txBody>
      </p:sp>
      <p:pic>
        <p:nvPicPr>
          <p:cNvPr id="7" name="Obraz 6">
            <a:extLst>
              <a:ext uri="{FF2B5EF4-FFF2-40B4-BE49-F238E27FC236}">
                <a16:creationId xmlns:a16="http://schemas.microsoft.com/office/drawing/2014/main" id="{833F0A2C-8BAC-360F-9529-80210C18B070}"/>
              </a:ext>
            </a:extLst>
          </p:cNvPr>
          <p:cNvPicPr>
            <a:picLocks noChangeAspect="1"/>
          </p:cNvPicPr>
          <p:nvPr/>
        </p:nvPicPr>
        <p:blipFill>
          <a:blip r:embed="rId2"/>
          <a:stretch>
            <a:fillRect/>
          </a:stretch>
        </p:blipFill>
        <p:spPr>
          <a:xfrm>
            <a:off x="3352801" y="1143000"/>
            <a:ext cx="5191538" cy="5244068"/>
          </a:xfrm>
          <a:prstGeom prst="rect">
            <a:avLst/>
          </a:prstGeom>
        </p:spPr>
      </p:pic>
      <p:sp>
        <p:nvSpPr>
          <p:cNvPr id="3" name="Rectangle 2">
            <a:extLst>
              <a:ext uri="{FF2B5EF4-FFF2-40B4-BE49-F238E27FC236}">
                <a16:creationId xmlns:a16="http://schemas.microsoft.com/office/drawing/2014/main" id="{FAD43B6F-9C9B-7209-B9A0-D8C41E415F37}"/>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a:latin typeface="Arial" pitchFamily="34" charset="0"/>
                <a:ea typeface="+mj-lt"/>
                <a:cs typeface="Arial" pitchFamily="34" charset="0"/>
              </a:rPr>
              <a:t>Introduction</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29435409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B5CF9B3-CB0D-8362-9813-93B1E6FA116C}"/>
              </a:ext>
            </a:extLst>
          </p:cNvPr>
          <p:cNvSpPr>
            <a:spLocks noGrp="1"/>
          </p:cNvSpPr>
          <p:nvPr>
            <p:ph type="sldNum" sz="quarter" idx="12"/>
          </p:nvPr>
        </p:nvSpPr>
        <p:spPr/>
        <p:txBody>
          <a:bodyPr/>
          <a:lstStyle/>
          <a:p>
            <a:fld id="{20D4B2D9-DB10-4EB9-B7A6-032A6D4E75AC}" type="slidenum">
              <a:rPr lang="pl-PL" smtClean="0"/>
              <a:pPr/>
              <a:t>8</a:t>
            </a:fld>
            <a:endParaRPr lang="pl-PL" dirty="0"/>
          </a:p>
        </p:txBody>
      </p:sp>
      <p:sp>
        <p:nvSpPr>
          <p:cNvPr id="5" name="TextBox 4">
            <a:extLst>
              <a:ext uri="{FF2B5EF4-FFF2-40B4-BE49-F238E27FC236}">
                <a16:creationId xmlns:a16="http://schemas.microsoft.com/office/drawing/2014/main" id="{FE560808-9921-A95F-923F-F6563A67227E}"/>
              </a:ext>
            </a:extLst>
          </p:cNvPr>
          <p:cNvSpPr txBox="1"/>
          <p:nvPr/>
        </p:nvSpPr>
        <p:spPr>
          <a:xfrm>
            <a:off x="0" y="304800"/>
            <a:ext cx="12192000" cy="4191000"/>
          </a:xfrm>
          <a:prstGeom prst="rect">
            <a:avLst/>
          </a:prstGeom>
          <a:noFill/>
        </p:spPr>
        <p:txBody>
          <a:bodyPr wrap="square" lIns="18000" tIns="18000" rIns="18000" bIns="18000" rtlCol="0">
            <a:noAutofit/>
          </a:bodyPr>
          <a:lstStyle/>
          <a:p>
            <a:pPr algn="l"/>
            <a:r>
              <a:rPr lang="pl-PL" sz="2000" b="1">
                <a:latin typeface="Arial Narrow" panose="020B0606020202030204" pitchFamily="34" charset="0"/>
              </a:rPr>
              <a:t>M</a:t>
            </a:r>
            <a:r>
              <a:rPr lang="en-US" sz="2000" b="1">
                <a:latin typeface="Arial Narrow" panose="020B0606020202030204" pitchFamily="34" charset="0"/>
              </a:rPr>
              <a:t>achine </a:t>
            </a:r>
            <a:r>
              <a:rPr lang="pl-PL" sz="2000">
                <a:latin typeface="Arial Narrow" panose="020B0606020202030204" pitchFamily="34" charset="0"/>
              </a:rPr>
              <a:t>– </a:t>
            </a:r>
            <a:r>
              <a:rPr lang="en-US" sz="2000">
                <a:latin typeface="Arial Narrow" panose="020B0606020202030204" pitchFamily="34" charset="0"/>
              </a:rPr>
              <a:t>a mechanically, electrically, or electronically</a:t>
            </a:r>
            <a:r>
              <a:rPr lang="pl-PL" sz="2000">
                <a:latin typeface="Arial Narrow" panose="020B0606020202030204" pitchFamily="34" charset="0"/>
              </a:rPr>
              <a:t> </a:t>
            </a:r>
            <a:r>
              <a:rPr lang="en-US" sz="2000">
                <a:latin typeface="Arial Narrow" panose="020B0606020202030204" pitchFamily="34" charset="0"/>
              </a:rPr>
              <a:t>operated device for performing a task.</a:t>
            </a:r>
          </a:p>
          <a:p>
            <a:pPr algn="l"/>
            <a:r>
              <a:rPr lang="pl-PL" sz="2000" b="1">
                <a:latin typeface="Arial Narrow" panose="020B0606020202030204" pitchFamily="34" charset="0"/>
              </a:rPr>
              <a:t>L</a:t>
            </a:r>
            <a:r>
              <a:rPr lang="en-US" sz="2000" b="1">
                <a:latin typeface="Arial Narrow" panose="020B0606020202030204" pitchFamily="34" charset="0"/>
              </a:rPr>
              <a:t>earning </a:t>
            </a:r>
            <a:r>
              <a:rPr lang="pl-PL" sz="2000">
                <a:latin typeface="Arial Narrow" panose="020B0606020202030204" pitchFamily="34" charset="0"/>
              </a:rPr>
              <a:t>– </a:t>
            </a:r>
            <a:r>
              <a:rPr lang="en-US" sz="2000">
                <a:latin typeface="Arial Narrow" panose="020B0606020202030204" pitchFamily="34" charset="0"/>
              </a:rPr>
              <a:t>the activity or process of gaining knowledge or skill</a:t>
            </a:r>
            <a:r>
              <a:rPr lang="pl-PL" sz="2000">
                <a:latin typeface="Arial Narrow" panose="020B0606020202030204" pitchFamily="34" charset="0"/>
              </a:rPr>
              <a:t> </a:t>
            </a:r>
            <a:r>
              <a:rPr lang="en-US" sz="2000">
                <a:latin typeface="Arial Narrow" panose="020B0606020202030204" pitchFamily="34" charset="0"/>
              </a:rPr>
              <a:t>by studying, practicing, being taught, or experiencing something.</a:t>
            </a:r>
            <a:endParaRPr lang="pl-PL" sz="2000">
              <a:latin typeface="Arial Narrow" panose="020B0606020202030204" pitchFamily="34" charset="0"/>
            </a:endParaRPr>
          </a:p>
          <a:p>
            <a:pPr algn="l"/>
            <a:endParaRPr lang="pl-PL" sz="2000" b="1">
              <a:latin typeface="Arial Narrow" panose="020B0606020202030204" pitchFamily="34" charset="0"/>
            </a:endParaRPr>
          </a:p>
          <a:p>
            <a:pPr algn="l"/>
            <a:r>
              <a:rPr lang="en-US" sz="2000" b="1">
                <a:latin typeface="Arial Narrow" panose="020B0606020202030204" pitchFamily="34" charset="0"/>
              </a:rPr>
              <a:t>Machine Learning (ML)</a:t>
            </a:r>
            <a:r>
              <a:rPr lang="en-US" sz="2000">
                <a:latin typeface="Arial Narrow" panose="020B0606020202030204" pitchFamily="34" charset="0"/>
              </a:rPr>
              <a:t> is a type of artificial intelligence that allows computers to learn from data and improve their performance without being explicitly programmed.</a:t>
            </a:r>
            <a:endParaRPr lang="pl-PL" sz="2000">
              <a:latin typeface="Arial Narrow" panose="020B0606020202030204" pitchFamily="34" charset="0"/>
            </a:endParaRPr>
          </a:p>
          <a:p>
            <a:pPr algn="l"/>
            <a:endParaRPr lang="pl-PL" sz="2000">
              <a:latin typeface="Arial Narrow" panose="020B0606020202030204" pitchFamily="34" charset="0"/>
            </a:endParaRPr>
          </a:p>
          <a:p>
            <a:pPr algn="l"/>
            <a:r>
              <a:rPr lang="en-US" sz="2000">
                <a:latin typeface="Arial Narrow" panose="020B0606020202030204" pitchFamily="34" charset="0"/>
              </a:rPr>
              <a:t>Instead of writing rules manually, you give the computer data, and </a:t>
            </a:r>
            <a:r>
              <a:rPr lang="en-US" sz="2000" b="1">
                <a:latin typeface="Arial Narrow" panose="020B0606020202030204" pitchFamily="34" charset="0"/>
              </a:rPr>
              <a:t>it finds patterns and makes predictions or decisions on its own</a:t>
            </a:r>
            <a:r>
              <a:rPr lang="en-US" sz="2000">
                <a:latin typeface="Arial Narrow" panose="020B0606020202030204" pitchFamily="34" charset="0"/>
              </a:rPr>
              <a:t>.</a:t>
            </a:r>
            <a:endParaRPr lang="pl-PL" sz="2000">
              <a:latin typeface="Arial Narrow" panose="020B0606020202030204" pitchFamily="34" charset="0"/>
            </a:endParaRPr>
          </a:p>
          <a:p>
            <a:pPr algn="l"/>
            <a:endParaRPr lang="pl-PL" sz="2000">
              <a:latin typeface="Arial Narrow" panose="020B0606020202030204" pitchFamily="34" charset="0"/>
            </a:endParaRPr>
          </a:p>
          <a:p>
            <a:pPr algn="l"/>
            <a:r>
              <a:rPr lang="en-US" sz="2000">
                <a:latin typeface="Arial Narrow" panose="020B0606020202030204" pitchFamily="34" charset="0"/>
              </a:rPr>
              <a:t>Machines learn by studying data to detect patterns or by applying known</a:t>
            </a:r>
            <a:r>
              <a:rPr lang="pl-PL" sz="2000">
                <a:latin typeface="Arial Narrow" panose="020B0606020202030204" pitchFamily="34" charset="0"/>
              </a:rPr>
              <a:t> </a:t>
            </a:r>
            <a:r>
              <a:rPr lang="en-US" sz="2000">
                <a:latin typeface="Arial Narrow" panose="020B0606020202030204" pitchFamily="34" charset="0"/>
              </a:rPr>
              <a:t>rules to:</a:t>
            </a:r>
          </a:p>
          <a:p>
            <a:pPr algn="l"/>
            <a:r>
              <a:rPr lang="en-US" sz="2000">
                <a:latin typeface="Arial Narrow" panose="020B0606020202030204" pitchFamily="34" charset="0"/>
              </a:rPr>
              <a:t>• </a:t>
            </a:r>
            <a:r>
              <a:rPr lang="pl-PL" sz="2000" b="1">
                <a:latin typeface="Arial Narrow" panose="020B0606020202030204" pitchFamily="34" charset="0"/>
              </a:rPr>
              <a:t>c</a:t>
            </a:r>
            <a:r>
              <a:rPr lang="en-US" sz="2000" b="1">
                <a:latin typeface="Arial Narrow" panose="020B0606020202030204" pitchFamily="34" charset="0"/>
              </a:rPr>
              <a:t>ategorize</a:t>
            </a:r>
            <a:r>
              <a:rPr lang="en-US" sz="2000">
                <a:latin typeface="Arial Narrow" panose="020B0606020202030204" pitchFamily="34" charset="0"/>
              </a:rPr>
              <a:t> or catalog like people or things</a:t>
            </a:r>
          </a:p>
          <a:p>
            <a:pPr algn="l"/>
            <a:r>
              <a:rPr lang="en-US" sz="2000">
                <a:latin typeface="Arial Narrow" panose="020B0606020202030204" pitchFamily="34" charset="0"/>
              </a:rPr>
              <a:t>• </a:t>
            </a:r>
            <a:r>
              <a:rPr lang="pl-PL" sz="2000" b="1">
                <a:latin typeface="Arial Narrow" panose="020B0606020202030204" pitchFamily="34" charset="0"/>
              </a:rPr>
              <a:t>p</a:t>
            </a:r>
            <a:r>
              <a:rPr lang="en-US" sz="2000" b="1">
                <a:latin typeface="Arial Narrow" panose="020B0606020202030204" pitchFamily="34" charset="0"/>
              </a:rPr>
              <a:t>redict</a:t>
            </a:r>
            <a:r>
              <a:rPr lang="en-US" sz="2000">
                <a:latin typeface="Arial Narrow" panose="020B0606020202030204" pitchFamily="34" charset="0"/>
              </a:rPr>
              <a:t> likely outcomes or actions based on identified patterns</a:t>
            </a:r>
          </a:p>
          <a:p>
            <a:pPr algn="l"/>
            <a:r>
              <a:rPr lang="en-US" sz="2000">
                <a:latin typeface="Arial Narrow" panose="020B0606020202030204" pitchFamily="34" charset="0"/>
              </a:rPr>
              <a:t>• </a:t>
            </a:r>
            <a:r>
              <a:rPr lang="pl-PL" sz="2000" b="1">
                <a:latin typeface="Arial Narrow" panose="020B0606020202030204" pitchFamily="34" charset="0"/>
              </a:rPr>
              <a:t>i</a:t>
            </a:r>
            <a:r>
              <a:rPr lang="en-US" sz="2000" b="1">
                <a:latin typeface="Arial Narrow" panose="020B0606020202030204" pitchFamily="34" charset="0"/>
              </a:rPr>
              <a:t>dentify</a:t>
            </a:r>
            <a:r>
              <a:rPr lang="en-US" sz="2000">
                <a:latin typeface="Arial Narrow" panose="020B0606020202030204" pitchFamily="34" charset="0"/>
              </a:rPr>
              <a:t> hitherto unknown patterns and relationships</a:t>
            </a:r>
          </a:p>
          <a:p>
            <a:pPr algn="l"/>
            <a:r>
              <a:rPr lang="en-US" sz="2000">
                <a:latin typeface="Arial Narrow" panose="020B0606020202030204" pitchFamily="34" charset="0"/>
              </a:rPr>
              <a:t>• </a:t>
            </a:r>
            <a:r>
              <a:rPr lang="pl-PL" sz="2000" b="1">
                <a:latin typeface="Arial Narrow" panose="020B0606020202030204" pitchFamily="34" charset="0"/>
              </a:rPr>
              <a:t>d</a:t>
            </a:r>
            <a:r>
              <a:rPr lang="en-US" sz="2000" b="1">
                <a:latin typeface="Arial Narrow" panose="020B0606020202030204" pitchFamily="34" charset="0"/>
              </a:rPr>
              <a:t>etect</a:t>
            </a:r>
            <a:r>
              <a:rPr lang="en-US" sz="2000">
                <a:latin typeface="Arial Narrow" panose="020B0606020202030204" pitchFamily="34" charset="0"/>
              </a:rPr>
              <a:t> anomalous or unexpected behaviors</a:t>
            </a:r>
            <a:endParaRPr lang="pl-PL" sz="2000">
              <a:latin typeface="Arial Narrow" panose="020B0606020202030204" pitchFamily="34" charset="0"/>
            </a:endParaRPr>
          </a:p>
          <a:p>
            <a:pPr algn="l"/>
            <a:endParaRPr lang="pl-PL" sz="2000">
              <a:latin typeface="Aptos Narrow" panose="020B0004020202020204" pitchFamily="34" charset="0"/>
            </a:endParaRPr>
          </a:p>
          <a:p>
            <a:r>
              <a:rPr lang="en-US" sz="2000" b="1">
                <a:latin typeface="Arial Narrow" panose="020B0606020202030204" pitchFamily="34" charset="0"/>
              </a:rPr>
              <a:t>Example:</a:t>
            </a:r>
            <a:endParaRPr lang="pl-PL" sz="2000" b="1">
              <a:latin typeface="Arial Narrow" panose="020B0606020202030204" pitchFamily="34" charset="0"/>
            </a:endParaRPr>
          </a:p>
          <a:p>
            <a:r>
              <a:rPr lang="en-US" sz="2000">
                <a:latin typeface="Arial Narrow" panose="020B0606020202030204" pitchFamily="34" charset="0"/>
              </a:rPr>
              <a:t>If you show a system many emails labeled “spam” or “not spam,” it learns how to recognize spam automatically.</a:t>
            </a:r>
            <a:endParaRPr lang="pl-PL" sz="2000">
              <a:latin typeface="Aptos Narrow" panose="020B0004020202020204" pitchFamily="34" charset="0"/>
            </a:endParaRPr>
          </a:p>
        </p:txBody>
      </p:sp>
      <p:sp>
        <p:nvSpPr>
          <p:cNvPr id="3" name="Rectangle 2">
            <a:extLst>
              <a:ext uri="{FF2B5EF4-FFF2-40B4-BE49-F238E27FC236}">
                <a16:creationId xmlns:a16="http://schemas.microsoft.com/office/drawing/2014/main" id="{0AD4B8DD-DA02-F484-3104-8C6DB627BBB1}"/>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a:latin typeface="Arial" pitchFamily="34" charset="0"/>
                <a:ea typeface="+mj-lt"/>
                <a:cs typeface="Arial" pitchFamily="34" charset="0"/>
              </a:rPr>
              <a:t>Introduction</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1692265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7" end="7"/>
                                            </p:txEl>
                                          </p:spTgt>
                                        </p:tgtEl>
                                        <p:attrNameLst>
                                          <p:attrName>style.visibility</p:attrName>
                                        </p:attrNameLst>
                                      </p:cBhvr>
                                      <p:to>
                                        <p:strVal val="visible"/>
                                      </p:to>
                                    </p:set>
                                    <p:anim calcmode="lin" valueType="num">
                                      <p:cBhvr additive="base">
                                        <p:cTn id="7"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8" end="8"/>
                                            </p:txEl>
                                          </p:spTgt>
                                        </p:tgtEl>
                                        <p:attrNameLst>
                                          <p:attrName>style.visibility</p:attrName>
                                        </p:attrNameLst>
                                      </p:cBhvr>
                                      <p:to>
                                        <p:strVal val="visible"/>
                                      </p:to>
                                    </p:set>
                                    <p:anim calcmode="lin" valueType="num">
                                      <p:cBhvr additive="base">
                                        <p:cTn id="11"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8" end="8"/>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xEl>
                                              <p:pRg st="9" end="9"/>
                                            </p:txEl>
                                          </p:spTgt>
                                        </p:tgtEl>
                                        <p:attrNameLst>
                                          <p:attrName>style.visibility</p:attrName>
                                        </p:attrNameLst>
                                      </p:cBhvr>
                                      <p:to>
                                        <p:strVal val="visible"/>
                                      </p:to>
                                    </p:set>
                                    <p:anim calcmode="lin" valueType="num">
                                      <p:cBhvr additive="base">
                                        <p:cTn id="15"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9" end="9"/>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
                                            <p:txEl>
                                              <p:pRg st="10" end="10"/>
                                            </p:txEl>
                                          </p:spTgt>
                                        </p:tgtEl>
                                        <p:attrNameLst>
                                          <p:attrName>style.visibility</p:attrName>
                                        </p:attrNameLst>
                                      </p:cBhvr>
                                      <p:to>
                                        <p:strVal val="visible"/>
                                      </p:to>
                                    </p:set>
                                    <p:anim calcmode="lin" valueType="num">
                                      <p:cBhvr additive="base">
                                        <p:cTn id="19"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10" end="10"/>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
                                            <p:txEl>
                                              <p:pRg st="11" end="11"/>
                                            </p:txEl>
                                          </p:spTgt>
                                        </p:tgtEl>
                                        <p:attrNameLst>
                                          <p:attrName>style.visibility</p:attrName>
                                        </p:attrNameLst>
                                      </p:cBhvr>
                                      <p:to>
                                        <p:strVal val="visible"/>
                                      </p:to>
                                    </p:set>
                                    <p:anim calcmode="lin" valueType="num">
                                      <p:cBhvr additive="base">
                                        <p:cTn id="23" dur="500" fill="hold"/>
                                        <p:tgtEl>
                                          <p:spTgt spid="5">
                                            <p:txEl>
                                              <p:pRg st="11" end="1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5">
                                            <p:txEl>
                                              <p:pRg st="13" end="13"/>
                                            </p:txEl>
                                          </p:spTgt>
                                        </p:tgtEl>
                                        <p:attrNameLst>
                                          <p:attrName>style.visibility</p:attrName>
                                        </p:attrNameLst>
                                      </p:cBhvr>
                                      <p:to>
                                        <p:strVal val="visible"/>
                                      </p:to>
                                    </p:set>
                                    <p:animEffect transition="in" filter="fade">
                                      <p:cBhvr>
                                        <p:cTn id="29" dur="1000"/>
                                        <p:tgtEl>
                                          <p:spTgt spid="5">
                                            <p:txEl>
                                              <p:pRg st="13" end="13"/>
                                            </p:txEl>
                                          </p:spTgt>
                                        </p:tgtEl>
                                      </p:cBhvr>
                                    </p:animEffect>
                                    <p:anim calcmode="lin" valueType="num">
                                      <p:cBhvr>
                                        <p:cTn id="30" dur="1000" fill="hold"/>
                                        <p:tgtEl>
                                          <p:spTgt spid="5">
                                            <p:txEl>
                                              <p:pRg st="13" end="13"/>
                                            </p:txEl>
                                          </p:spTgt>
                                        </p:tgtEl>
                                        <p:attrNameLst>
                                          <p:attrName>ppt_x</p:attrName>
                                        </p:attrNameLst>
                                      </p:cBhvr>
                                      <p:tavLst>
                                        <p:tav tm="0">
                                          <p:val>
                                            <p:strVal val="#ppt_x"/>
                                          </p:val>
                                        </p:tav>
                                        <p:tav tm="100000">
                                          <p:val>
                                            <p:strVal val="#ppt_x"/>
                                          </p:val>
                                        </p:tav>
                                      </p:tavLst>
                                    </p:anim>
                                    <p:anim calcmode="lin" valueType="num">
                                      <p:cBhvr>
                                        <p:cTn id="31" dur="1000" fill="hold"/>
                                        <p:tgtEl>
                                          <p:spTgt spid="5">
                                            <p:txEl>
                                              <p:pRg st="13" end="13"/>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5">
                                            <p:txEl>
                                              <p:pRg st="14" end="14"/>
                                            </p:txEl>
                                          </p:spTgt>
                                        </p:tgtEl>
                                        <p:attrNameLst>
                                          <p:attrName>style.visibility</p:attrName>
                                        </p:attrNameLst>
                                      </p:cBhvr>
                                      <p:to>
                                        <p:strVal val="visible"/>
                                      </p:to>
                                    </p:set>
                                    <p:animEffect transition="in" filter="fade">
                                      <p:cBhvr>
                                        <p:cTn id="34" dur="1000"/>
                                        <p:tgtEl>
                                          <p:spTgt spid="5">
                                            <p:txEl>
                                              <p:pRg st="14" end="14"/>
                                            </p:txEl>
                                          </p:spTgt>
                                        </p:tgtEl>
                                      </p:cBhvr>
                                    </p:animEffect>
                                    <p:anim calcmode="lin" valueType="num">
                                      <p:cBhvr>
                                        <p:cTn id="35" dur="1000" fill="hold"/>
                                        <p:tgtEl>
                                          <p:spTgt spid="5">
                                            <p:txEl>
                                              <p:pRg st="14" end="14"/>
                                            </p:txEl>
                                          </p:spTgt>
                                        </p:tgtEl>
                                        <p:attrNameLst>
                                          <p:attrName>ppt_x</p:attrName>
                                        </p:attrNameLst>
                                      </p:cBhvr>
                                      <p:tavLst>
                                        <p:tav tm="0">
                                          <p:val>
                                            <p:strVal val="#ppt_x"/>
                                          </p:val>
                                        </p:tav>
                                        <p:tav tm="100000">
                                          <p:val>
                                            <p:strVal val="#ppt_x"/>
                                          </p:val>
                                        </p:tav>
                                      </p:tavLst>
                                    </p:anim>
                                    <p:anim calcmode="lin" valueType="num">
                                      <p:cBhvr>
                                        <p:cTn id="36" dur="1000" fill="hold"/>
                                        <p:tgtEl>
                                          <p:spTgt spid="5">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92A2D7-A33B-5819-21B8-32A59E439F54}"/>
              </a:ext>
            </a:extLst>
          </p:cNvPr>
          <p:cNvSpPr>
            <a:spLocks noGrp="1"/>
          </p:cNvSpPr>
          <p:nvPr>
            <p:ph type="sldNum" sz="quarter" idx="12"/>
          </p:nvPr>
        </p:nvSpPr>
        <p:spPr/>
        <p:txBody>
          <a:bodyPr/>
          <a:lstStyle/>
          <a:p>
            <a:fld id="{20D4B2D9-DB10-4EB9-B7A6-032A6D4E75AC}" type="slidenum">
              <a:rPr lang="pl-PL" smtClean="0"/>
              <a:pPr/>
              <a:t>9</a:t>
            </a:fld>
            <a:endParaRPr lang="pl-PL" dirty="0"/>
          </a:p>
        </p:txBody>
      </p:sp>
    </p:spTree>
    <p:extLst>
      <p:ext uri="{BB962C8B-B14F-4D97-AF65-F5344CB8AC3E}">
        <p14:creationId xmlns:p14="http://schemas.microsoft.com/office/powerpoint/2010/main" val="37619634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A4403FF-C6FE-D981-9FAB-9306C150F791}"/>
              </a:ext>
            </a:extLst>
          </p:cNvPr>
          <p:cNvSpPr>
            <a:spLocks noGrp="1"/>
          </p:cNvSpPr>
          <p:nvPr>
            <p:ph type="sldNum" sz="quarter" idx="12"/>
          </p:nvPr>
        </p:nvSpPr>
        <p:spPr/>
        <p:txBody>
          <a:bodyPr/>
          <a:lstStyle/>
          <a:p>
            <a:fld id="{20D4B2D9-DB10-4EB9-B7A6-032A6D4E75AC}" type="slidenum">
              <a:rPr lang="pl-PL" smtClean="0"/>
              <a:pPr/>
              <a:t>10</a:t>
            </a:fld>
            <a:endParaRPr lang="pl-PL" dirty="0"/>
          </a:p>
        </p:txBody>
      </p:sp>
      <p:sp>
        <p:nvSpPr>
          <p:cNvPr id="5" name="TextBox 4">
            <a:extLst>
              <a:ext uri="{FF2B5EF4-FFF2-40B4-BE49-F238E27FC236}">
                <a16:creationId xmlns:a16="http://schemas.microsoft.com/office/drawing/2014/main" id="{909B42AA-F8C9-AE96-0DD4-AC06918C350D}"/>
              </a:ext>
            </a:extLst>
          </p:cNvPr>
          <p:cNvSpPr txBox="1"/>
          <p:nvPr/>
        </p:nvSpPr>
        <p:spPr>
          <a:xfrm>
            <a:off x="0" y="304800"/>
            <a:ext cx="12192000" cy="4191000"/>
          </a:xfrm>
          <a:prstGeom prst="rect">
            <a:avLst/>
          </a:prstGeom>
          <a:noFill/>
        </p:spPr>
        <p:txBody>
          <a:bodyPr wrap="square" lIns="18000" tIns="18000" rIns="18000" bIns="18000" rtlCol="0">
            <a:noAutofit/>
          </a:bodyPr>
          <a:lstStyle/>
          <a:p>
            <a:r>
              <a:rPr lang="en-US" sz="2400" dirty="0">
                <a:latin typeface="Arial Narrow" panose="020B0606020202030204" pitchFamily="34" charset="0"/>
              </a:rPr>
              <a:t>The processes machines use to learn are known as </a:t>
            </a:r>
            <a:r>
              <a:rPr lang="en-US" sz="2400" b="1" dirty="0">
                <a:latin typeface="Arial Narrow" panose="020B0606020202030204" pitchFamily="34" charset="0"/>
              </a:rPr>
              <a:t>algorithms</a:t>
            </a:r>
            <a:r>
              <a:rPr lang="en-US" sz="2400" dirty="0">
                <a:latin typeface="Arial Narrow" panose="020B0606020202030204" pitchFamily="34" charset="0"/>
              </a:rPr>
              <a:t>. Different algorithms</a:t>
            </a:r>
            <a:r>
              <a:rPr lang="pl-PL" sz="2400" dirty="0">
                <a:latin typeface="Arial Narrow" panose="020B0606020202030204" pitchFamily="34" charset="0"/>
              </a:rPr>
              <a:t> </a:t>
            </a:r>
            <a:r>
              <a:rPr lang="en-US" sz="2400" dirty="0">
                <a:latin typeface="Arial Narrow" panose="020B0606020202030204" pitchFamily="34" charset="0"/>
              </a:rPr>
              <a:t>learn in different ways. </a:t>
            </a:r>
            <a:endParaRPr lang="pl-PL" sz="2400" dirty="0">
              <a:latin typeface="Arial Narrow" panose="020B0606020202030204" pitchFamily="34" charset="0"/>
            </a:endParaRPr>
          </a:p>
          <a:p>
            <a:r>
              <a:rPr lang="en-US" sz="2400" dirty="0">
                <a:latin typeface="Arial Narrow" panose="020B0606020202030204" pitchFamily="34" charset="0"/>
              </a:rPr>
              <a:t>As new data regarding observed responses or</a:t>
            </a:r>
            <a:r>
              <a:rPr lang="pl-PL" sz="2400" dirty="0">
                <a:latin typeface="Arial Narrow" panose="020B0606020202030204" pitchFamily="34" charset="0"/>
              </a:rPr>
              <a:t> </a:t>
            </a:r>
            <a:r>
              <a:rPr lang="en-US" sz="2400" dirty="0">
                <a:latin typeface="Arial Narrow" panose="020B0606020202030204" pitchFamily="34" charset="0"/>
              </a:rPr>
              <a:t>changes to the environment are provided to the “machine” the algorithm’s</a:t>
            </a:r>
            <a:r>
              <a:rPr lang="pl-PL" sz="2400" dirty="0">
                <a:latin typeface="Arial Narrow" panose="020B0606020202030204" pitchFamily="34" charset="0"/>
              </a:rPr>
              <a:t> </a:t>
            </a:r>
            <a:r>
              <a:rPr lang="en-US" sz="2400" dirty="0">
                <a:latin typeface="Arial Narrow" panose="020B0606020202030204" pitchFamily="34" charset="0"/>
              </a:rPr>
              <a:t>performance improves. Thereby resulting in increasing “intelligence” over</a:t>
            </a:r>
            <a:r>
              <a:rPr lang="pl-PL" sz="2400" dirty="0">
                <a:latin typeface="Arial Narrow" panose="020B0606020202030204" pitchFamily="34" charset="0"/>
              </a:rPr>
              <a:t> </a:t>
            </a:r>
            <a:r>
              <a:rPr lang="en-US" sz="2400" dirty="0">
                <a:latin typeface="Arial Narrow" panose="020B0606020202030204" pitchFamily="34" charset="0"/>
              </a:rPr>
              <a:t>time.</a:t>
            </a:r>
            <a:endParaRPr lang="pl-PL" sz="2400" dirty="0">
              <a:latin typeface="Aptos Narrow" panose="020B0004020202020204" pitchFamily="34" charset="0"/>
            </a:endParaRPr>
          </a:p>
        </p:txBody>
      </p:sp>
      <p:sp>
        <p:nvSpPr>
          <p:cNvPr id="6" name="Rectangle 2">
            <a:extLst>
              <a:ext uri="{FF2B5EF4-FFF2-40B4-BE49-F238E27FC236}">
                <a16:creationId xmlns:a16="http://schemas.microsoft.com/office/drawing/2014/main" id="{F858D891-2CA2-32D7-31FE-50A1F93088B1}"/>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a:latin typeface="Arial" pitchFamily="34" charset="0"/>
                <a:ea typeface="+mj-lt"/>
                <a:cs typeface="Arial" pitchFamily="34" charset="0"/>
              </a:rPr>
              <a:t>Introduction</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19733599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91CB3FE-4AB0-CE31-1537-2E549A53DD17}"/>
              </a:ext>
            </a:extLst>
          </p:cNvPr>
          <p:cNvSpPr>
            <a:spLocks noGrp="1"/>
          </p:cNvSpPr>
          <p:nvPr>
            <p:ph type="sldNum" sz="quarter" idx="12"/>
          </p:nvPr>
        </p:nvSpPr>
        <p:spPr/>
        <p:txBody>
          <a:bodyPr/>
          <a:lstStyle/>
          <a:p>
            <a:fld id="{20D4B2D9-DB10-4EB9-B7A6-032A6D4E75AC}" type="slidenum">
              <a:rPr lang="pl-PL" smtClean="0"/>
              <a:pPr/>
              <a:t>11</a:t>
            </a:fld>
            <a:endParaRPr lang="pl-PL" dirty="0"/>
          </a:p>
        </p:txBody>
      </p:sp>
      <p:sp>
        <p:nvSpPr>
          <p:cNvPr id="6" name="Rectangle 2">
            <a:extLst>
              <a:ext uri="{FF2B5EF4-FFF2-40B4-BE49-F238E27FC236}">
                <a16:creationId xmlns:a16="http://schemas.microsoft.com/office/drawing/2014/main" id="{DC7900AC-33DA-EB50-7381-B6F35C470F97}"/>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a:latin typeface="Arial" pitchFamily="34" charset="0"/>
                <a:ea typeface="+mj-lt"/>
                <a:cs typeface="Arial" pitchFamily="34" charset="0"/>
              </a:rPr>
              <a:t>Introduction</a:t>
            </a:r>
            <a:endParaRPr lang="en-GB" sz="4400" dirty="0">
              <a:latin typeface="Arial" pitchFamily="34" charset="0"/>
              <a:ea typeface="+mj-lt"/>
              <a:cs typeface="Arial" pitchFamily="34" charset="0"/>
            </a:endParaRPr>
          </a:p>
        </p:txBody>
      </p:sp>
      <p:sp>
        <p:nvSpPr>
          <p:cNvPr id="8" name="TextBox 7">
            <a:extLst>
              <a:ext uri="{FF2B5EF4-FFF2-40B4-BE49-F238E27FC236}">
                <a16:creationId xmlns:a16="http://schemas.microsoft.com/office/drawing/2014/main" id="{E15DEEC7-DBFA-0822-7FC4-FA4A509B3361}"/>
              </a:ext>
            </a:extLst>
          </p:cNvPr>
          <p:cNvSpPr txBox="1"/>
          <p:nvPr/>
        </p:nvSpPr>
        <p:spPr>
          <a:xfrm>
            <a:off x="0" y="347008"/>
            <a:ext cx="11811000" cy="2677656"/>
          </a:xfrm>
          <a:prstGeom prst="rect">
            <a:avLst/>
          </a:prstGeom>
          <a:noFill/>
        </p:spPr>
        <p:txBody>
          <a:bodyPr wrap="square">
            <a:spAutoFit/>
          </a:bodyPr>
          <a:lstStyle/>
          <a:p>
            <a:r>
              <a:rPr lang="pl-PL" sz="2400" b="1" dirty="0">
                <a:latin typeface="Arial Narrow" panose="020B0606020202030204" pitchFamily="34" charset="0"/>
              </a:rPr>
              <a:t>Deep Learning (DL)</a:t>
            </a:r>
            <a:r>
              <a:rPr lang="pl-PL" sz="2400" dirty="0">
                <a:latin typeface="Arial Narrow" panose="020B0606020202030204" pitchFamily="34" charset="0"/>
              </a:rPr>
              <a:t> is a subfield of machine learning. It uses artificial neural networks with many layers to learn complex patterns from large amounts of data. Deep learning is especially useful for tasks such as:</a:t>
            </a:r>
          </a:p>
          <a:p>
            <a:pPr marL="263525" indent="-263525">
              <a:buFont typeface="Arial" panose="020B0604020202020204" pitchFamily="34" charset="0"/>
              <a:buChar char="•"/>
            </a:pPr>
            <a:r>
              <a:rPr lang="pl-PL" sz="2400" dirty="0">
                <a:latin typeface="Arial Narrow" panose="020B0606020202030204" pitchFamily="34" charset="0"/>
              </a:rPr>
              <a:t>image recognition</a:t>
            </a:r>
          </a:p>
          <a:p>
            <a:pPr marL="263525" indent="-263525">
              <a:buFont typeface="Arial" panose="020B0604020202020204" pitchFamily="34" charset="0"/>
              <a:buChar char="•"/>
            </a:pPr>
            <a:r>
              <a:rPr lang="pl-PL" sz="2400" dirty="0">
                <a:latin typeface="Arial Narrow" panose="020B0606020202030204" pitchFamily="34" charset="0"/>
              </a:rPr>
              <a:t>speech recognition</a:t>
            </a:r>
          </a:p>
          <a:p>
            <a:pPr marL="263525" indent="-263525">
              <a:buFont typeface="Arial" panose="020B0604020202020204" pitchFamily="34" charset="0"/>
              <a:buChar char="•"/>
            </a:pPr>
            <a:r>
              <a:rPr lang="pl-PL" sz="2400" dirty="0">
                <a:latin typeface="Arial Narrow" panose="020B0606020202030204" pitchFamily="34" charset="0"/>
              </a:rPr>
              <a:t>natural language processing</a:t>
            </a:r>
          </a:p>
          <a:p>
            <a:pPr marL="263525" indent="-263525">
              <a:buFont typeface="Arial" panose="020B0604020202020204" pitchFamily="34" charset="0"/>
              <a:buChar char="•"/>
            </a:pPr>
            <a:r>
              <a:rPr lang="pl-PL" sz="2400" dirty="0">
                <a:latin typeface="Arial Narrow" panose="020B0606020202030204" pitchFamily="34" charset="0"/>
              </a:rPr>
              <a:t>generative AI</a:t>
            </a:r>
          </a:p>
        </p:txBody>
      </p:sp>
      <p:grpSp>
        <p:nvGrpSpPr>
          <p:cNvPr id="7" name="Group 6">
            <a:extLst>
              <a:ext uri="{FF2B5EF4-FFF2-40B4-BE49-F238E27FC236}">
                <a16:creationId xmlns:a16="http://schemas.microsoft.com/office/drawing/2014/main" id="{01A1645A-7D6C-4AC1-03A4-0CB832633DE8}"/>
              </a:ext>
            </a:extLst>
          </p:cNvPr>
          <p:cNvGrpSpPr/>
          <p:nvPr/>
        </p:nvGrpSpPr>
        <p:grpSpPr>
          <a:xfrm>
            <a:off x="3657600" y="2133600"/>
            <a:ext cx="6172200" cy="4435476"/>
            <a:chOff x="2705100" y="1828800"/>
            <a:chExt cx="7124700" cy="4892676"/>
          </a:xfrm>
        </p:grpSpPr>
        <p:pic>
          <p:nvPicPr>
            <p:cNvPr id="3" name="Picture 10">
              <a:extLst>
                <a:ext uri="{FF2B5EF4-FFF2-40B4-BE49-F238E27FC236}">
                  <a16:creationId xmlns:a16="http://schemas.microsoft.com/office/drawing/2014/main" id="{2D7E58CA-4ECF-601C-2D7E-DAF518C571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5100" y="2356120"/>
              <a:ext cx="7124700" cy="4174628"/>
            </a:xfrm>
            <a:prstGeom prst="rect">
              <a:avLst/>
            </a:prstGeom>
          </p:spPr>
        </p:pic>
        <p:sp>
          <p:nvSpPr>
            <p:cNvPr id="5" name="Rectangle 4">
              <a:extLst>
                <a:ext uri="{FF2B5EF4-FFF2-40B4-BE49-F238E27FC236}">
                  <a16:creationId xmlns:a16="http://schemas.microsoft.com/office/drawing/2014/main" id="{42A372F3-999C-FE28-6EAE-A0B668E4E5F3}"/>
                </a:ext>
              </a:extLst>
            </p:cNvPr>
            <p:cNvSpPr/>
            <p:nvPr/>
          </p:nvSpPr>
          <p:spPr>
            <a:xfrm>
              <a:off x="4541520" y="1828800"/>
              <a:ext cx="3352800" cy="489267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grpSp>
    </p:spTree>
    <p:extLst>
      <p:ext uri="{BB962C8B-B14F-4D97-AF65-F5344CB8AC3E}">
        <p14:creationId xmlns:p14="http://schemas.microsoft.com/office/powerpoint/2010/main" val="23635815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9FFAC5D-6F40-4D87-00FA-986B818904D8}"/>
              </a:ext>
            </a:extLst>
          </p:cNvPr>
          <p:cNvSpPr>
            <a:spLocks noGrp="1"/>
          </p:cNvSpPr>
          <p:nvPr>
            <p:ph type="sldNum" sz="quarter" idx="12"/>
          </p:nvPr>
        </p:nvSpPr>
        <p:spPr/>
        <p:txBody>
          <a:bodyPr/>
          <a:lstStyle/>
          <a:p>
            <a:fld id="{20D4B2D9-DB10-4EB9-B7A6-032A6D4E75AC}" type="slidenum">
              <a:rPr lang="pl-PL" smtClean="0"/>
              <a:pPr/>
              <a:t>12</a:t>
            </a:fld>
            <a:endParaRPr lang="pl-PL" dirty="0"/>
          </a:p>
        </p:txBody>
      </p:sp>
      <p:sp>
        <p:nvSpPr>
          <p:cNvPr id="6" name="Rectangle 2">
            <a:extLst>
              <a:ext uri="{FF2B5EF4-FFF2-40B4-BE49-F238E27FC236}">
                <a16:creationId xmlns:a16="http://schemas.microsoft.com/office/drawing/2014/main" id="{A706C29A-E4AC-2CA7-97BC-EDC0A78F6B5D}"/>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a:latin typeface="Arial" pitchFamily="34" charset="0"/>
                <a:ea typeface="+mj-lt"/>
                <a:cs typeface="Arial" pitchFamily="34" charset="0"/>
              </a:rPr>
              <a:t>Introduction</a:t>
            </a:r>
            <a:endParaRPr lang="en-GB" sz="4400" dirty="0">
              <a:latin typeface="Arial" pitchFamily="34" charset="0"/>
              <a:ea typeface="+mj-lt"/>
              <a:cs typeface="Arial" pitchFamily="34" charset="0"/>
            </a:endParaRPr>
          </a:p>
        </p:txBody>
      </p:sp>
      <p:sp>
        <p:nvSpPr>
          <p:cNvPr id="11" name="Prostokąt 4">
            <a:extLst>
              <a:ext uri="{FF2B5EF4-FFF2-40B4-BE49-F238E27FC236}">
                <a16:creationId xmlns:a16="http://schemas.microsoft.com/office/drawing/2014/main" id="{CBF6381D-DC47-6D9D-7B2C-000504876E7D}"/>
              </a:ext>
            </a:extLst>
          </p:cNvPr>
          <p:cNvSpPr/>
          <p:nvPr/>
        </p:nvSpPr>
        <p:spPr>
          <a:xfrm>
            <a:off x="0" y="304800"/>
            <a:ext cx="11963400" cy="830997"/>
          </a:xfrm>
          <a:prstGeom prst="rect">
            <a:avLst/>
          </a:prstGeom>
        </p:spPr>
        <p:txBody>
          <a:bodyPr wrap="square">
            <a:spAutoFit/>
          </a:bodyPr>
          <a:lstStyle/>
          <a:p>
            <a:r>
              <a:rPr lang="pl-PL" sz="2400" b="1" dirty="0">
                <a:latin typeface="Arial Narrow" panose="020B0606020202030204" pitchFamily="34" charset="0"/>
              </a:rPr>
              <a:t>Neural networks consist</a:t>
            </a:r>
            <a:r>
              <a:rPr lang="pl-PL" sz="2400" dirty="0">
                <a:latin typeface="Arial Narrow" panose="020B0606020202030204" pitchFamily="34" charset="0"/>
              </a:rPr>
              <a:t> of artificial neurons.</a:t>
            </a:r>
          </a:p>
          <a:p>
            <a:r>
              <a:rPr lang="en-US" sz="2400" dirty="0">
                <a:latin typeface="Arial Narrow" panose="020B0606020202030204" pitchFamily="34" charset="0"/>
              </a:rPr>
              <a:t>Their operation is based on the functioning of </a:t>
            </a:r>
            <a:r>
              <a:rPr lang="en-US" sz="2400" b="1" dirty="0">
                <a:solidFill>
                  <a:srgbClr val="FF0000"/>
                </a:solidFill>
                <a:latin typeface="Arial Narrow" panose="020B0606020202030204" pitchFamily="34" charset="0"/>
              </a:rPr>
              <a:t>biological neurons</a:t>
            </a:r>
            <a:r>
              <a:rPr lang="pl-PL" sz="2400" dirty="0">
                <a:latin typeface="Arial Narrow" panose="020B0606020202030204" pitchFamily="34" charset="0"/>
              </a:rPr>
              <a:t>.</a:t>
            </a:r>
          </a:p>
        </p:txBody>
      </p:sp>
      <p:pic>
        <p:nvPicPr>
          <p:cNvPr id="13" name="Picture 12">
            <a:extLst>
              <a:ext uri="{FF2B5EF4-FFF2-40B4-BE49-F238E27FC236}">
                <a16:creationId xmlns:a16="http://schemas.microsoft.com/office/drawing/2014/main" id="{A520B42C-201D-E7ED-EFB9-C7E4A0D00623}"/>
              </a:ext>
            </a:extLst>
          </p:cNvPr>
          <p:cNvPicPr>
            <a:picLocks noChangeAspect="1"/>
          </p:cNvPicPr>
          <p:nvPr/>
        </p:nvPicPr>
        <p:blipFill>
          <a:blip r:embed="rId2"/>
          <a:stretch>
            <a:fillRect/>
          </a:stretch>
        </p:blipFill>
        <p:spPr>
          <a:xfrm>
            <a:off x="3548062" y="1676400"/>
            <a:ext cx="5095875" cy="4114800"/>
          </a:xfrm>
          <a:prstGeom prst="rect">
            <a:avLst/>
          </a:prstGeom>
        </p:spPr>
      </p:pic>
    </p:spTree>
    <p:extLst>
      <p:ext uri="{BB962C8B-B14F-4D97-AF65-F5344CB8AC3E}">
        <p14:creationId xmlns:p14="http://schemas.microsoft.com/office/powerpoint/2010/main" val="12080965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102213F-349F-A529-8DA8-8BBE1DE37931}"/>
              </a:ext>
            </a:extLst>
          </p:cNvPr>
          <p:cNvSpPr>
            <a:spLocks noGrp="1"/>
          </p:cNvSpPr>
          <p:nvPr>
            <p:ph type="sldNum" sz="quarter" idx="12"/>
          </p:nvPr>
        </p:nvSpPr>
        <p:spPr/>
        <p:txBody>
          <a:bodyPr/>
          <a:lstStyle/>
          <a:p>
            <a:fld id="{20D4B2D9-DB10-4EB9-B7A6-032A6D4E75AC}" type="slidenum">
              <a:rPr lang="pl-PL" smtClean="0"/>
              <a:pPr/>
              <a:t>13</a:t>
            </a:fld>
            <a:endParaRPr lang="pl-PL" dirty="0"/>
          </a:p>
        </p:txBody>
      </p:sp>
      <p:sp>
        <p:nvSpPr>
          <p:cNvPr id="6" name="Prostokąt 4">
            <a:extLst>
              <a:ext uri="{FF2B5EF4-FFF2-40B4-BE49-F238E27FC236}">
                <a16:creationId xmlns:a16="http://schemas.microsoft.com/office/drawing/2014/main" id="{108B8EF3-845E-9B27-5A76-CF82C17B2EC1}"/>
              </a:ext>
            </a:extLst>
          </p:cNvPr>
          <p:cNvSpPr/>
          <p:nvPr/>
        </p:nvSpPr>
        <p:spPr>
          <a:xfrm>
            <a:off x="0" y="304800"/>
            <a:ext cx="12192000" cy="1200329"/>
          </a:xfrm>
          <a:prstGeom prst="rect">
            <a:avLst/>
          </a:prstGeom>
        </p:spPr>
        <p:txBody>
          <a:bodyPr wrap="square">
            <a:spAutoFit/>
          </a:bodyPr>
          <a:lstStyle/>
          <a:p>
            <a:r>
              <a:rPr lang="pl-PL" sz="2400" dirty="0">
                <a:latin typeface="Arial Narrow" panose="020B0606020202030204" pitchFamily="34" charset="0"/>
              </a:rPr>
              <a:t>The first model of artificial neuron was proposed by </a:t>
            </a:r>
            <a:r>
              <a:rPr lang="pl-PL" sz="2400" b="1" dirty="0">
                <a:solidFill>
                  <a:srgbClr val="FF0000"/>
                </a:solidFill>
                <a:latin typeface="Arial Narrow" panose="020B0606020202030204" pitchFamily="34" charset="0"/>
              </a:rPr>
              <a:t>Warren</a:t>
            </a:r>
            <a:r>
              <a:rPr lang="pl-PL" sz="2400" dirty="0">
                <a:latin typeface="Arial Narrow" panose="020B0606020202030204" pitchFamily="34" charset="0"/>
              </a:rPr>
              <a:t> </a:t>
            </a:r>
            <a:r>
              <a:rPr lang="pl-PL" sz="2400" b="1" dirty="0">
                <a:solidFill>
                  <a:srgbClr val="FF0000"/>
                </a:solidFill>
                <a:latin typeface="Arial Narrow" panose="020B0606020202030204" pitchFamily="34" charset="0"/>
              </a:rPr>
              <a:t>McCulloch and Walter Pitts in 1943</a:t>
            </a:r>
            <a:r>
              <a:rPr lang="pl-PL" sz="2400" dirty="0">
                <a:latin typeface="Arial Narrow" panose="020B0606020202030204" pitchFamily="34" charset="0"/>
              </a:rPr>
              <a:t>. </a:t>
            </a:r>
          </a:p>
          <a:p>
            <a:r>
              <a:rPr lang="en-US" sz="2400" dirty="0">
                <a:latin typeface="Arial Narrow" panose="020B0606020202030204" pitchFamily="34" charset="0"/>
              </a:rPr>
              <a:t>The binary input values are </a:t>
            </a:r>
            <a:r>
              <a:rPr lang="pl-PL" sz="2400" dirty="0">
                <a:latin typeface="Arial Narrow" panose="020B0606020202030204" pitchFamily="34" charset="0"/>
              </a:rPr>
              <a:t>aggregated</a:t>
            </a:r>
            <a:r>
              <a:rPr lang="en-US" sz="2400" dirty="0">
                <a:latin typeface="Arial Narrow" panose="020B0606020202030204" pitchFamily="34" charset="0"/>
              </a:rPr>
              <a:t> (g), and then the result is compared to a threshold value</a:t>
            </a:r>
            <a:r>
              <a:rPr lang="pl-PL" sz="2400" dirty="0">
                <a:latin typeface="Arial Narrow" panose="020B0606020202030204" pitchFamily="34" charset="0"/>
              </a:rPr>
              <a:t>:</a:t>
            </a:r>
            <a:r>
              <a:rPr lang="en-US" sz="2400" dirty="0">
                <a:latin typeface="Arial Narrow" panose="020B0606020202030204" pitchFamily="34" charset="0"/>
              </a:rPr>
              <a:t> if it is greater than the threshold, the neuron outputs 1; otherwise, it outputs 0</a:t>
            </a:r>
            <a:r>
              <a:rPr lang="pl-PL" sz="2400" dirty="0">
                <a:latin typeface="Arial Narrow" panose="020B0606020202030204" pitchFamily="34" charset="0"/>
              </a:rPr>
              <a:t> (remains inactive).</a:t>
            </a:r>
          </a:p>
        </p:txBody>
      </p:sp>
      <p:sp>
        <p:nvSpPr>
          <p:cNvPr id="8" name="Rectangle 2">
            <a:extLst>
              <a:ext uri="{FF2B5EF4-FFF2-40B4-BE49-F238E27FC236}">
                <a16:creationId xmlns:a16="http://schemas.microsoft.com/office/drawing/2014/main" id="{13808DD7-1F44-1106-ADD9-391F671803BA}"/>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a:latin typeface="Arial" pitchFamily="34" charset="0"/>
                <a:ea typeface="+mj-lt"/>
                <a:cs typeface="Arial" pitchFamily="34" charset="0"/>
              </a:rPr>
              <a:t>Introduction</a:t>
            </a:r>
            <a:endParaRPr lang="en-GB" sz="4400" dirty="0">
              <a:latin typeface="Arial" pitchFamily="34" charset="0"/>
              <a:ea typeface="+mj-lt"/>
              <a:cs typeface="Arial" pitchFamily="34" charset="0"/>
            </a:endParaRPr>
          </a:p>
        </p:txBody>
      </p:sp>
      <p:pic>
        <p:nvPicPr>
          <p:cNvPr id="10" name="Picture 9">
            <a:extLst>
              <a:ext uri="{FF2B5EF4-FFF2-40B4-BE49-F238E27FC236}">
                <a16:creationId xmlns:a16="http://schemas.microsoft.com/office/drawing/2014/main" id="{D688541C-096D-9F49-698C-EC23776897F5}"/>
              </a:ext>
            </a:extLst>
          </p:cNvPr>
          <p:cNvPicPr>
            <a:picLocks noChangeAspect="1"/>
          </p:cNvPicPr>
          <p:nvPr/>
        </p:nvPicPr>
        <p:blipFill>
          <a:blip r:embed="rId2"/>
          <a:stretch>
            <a:fillRect/>
          </a:stretch>
        </p:blipFill>
        <p:spPr>
          <a:xfrm>
            <a:off x="2743200" y="1936016"/>
            <a:ext cx="6867525" cy="4619625"/>
          </a:xfrm>
          <a:prstGeom prst="rect">
            <a:avLst/>
          </a:prstGeom>
        </p:spPr>
      </p:pic>
    </p:spTree>
    <p:extLst>
      <p:ext uri="{BB962C8B-B14F-4D97-AF65-F5344CB8AC3E}">
        <p14:creationId xmlns:p14="http://schemas.microsoft.com/office/powerpoint/2010/main" val="3049659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57671D0-A85B-CF90-914C-7BE4AFBC49BF}"/>
              </a:ext>
            </a:extLst>
          </p:cNvPr>
          <p:cNvSpPr>
            <a:spLocks noGrp="1"/>
          </p:cNvSpPr>
          <p:nvPr>
            <p:ph type="sldNum" sz="quarter" idx="12"/>
          </p:nvPr>
        </p:nvSpPr>
        <p:spPr/>
        <p:txBody>
          <a:bodyPr/>
          <a:lstStyle/>
          <a:p>
            <a:fld id="{20D4B2D9-DB10-4EB9-B7A6-032A6D4E75AC}" type="slidenum">
              <a:rPr lang="pl-PL" smtClean="0"/>
              <a:pPr/>
              <a:t>14</a:t>
            </a:fld>
            <a:endParaRPr lang="pl-PL" dirty="0"/>
          </a:p>
        </p:txBody>
      </p:sp>
      <p:sp>
        <p:nvSpPr>
          <p:cNvPr id="8" name="Prostokąt 4">
            <a:extLst>
              <a:ext uri="{FF2B5EF4-FFF2-40B4-BE49-F238E27FC236}">
                <a16:creationId xmlns:a16="http://schemas.microsoft.com/office/drawing/2014/main" id="{433A9B08-D66F-7A68-73E2-EB5A3F68BF1D}"/>
              </a:ext>
            </a:extLst>
          </p:cNvPr>
          <p:cNvSpPr/>
          <p:nvPr/>
        </p:nvSpPr>
        <p:spPr>
          <a:xfrm>
            <a:off x="0" y="304800"/>
            <a:ext cx="12192000" cy="1569660"/>
          </a:xfrm>
          <a:prstGeom prst="rect">
            <a:avLst/>
          </a:prstGeom>
        </p:spPr>
        <p:txBody>
          <a:bodyPr wrap="square">
            <a:spAutoFit/>
          </a:bodyPr>
          <a:lstStyle/>
          <a:p>
            <a:r>
              <a:rPr lang="pl-PL" sz="2400" dirty="0">
                <a:latin typeface="Arial Narrow" panose="020B0606020202030204" pitchFamily="34" charset="0"/>
              </a:rPr>
              <a:t>In </a:t>
            </a:r>
            <a:r>
              <a:rPr lang="pl-PL" sz="2400" b="1" dirty="0">
                <a:solidFill>
                  <a:srgbClr val="FF0000"/>
                </a:solidFill>
                <a:latin typeface="Arial Narrow" panose="020B0606020202030204" pitchFamily="34" charset="0"/>
              </a:rPr>
              <a:t>1957 Frank </a:t>
            </a:r>
            <a:r>
              <a:rPr lang="en-US" sz="2400" b="1" dirty="0">
                <a:solidFill>
                  <a:srgbClr val="FF0000"/>
                </a:solidFill>
                <a:latin typeface="Arial Narrow" panose="020B0606020202030204" pitchFamily="34" charset="0"/>
              </a:rPr>
              <a:t>Rosenblatt</a:t>
            </a:r>
            <a:r>
              <a:rPr lang="en-US" sz="2400" dirty="0">
                <a:latin typeface="Arial Narrow" panose="020B0606020202030204" pitchFamily="34" charset="0"/>
              </a:rPr>
              <a:t> </a:t>
            </a:r>
            <a:r>
              <a:rPr lang="pl-PL" sz="2400" dirty="0">
                <a:latin typeface="Arial Narrow" panose="020B0606020202030204" pitchFamily="34" charset="0"/>
              </a:rPr>
              <a:t>designed a </a:t>
            </a:r>
            <a:r>
              <a:rPr lang="pl-PL" sz="2400" b="1" dirty="0">
                <a:latin typeface="Arial Narrow" panose="020B0606020202030204" pitchFamily="34" charset="0"/>
              </a:rPr>
              <a:t>p</a:t>
            </a:r>
            <a:r>
              <a:rPr lang="en-US" sz="2400" b="1" dirty="0" err="1">
                <a:latin typeface="Arial Narrow" panose="020B0606020202030204" pitchFamily="34" charset="0"/>
              </a:rPr>
              <a:t>erceptron</a:t>
            </a:r>
            <a:r>
              <a:rPr lang="en-US" sz="2400" dirty="0">
                <a:latin typeface="Arial Narrow" panose="020B0606020202030204" pitchFamily="34" charset="0"/>
              </a:rPr>
              <a:t> to overcome most issues of the McCulloch-Pitts neuron:</a:t>
            </a:r>
          </a:p>
          <a:p>
            <a:pPr marL="182563" indent="-182563">
              <a:buFont typeface="Arial" panose="020B0604020202020204" pitchFamily="34" charset="0"/>
              <a:buChar char="•"/>
            </a:pPr>
            <a:r>
              <a:rPr lang="en-US" sz="2400" dirty="0">
                <a:latin typeface="Arial Narrow" panose="020B0606020202030204" pitchFamily="34" charset="0"/>
              </a:rPr>
              <a:t>it can process non-</a:t>
            </a:r>
            <a:r>
              <a:rPr lang="en-US" sz="2400" dirty="0" err="1">
                <a:latin typeface="Arial Narrow" panose="020B0606020202030204" pitchFamily="34" charset="0"/>
              </a:rPr>
              <a:t>boolean</a:t>
            </a:r>
            <a:r>
              <a:rPr lang="pl-PL" sz="2400" dirty="0">
                <a:latin typeface="Arial Narrow" panose="020B0606020202030204" pitchFamily="34" charset="0"/>
              </a:rPr>
              <a:t> values</a:t>
            </a:r>
            <a:endParaRPr lang="en-US" sz="2400" dirty="0">
              <a:latin typeface="Arial Narrow" panose="020B0606020202030204" pitchFamily="34" charset="0"/>
            </a:endParaRPr>
          </a:p>
          <a:p>
            <a:pPr marL="182563" indent="-182563">
              <a:buFont typeface="Arial" panose="020B0604020202020204" pitchFamily="34" charset="0"/>
              <a:buChar char="•"/>
            </a:pPr>
            <a:r>
              <a:rPr lang="en-US" sz="2400" dirty="0">
                <a:latin typeface="Arial Narrow" panose="020B0606020202030204" pitchFamily="34" charset="0"/>
              </a:rPr>
              <a:t>it can assign different weights to each input automatically</a:t>
            </a:r>
          </a:p>
          <a:p>
            <a:pPr marL="182563" indent="-182563">
              <a:buFont typeface="Arial" panose="020B0604020202020204" pitchFamily="34" charset="0"/>
              <a:buChar char="•"/>
            </a:pPr>
            <a:r>
              <a:rPr lang="en-US" sz="2400" dirty="0">
                <a:latin typeface="Arial Narrow" panose="020B0606020202030204" pitchFamily="34" charset="0"/>
              </a:rPr>
              <a:t>the threshold </a:t>
            </a:r>
            <a:r>
              <a:rPr lang="pl-PL" sz="2400" dirty="0">
                <a:latin typeface="Arial Narrow" panose="020B0606020202030204" pitchFamily="34" charset="0"/>
              </a:rPr>
              <a:t>that determines whether a neuron will be activated </a:t>
            </a:r>
            <a:r>
              <a:rPr lang="en-US" sz="2400" dirty="0">
                <a:latin typeface="Arial Narrow" panose="020B0606020202030204" pitchFamily="34" charset="0"/>
              </a:rPr>
              <a:t>is computed automatically</a:t>
            </a:r>
          </a:p>
        </p:txBody>
      </p:sp>
      <p:sp>
        <p:nvSpPr>
          <p:cNvPr id="10" name="Rectangle 2">
            <a:extLst>
              <a:ext uri="{FF2B5EF4-FFF2-40B4-BE49-F238E27FC236}">
                <a16:creationId xmlns:a16="http://schemas.microsoft.com/office/drawing/2014/main" id="{199B358B-4B5C-488C-10DF-2CFF2EC01062}"/>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a:latin typeface="Arial" pitchFamily="34" charset="0"/>
                <a:ea typeface="+mj-lt"/>
                <a:cs typeface="Arial" pitchFamily="34" charset="0"/>
              </a:rPr>
              <a:t>Introduction</a:t>
            </a:r>
            <a:endParaRPr lang="en-GB" sz="4400" dirty="0">
              <a:latin typeface="Arial" pitchFamily="34" charset="0"/>
              <a:ea typeface="+mj-lt"/>
              <a:cs typeface="Arial" pitchFamily="34" charset="0"/>
            </a:endParaRPr>
          </a:p>
        </p:txBody>
      </p:sp>
      <p:pic>
        <p:nvPicPr>
          <p:cNvPr id="15" name="Picture 14">
            <a:extLst>
              <a:ext uri="{FF2B5EF4-FFF2-40B4-BE49-F238E27FC236}">
                <a16:creationId xmlns:a16="http://schemas.microsoft.com/office/drawing/2014/main" id="{E8E54B3A-A9EC-9F9A-AACB-5BABD05F8AFA}"/>
              </a:ext>
            </a:extLst>
          </p:cNvPr>
          <p:cNvPicPr>
            <a:picLocks noChangeAspect="1"/>
          </p:cNvPicPr>
          <p:nvPr/>
        </p:nvPicPr>
        <p:blipFill>
          <a:blip r:embed="rId2"/>
          <a:stretch>
            <a:fillRect/>
          </a:stretch>
        </p:blipFill>
        <p:spPr>
          <a:xfrm>
            <a:off x="2286000" y="1838325"/>
            <a:ext cx="5638800" cy="4105275"/>
          </a:xfrm>
          <a:prstGeom prst="rect">
            <a:avLst/>
          </a:prstGeom>
        </p:spPr>
      </p:pic>
      <p:sp>
        <p:nvSpPr>
          <p:cNvPr id="17" name="TextBox 16">
            <a:extLst>
              <a:ext uri="{FF2B5EF4-FFF2-40B4-BE49-F238E27FC236}">
                <a16:creationId xmlns:a16="http://schemas.microsoft.com/office/drawing/2014/main" id="{BB2CD8D5-B4EF-9D5F-5C0C-3D5A2EB37C83}"/>
              </a:ext>
            </a:extLst>
          </p:cNvPr>
          <p:cNvSpPr txBox="1"/>
          <p:nvPr/>
        </p:nvSpPr>
        <p:spPr>
          <a:xfrm>
            <a:off x="76200" y="5848290"/>
            <a:ext cx="11811000" cy="461665"/>
          </a:xfrm>
          <a:prstGeom prst="rect">
            <a:avLst/>
          </a:prstGeom>
          <a:noFill/>
        </p:spPr>
        <p:txBody>
          <a:bodyPr wrap="square">
            <a:spAutoFit/>
          </a:bodyPr>
          <a:lstStyle/>
          <a:p>
            <a:r>
              <a:rPr lang="pl-PL" sz="2400" dirty="0">
                <a:latin typeface="Arial Narrow" panose="020B0606020202030204" pitchFamily="34" charset="0"/>
              </a:rPr>
              <a:t>A perceptron is a single layer Neural Network.</a:t>
            </a:r>
            <a:r>
              <a:rPr lang="en-US" sz="2400" dirty="0">
                <a:latin typeface="Arial Narrow" panose="020B0606020202030204" pitchFamily="34" charset="0"/>
              </a:rPr>
              <a:t> Since </a:t>
            </a:r>
            <a:r>
              <a:rPr lang="pl-PL" sz="2400" dirty="0">
                <a:latin typeface="Arial Narrow" panose="020B0606020202030204" pitchFamily="34" charset="0"/>
              </a:rPr>
              <a:t>introduction</a:t>
            </a:r>
            <a:r>
              <a:rPr lang="en-US" sz="2400" dirty="0">
                <a:latin typeface="Arial Narrow" panose="020B0606020202030204" pitchFamily="34" charset="0"/>
              </a:rPr>
              <a:t>, it has been the core of Deep Learning.</a:t>
            </a:r>
            <a:r>
              <a:rPr lang="pl-PL" sz="2400" dirty="0">
                <a:latin typeface="Arial Narrow" panose="020B0606020202030204" pitchFamily="34" charset="0"/>
              </a:rPr>
              <a:t>   </a:t>
            </a:r>
          </a:p>
        </p:txBody>
      </p:sp>
    </p:spTree>
    <p:extLst>
      <p:ext uri="{BB962C8B-B14F-4D97-AF65-F5344CB8AC3E}">
        <p14:creationId xmlns:p14="http://schemas.microsoft.com/office/powerpoint/2010/main" val="32487062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903B631-8718-89DF-5BC4-1C51A378EE4A}"/>
              </a:ext>
            </a:extLst>
          </p:cNvPr>
          <p:cNvSpPr>
            <a:spLocks noGrp="1"/>
          </p:cNvSpPr>
          <p:nvPr>
            <p:ph type="sldNum" sz="quarter" idx="12"/>
          </p:nvPr>
        </p:nvSpPr>
        <p:spPr/>
        <p:txBody>
          <a:bodyPr/>
          <a:lstStyle/>
          <a:p>
            <a:fld id="{20D4B2D9-DB10-4EB9-B7A6-032A6D4E75AC}" type="slidenum">
              <a:rPr lang="pl-PL" smtClean="0"/>
              <a:pPr/>
              <a:t>15</a:t>
            </a:fld>
            <a:endParaRPr lang="pl-PL" dirty="0"/>
          </a:p>
        </p:txBody>
      </p:sp>
      <p:sp>
        <p:nvSpPr>
          <p:cNvPr id="6" name="Rectangle 2">
            <a:extLst>
              <a:ext uri="{FF2B5EF4-FFF2-40B4-BE49-F238E27FC236}">
                <a16:creationId xmlns:a16="http://schemas.microsoft.com/office/drawing/2014/main" id="{FE49455E-B343-22CD-EADD-6A6E81E515BA}"/>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a:latin typeface="Arial" pitchFamily="34" charset="0"/>
                <a:ea typeface="+mj-lt"/>
                <a:cs typeface="Arial" pitchFamily="34" charset="0"/>
              </a:rPr>
              <a:t>Introduction</a:t>
            </a:r>
            <a:endParaRPr lang="en-GB" sz="4400" dirty="0">
              <a:latin typeface="Arial" pitchFamily="34" charset="0"/>
              <a:ea typeface="+mj-lt"/>
              <a:cs typeface="Arial" pitchFamily="34" charset="0"/>
            </a:endParaRPr>
          </a:p>
        </p:txBody>
      </p:sp>
      <p:sp>
        <p:nvSpPr>
          <p:cNvPr id="8" name="TextBox 7">
            <a:extLst>
              <a:ext uri="{FF2B5EF4-FFF2-40B4-BE49-F238E27FC236}">
                <a16:creationId xmlns:a16="http://schemas.microsoft.com/office/drawing/2014/main" id="{AA52576A-08F5-B1FB-240E-9464C318B4D2}"/>
              </a:ext>
            </a:extLst>
          </p:cNvPr>
          <p:cNvSpPr txBox="1"/>
          <p:nvPr/>
        </p:nvSpPr>
        <p:spPr>
          <a:xfrm>
            <a:off x="0" y="304800"/>
            <a:ext cx="12039600" cy="2554545"/>
          </a:xfrm>
          <a:prstGeom prst="rect">
            <a:avLst/>
          </a:prstGeom>
          <a:noFill/>
        </p:spPr>
        <p:txBody>
          <a:bodyPr wrap="square">
            <a:spAutoFit/>
          </a:bodyPr>
          <a:lstStyle/>
          <a:p>
            <a:r>
              <a:rPr lang="pl-PL" sz="2000" dirty="0">
                <a:latin typeface="Arial Narrow" panose="020B0606020202030204" pitchFamily="34" charset="0"/>
              </a:rPr>
              <a:t>The version of perceptron we use nowadays was introduced by </a:t>
            </a:r>
            <a:r>
              <a:rPr lang="pl-PL" sz="2000" b="1" dirty="0">
                <a:solidFill>
                  <a:srgbClr val="FF0000"/>
                </a:solidFill>
                <a:latin typeface="Arial Narrow" panose="020B0606020202030204" pitchFamily="34" charset="0"/>
              </a:rPr>
              <a:t>Minsky and Papert in 1969</a:t>
            </a:r>
            <a:r>
              <a:rPr lang="pl-PL" sz="2000" dirty="0">
                <a:latin typeface="Arial Narrow" panose="020B0606020202030204" pitchFamily="34" charset="0"/>
              </a:rPr>
              <a:t>. </a:t>
            </a:r>
          </a:p>
          <a:p>
            <a:r>
              <a:rPr lang="pl-PL" sz="2000" dirty="0">
                <a:latin typeface="Arial Narrow" panose="020B0606020202030204" pitchFamily="34" charset="0"/>
              </a:rPr>
              <a:t>They bring a major improvement to the classic model: they introduced an </a:t>
            </a:r>
            <a:r>
              <a:rPr lang="pl-PL" sz="2000" b="1" dirty="0">
                <a:solidFill>
                  <a:schemeClr val="accent4">
                    <a:lumMod val="50000"/>
                  </a:schemeClr>
                </a:solidFill>
                <a:latin typeface="Arial Narrow" panose="020B0606020202030204" pitchFamily="34" charset="0"/>
              </a:rPr>
              <a:t>activation function</a:t>
            </a:r>
            <a:r>
              <a:rPr lang="pl-PL" sz="2000" dirty="0">
                <a:latin typeface="Arial Narrow" panose="020B0606020202030204" pitchFamily="34" charset="0"/>
              </a:rPr>
              <a:t>.</a:t>
            </a:r>
          </a:p>
          <a:p>
            <a:r>
              <a:rPr lang="pl-PL" sz="2000" dirty="0">
                <a:latin typeface="Arial Narrow" panose="020B0606020202030204" pitchFamily="34" charset="0"/>
              </a:rPr>
              <a:t>In artificial neurons, inputs are denoted as </a:t>
            </a:r>
            <a:r>
              <a:rPr lang="pl-PL" sz="2000" b="1" dirty="0">
                <a:latin typeface="Arial Narrow" panose="020B0606020202030204" pitchFamily="34" charset="0"/>
              </a:rPr>
              <a:t>X</a:t>
            </a:r>
            <a:r>
              <a:rPr lang="pl-PL" sz="2000" dirty="0">
                <a:latin typeface="Arial Narrow" panose="020B0606020202030204" pitchFamily="34" charset="0"/>
              </a:rPr>
              <a:t>, their corresponding weights as </a:t>
            </a:r>
            <a:r>
              <a:rPr lang="pl-PL" sz="2000" b="1" dirty="0">
                <a:latin typeface="Arial Narrow" panose="020B0606020202030204" pitchFamily="34" charset="0"/>
              </a:rPr>
              <a:t>w</a:t>
            </a:r>
            <a:r>
              <a:rPr lang="pl-PL" sz="2000" dirty="0">
                <a:latin typeface="Arial Narrow" panose="020B0606020202030204" pitchFamily="34" charset="0"/>
              </a:rPr>
              <a:t>. The inputs are multiplied by the weights before reaching the neuron body.</a:t>
            </a:r>
          </a:p>
          <a:p>
            <a:r>
              <a:rPr lang="pl-PL" sz="2000" dirty="0">
                <a:latin typeface="Arial Narrow" panose="020B0606020202030204" pitchFamily="34" charset="0"/>
              </a:rPr>
              <a:t>Processing in an artificial neuron is usually performed using two functions. First, an </a:t>
            </a:r>
            <a:r>
              <a:rPr lang="pl-PL" sz="2000" b="1" dirty="0">
                <a:solidFill>
                  <a:srgbClr val="00B050"/>
                </a:solidFill>
                <a:latin typeface="Arial Narrow" panose="020B0606020202030204" pitchFamily="34" charset="0"/>
              </a:rPr>
              <a:t>aggregation function</a:t>
            </a:r>
            <a:r>
              <a:rPr lang="pl-PL" sz="2000" dirty="0">
                <a:latin typeface="Arial Narrow" panose="020B0606020202030204" pitchFamily="34" charset="0"/>
              </a:rPr>
              <a:t> (g), often a sum function, combines the weighted inputs into one value. Then, an </a:t>
            </a:r>
            <a:r>
              <a:rPr lang="pl-PL" sz="2000" b="1" dirty="0">
                <a:solidFill>
                  <a:srgbClr val="00B050"/>
                </a:solidFill>
                <a:latin typeface="Arial Narrow" panose="020B0606020202030204" pitchFamily="34" charset="0"/>
              </a:rPr>
              <a:t>activation function</a:t>
            </a:r>
            <a:r>
              <a:rPr lang="pl-PL" sz="2000" dirty="0">
                <a:latin typeface="Arial Narrow" panose="020B0606020202030204" pitchFamily="34" charset="0"/>
              </a:rPr>
              <a:t> determines whether the neuron should activate. </a:t>
            </a:r>
          </a:p>
          <a:p>
            <a:r>
              <a:rPr lang="pl-PL" sz="2000" dirty="0">
                <a:latin typeface="Arial Narrow" panose="020B0606020202030204" pitchFamily="34" charset="0"/>
              </a:rPr>
              <a:t>If the aggregated value exceeds a given threshold, a signal is passed to the next neuron; otherwise, the output is 0.</a:t>
            </a:r>
          </a:p>
        </p:txBody>
      </p:sp>
      <p:pic>
        <p:nvPicPr>
          <p:cNvPr id="10" name="Picture 9">
            <a:extLst>
              <a:ext uri="{FF2B5EF4-FFF2-40B4-BE49-F238E27FC236}">
                <a16:creationId xmlns:a16="http://schemas.microsoft.com/office/drawing/2014/main" id="{1E8021CD-E8AB-2EA1-9010-BA89F157F049}"/>
              </a:ext>
            </a:extLst>
          </p:cNvPr>
          <p:cNvPicPr>
            <a:picLocks noChangeAspect="1"/>
          </p:cNvPicPr>
          <p:nvPr/>
        </p:nvPicPr>
        <p:blipFill>
          <a:blip r:embed="rId2"/>
          <a:stretch>
            <a:fillRect/>
          </a:stretch>
        </p:blipFill>
        <p:spPr>
          <a:xfrm>
            <a:off x="609600" y="2971800"/>
            <a:ext cx="5638800" cy="3348248"/>
          </a:xfrm>
          <a:prstGeom prst="rect">
            <a:avLst/>
          </a:prstGeom>
        </p:spPr>
      </p:pic>
      <p:pic>
        <p:nvPicPr>
          <p:cNvPr id="2" name="Picture 1">
            <a:extLst>
              <a:ext uri="{FF2B5EF4-FFF2-40B4-BE49-F238E27FC236}">
                <a16:creationId xmlns:a16="http://schemas.microsoft.com/office/drawing/2014/main" id="{1065444B-1AC5-EB22-E38D-A21A9090BAC5}"/>
              </a:ext>
            </a:extLst>
          </p:cNvPr>
          <p:cNvPicPr>
            <a:picLocks noChangeAspect="1"/>
          </p:cNvPicPr>
          <p:nvPr/>
        </p:nvPicPr>
        <p:blipFill>
          <a:blip r:embed="rId3"/>
          <a:stretch>
            <a:fillRect/>
          </a:stretch>
        </p:blipFill>
        <p:spPr>
          <a:xfrm>
            <a:off x="9271001" y="4487852"/>
            <a:ext cx="2778760" cy="2243784"/>
          </a:xfrm>
          <a:prstGeom prst="rect">
            <a:avLst/>
          </a:prstGeom>
        </p:spPr>
      </p:pic>
      <p:sp>
        <p:nvSpPr>
          <p:cNvPr id="9" name="TextBox 8">
            <a:extLst>
              <a:ext uri="{FF2B5EF4-FFF2-40B4-BE49-F238E27FC236}">
                <a16:creationId xmlns:a16="http://schemas.microsoft.com/office/drawing/2014/main" id="{C6207A91-EA0D-5EC2-6804-A734DF090990}"/>
              </a:ext>
            </a:extLst>
          </p:cNvPr>
          <p:cNvSpPr txBox="1"/>
          <p:nvPr/>
        </p:nvSpPr>
        <p:spPr>
          <a:xfrm>
            <a:off x="5525814" y="3124200"/>
            <a:ext cx="6132786" cy="1323439"/>
          </a:xfrm>
          <a:prstGeom prst="rect">
            <a:avLst/>
          </a:prstGeom>
          <a:noFill/>
        </p:spPr>
        <p:txBody>
          <a:bodyPr wrap="square">
            <a:spAutoFit/>
          </a:bodyPr>
          <a:lstStyle/>
          <a:p>
            <a:r>
              <a:rPr lang="pl-PL" sz="2000">
                <a:latin typeface="Arial Narrow" panose="020B0606020202030204" pitchFamily="34" charset="0"/>
              </a:rPr>
              <a:t>Together, the aggregation and activation functions correspond to the </a:t>
            </a:r>
            <a:r>
              <a:rPr lang="pl-PL" sz="2000" b="1">
                <a:solidFill>
                  <a:srgbClr val="00B050"/>
                </a:solidFill>
                <a:latin typeface="Arial Narrow" panose="020B0606020202030204" pitchFamily="34" charset="0"/>
              </a:rPr>
              <a:t>soma</a:t>
            </a:r>
            <a:r>
              <a:rPr lang="pl-PL" sz="2000">
                <a:latin typeface="Arial Narrow" panose="020B0606020202030204" pitchFamily="34" charset="0"/>
              </a:rPr>
              <a:t> of a biological neuron. The final output corresponds to the </a:t>
            </a:r>
            <a:r>
              <a:rPr lang="pl-PL" sz="2000" b="1">
                <a:solidFill>
                  <a:srgbClr val="00B050"/>
                </a:solidFill>
                <a:latin typeface="Arial Narrow" panose="020B0606020202030204" pitchFamily="34" charset="0"/>
              </a:rPr>
              <a:t>axon</a:t>
            </a:r>
            <a:r>
              <a:rPr lang="pl-PL" sz="2000">
                <a:latin typeface="Arial Narrow" panose="020B0606020202030204" pitchFamily="34" charset="0"/>
              </a:rPr>
              <a:t>. However, artificial neurons do not include a structure equivalent to the </a:t>
            </a:r>
            <a:r>
              <a:rPr lang="pl-PL" sz="2000" b="1">
                <a:latin typeface="Arial Narrow" panose="020B0606020202030204" pitchFamily="34" charset="0"/>
              </a:rPr>
              <a:t>axon terminals</a:t>
            </a:r>
            <a:r>
              <a:rPr lang="pl-PL" sz="2000">
                <a:solidFill>
                  <a:srgbClr val="00B050"/>
                </a:solidFill>
                <a:latin typeface="Arial Narrow" panose="020B0606020202030204" pitchFamily="34" charset="0"/>
              </a:rPr>
              <a:t> </a:t>
            </a:r>
            <a:r>
              <a:rPr lang="pl-PL" sz="2000">
                <a:latin typeface="Arial Narrow" panose="020B0606020202030204" pitchFamily="34" charset="0"/>
              </a:rPr>
              <a:t>of biological neurons.</a:t>
            </a:r>
            <a:endParaRPr lang="pl-PL" sz="2000"/>
          </a:p>
        </p:txBody>
      </p:sp>
      <p:sp>
        <p:nvSpPr>
          <p:cNvPr id="3" name="TextBox 2">
            <a:extLst>
              <a:ext uri="{FF2B5EF4-FFF2-40B4-BE49-F238E27FC236}">
                <a16:creationId xmlns:a16="http://schemas.microsoft.com/office/drawing/2014/main" id="{79370BA1-C09F-0C8D-BBFF-861D3499DF6C}"/>
              </a:ext>
            </a:extLst>
          </p:cNvPr>
          <p:cNvSpPr txBox="1"/>
          <p:nvPr/>
        </p:nvSpPr>
        <p:spPr>
          <a:xfrm>
            <a:off x="990600" y="6172200"/>
            <a:ext cx="7899400" cy="707886"/>
          </a:xfrm>
          <a:prstGeom prst="rect">
            <a:avLst/>
          </a:prstGeom>
          <a:noFill/>
        </p:spPr>
        <p:txBody>
          <a:bodyPr wrap="square">
            <a:spAutoFit/>
          </a:bodyPr>
          <a:lstStyle/>
          <a:p>
            <a:pPr>
              <a:tabLst>
                <a:tab pos="2874963" algn="ctr"/>
                <a:tab pos="4846638" algn="l"/>
              </a:tabLst>
            </a:pPr>
            <a:r>
              <a:rPr lang="pl-PL" sz="2000" b="1">
                <a:solidFill>
                  <a:srgbClr val="00B050"/>
                </a:solidFill>
                <a:latin typeface="Arial Narrow" panose="020B0606020202030204" pitchFamily="34" charset="0"/>
              </a:rPr>
              <a:t>dendrites	soma	axon</a:t>
            </a:r>
          </a:p>
          <a:p>
            <a:pPr>
              <a:tabLst>
                <a:tab pos="2874963" algn="ctr"/>
                <a:tab pos="4846638" algn="l"/>
              </a:tabLst>
            </a:pPr>
            <a:r>
              <a:rPr lang="pl-PL" sz="2000" b="1">
                <a:solidFill>
                  <a:srgbClr val="00B050"/>
                </a:solidFill>
                <a:latin typeface="Arial Narrow" panose="020B0606020202030204" pitchFamily="34" charset="0"/>
              </a:rPr>
              <a:t>input	aggregate/activation function	output</a:t>
            </a:r>
            <a:endParaRPr lang="pl-PL" sz="2000" b="1">
              <a:solidFill>
                <a:srgbClr val="00B050"/>
              </a:solidFill>
            </a:endParaRPr>
          </a:p>
        </p:txBody>
      </p:sp>
    </p:spTree>
    <p:extLst>
      <p:ext uri="{BB962C8B-B14F-4D97-AF65-F5344CB8AC3E}">
        <p14:creationId xmlns:p14="http://schemas.microsoft.com/office/powerpoint/2010/main" val="3400097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a:extLst>
              <a:ext uri="{FF2B5EF4-FFF2-40B4-BE49-F238E27FC236}">
                <a16:creationId xmlns:a16="http://schemas.microsoft.com/office/drawing/2014/main" id="{FE61B7AA-55BA-45D2-8266-E09340708314}"/>
              </a:ext>
            </a:extLst>
          </p:cNvPr>
          <p:cNvSpPr>
            <a:spLocks noGrp="1"/>
          </p:cNvSpPr>
          <p:nvPr>
            <p:ph type="sldNum" sz="quarter" idx="12"/>
          </p:nvPr>
        </p:nvSpPr>
        <p:spPr/>
        <p:txBody>
          <a:bodyPr/>
          <a:lstStyle/>
          <a:p>
            <a:fld id="{20D4B2D9-DB10-4EB9-B7A6-032A6D4E75AC}" type="slidenum">
              <a:rPr lang="pl-PL" smtClean="0"/>
              <a:pPr/>
              <a:t>16</a:t>
            </a:fld>
            <a:endParaRPr lang="pl-PL" dirty="0"/>
          </a:p>
        </p:txBody>
      </p:sp>
      <p:sp>
        <p:nvSpPr>
          <p:cNvPr id="5" name="TextBox 5">
            <a:extLst>
              <a:ext uri="{FF2B5EF4-FFF2-40B4-BE49-F238E27FC236}">
                <a16:creationId xmlns:a16="http://schemas.microsoft.com/office/drawing/2014/main" id="{AB572517-9A7D-438C-A30E-B58B88934D26}"/>
              </a:ext>
            </a:extLst>
          </p:cNvPr>
          <p:cNvSpPr txBox="1"/>
          <p:nvPr/>
        </p:nvSpPr>
        <p:spPr>
          <a:xfrm>
            <a:off x="0" y="304800"/>
            <a:ext cx="10668000" cy="1323582"/>
          </a:xfrm>
          <a:prstGeom prst="rect">
            <a:avLst/>
          </a:prstGeom>
          <a:noFill/>
        </p:spPr>
        <p:txBody>
          <a:bodyPr wrap="square" lIns="18000" tIns="18000" rIns="18000" bIns="18000" rtlCol="0">
            <a:noAutofit/>
          </a:bodyPr>
          <a:lstStyle/>
          <a:p>
            <a:r>
              <a:rPr lang="pl-PL" sz="2000" b="1">
                <a:latin typeface="Arial Narrow" panose="020B0606020202030204" pitchFamily="34" charset="0"/>
              </a:rPr>
              <a:t>Machine learning vs computer programming:</a:t>
            </a:r>
            <a:endParaRPr lang="pl-PL" sz="2000" b="1" dirty="0">
              <a:latin typeface="Arial Narrow" panose="020B0606020202030204" pitchFamily="34" charset="0"/>
            </a:endParaRPr>
          </a:p>
          <a:p>
            <a:r>
              <a:rPr lang="pl-PL" sz="2000">
                <a:latin typeface="Arial Narrow" panose="020B0606020202030204" pitchFamily="34" charset="0"/>
              </a:rPr>
              <a:t>In ML a</a:t>
            </a:r>
            <a:r>
              <a:rPr lang="en-US" sz="2000">
                <a:latin typeface="Arial Narrow" panose="020B0606020202030204" pitchFamily="34" charset="0"/>
              </a:rPr>
              <a:t> person enters data and the expected responses, and the computer is supposed to create rules that allow those responses to be obtained</a:t>
            </a:r>
            <a:r>
              <a:rPr lang="pl-PL" sz="2000">
                <a:latin typeface="Arial Narrow" panose="020B0606020202030204" pitchFamily="34" charset="0"/>
              </a:rPr>
              <a:t> – </a:t>
            </a:r>
            <a:r>
              <a:rPr lang="en-US" sz="2000">
                <a:latin typeface="Arial Narrow" panose="020B0606020202030204" pitchFamily="34" charset="0"/>
              </a:rPr>
              <a:t>the machine learning system is trained to discover these </a:t>
            </a:r>
            <a:r>
              <a:rPr lang="en-US" sz="2000" b="1">
                <a:solidFill>
                  <a:srgbClr val="00B050"/>
                </a:solidFill>
                <a:latin typeface="Arial Narrow" panose="020B0606020202030204" pitchFamily="34" charset="0"/>
              </a:rPr>
              <a:t>rules</a:t>
            </a:r>
            <a:r>
              <a:rPr lang="en-US" sz="2000">
                <a:latin typeface="Arial Narrow" panose="020B0606020202030204" pitchFamily="34" charset="0"/>
              </a:rPr>
              <a:t>.</a:t>
            </a:r>
            <a:endParaRPr lang="pl-PL" sz="2000" dirty="0">
              <a:latin typeface="Arial Narrow" panose="020B0606020202030204" pitchFamily="34" charset="0"/>
            </a:endParaRPr>
          </a:p>
        </p:txBody>
      </p:sp>
      <p:sp>
        <p:nvSpPr>
          <p:cNvPr id="7" name="TextBox 1">
            <a:extLst>
              <a:ext uri="{FF2B5EF4-FFF2-40B4-BE49-F238E27FC236}">
                <a16:creationId xmlns:a16="http://schemas.microsoft.com/office/drawing/2014/main" id="{A66DF784-8830-4D03-947C-083E9DBD2285}"/>
              </a:ext>
            </a:extLst>
          </p:cNvPr>
          <p:cNvSpPr txBox="1"/>
          <p:nvPr/>
        </p:nvSpPr>
        <p:spPr>
          <a:xfrm>
            <a:off x="3532274" y="1784861"/>
            <a:ext cx="1676400" cy="830997"/>
          </a:xfrm>
          <a:prstGeom prst="rect">
            <a:avLst/>
          </a:prstGeom>
          <a:noFill/>
          <a:ln>
            <a:solidFill>
              <a:schemeClr val="tx1"/>
            </a:solidFill>
          </a:ln>
        </p:spPr>
        <p:txBody>
          <a:bodyPr wrap="square" rtlCol="0">
            <a:spAutoFit/>
          </a:bodyPr>
          <a:lstStyle/>
          <a:p>
            <a:endParaRPr lang="pl-PL" sz="1400" dirty="0">
              <a:latin typeface="Arial Narrow" panose="020B0606020202030204" pitchFamily="34" charset="0"/>
            </a:endParaRPr>
          </a:p>
          <a:p>
            <a:pPr algn="ctr"/>
            <a:r>
              <a:rPr lang="pl-PL" sz="2000">
                <a:latin typeface="Arial Narrow" panose="020B0606020202030204" pitchFamily="34" charset="0"/>
              </a:rPr>
              <a:t>Programming </a:t>
            </a:r>
            <a:endParaRPr lang="pl-PL" sz="2000" dirty="0">
              <a:latin typeface="Arial Narrow" panose="020B0606020202030204" pitchFamily="34" charset="0"/>
            </a:endParaRPr>
          </a:p>
          <a:p>
            <a:endParaRPr lang="en-US" sz="1400" dirty="0">
              <a:latin typeface="Arial Narrow" panose="020B0606020202030204" pitchFamily="34" charset="0"/>
            </a:endParaRPr>
          </a:p>
        </p:txBody>
      </p:sp>
      <p:sp>
        <p:nvSpPr>
          <p:cNvPr id="8" name="TextBox 2">
            <a:extLst>
              <a:ext uri="{FF2B5EF4-FFF2-40B4-BE49-F238E27FC236}">
                <a16:creationId xmlns:a16="http://schemas.microsoft.com/office/drawing/2014/main" id="{72BF69B0-E5D9-454D-BE30-9A33E582E97E}"/>
              </a:ext>
            </a:extLst>
          </p:cNvPr>
          <p:cNvSpPr txBox="1"/>
          <p:nvPr/>
        </p:nvSpPr>
        <p:spPr>
          <a:xfrm>
            <a:off x="1715312" y="2181807"/>
            <a:ext cx="638316" cy="369332"/>
          </a:xfrm>
          <a:prstGeom prst="rect">
            <a:avLst/>
          </a:prstGeom>
          <a:noFill/>
        </p:spPr>
        <p:txBody>
          <a:bodyPr wrap="none" rtlCol="0">
            <a:spAutoFit/>
          </a:bodyPr>
          <a:lstStyle/>
          <a:p>
            <a:r>
              <a:rPr lang="pl-PL" b="1">
                <a:solidFill>
                  <a:srgbClr val="00B050"/>
                </a:solidFill>
                <a:latin typeface="Arial Narrow" panose="020B0606020202030204" pitchFamily="34" charset="0"/>
              </a:rPr>
              <a:t>rules</a:t>
            </a:r>
            <a:endParaRPr lang="en-US" b="1" dirty="0">
              <a:solidFill>
                <a:srgbClr val="00B050"/>
              </a:solidFill>
              <a:latin typeface="Arial Narrow" panose="020B0606020202030204" pitchFamily="34" charset="0"/>
            </a:endParaRPr>
          </a:p>
        </p:txBody>
      </p:sp>
      <p:sp>
        <p:nvSpPr>
          <p:cNvPr id="9" name="TextBox 17">
            <a:extLst>
              <a:ext uri="{FF2B5EF4-FFF2-40B4-BE49-F238E27FC236}">
                <a16:creationId xmlns:a16="http://schemas.microsoft.com/office/drawing/2014/main" id="{75C8DE92-2420-4D6B-AE5C-CE732239E766}"/>
              </a:ext>
            </a:extLst>
          </p:cNvPr>
          <p:cNvSpPr txBox="1"/>
          <p:nvPr/>
        </p:nvSpPr>
        <p:spPr>
          <a:xfrm>
            <a:off x="1832724" y="1752600"/>
            <a:ext cx="554960" cy="369332"/>
          </a:xfrm>
          <a:prstGeom prst="rect">
            <a:avLst/>
          </a:prstGeom>
          <a:noFill/>
        </p:spPr>
        <p:txBody>
          <a:bodyPr wrap="none" rtlCol="0">
            <a:spAutoFit/>
          </a:bodyPr>
          <a:lstStyle/>
          <a:p>
            <a:r>
              <a:rPr lang="pl-PL">
                <a:latin typeface="Arial Narrow" panose="020B0606020202030204" pitchFamily="34" charset="0"/>
              </a:rPr>
              <a:t>data</a:t>
            </a:r>
            <a:endParaRPr lang="en-US" dirty="0">
              <a:latin typeface="Arial Narrow" panose="020B0606020202030204" pitchFamily="34" charset="0"/>
            </a:endParaRPr>
          </a:p>
        </p:txBody>
      </p:sp>
      <p:sp>
        <p:nvSpPr>
          <p:cNvPr id="10" name="TextBox 18">
            <a:extLst>
              <a:ext uri="{FF2B5EF4-FFF2-40B4-BE49-F238E27FC236}">
                <a16:creationId xmlns:a16="http://schemas.microsoft.com/office/drawing/2014/main" id="{DBFC176D-550C-48AC-968E-6DEAED759952}"/>
              </a:ext>
            </a:extLst>
          </p:cNvPr>
          <p:cNvSpPr txBox="1"/>
          <p:nvPr/>
        </p:nvSpPr>
        <p:spPr>
          <a:xfrm>
            <a:off x="6299588" y="1999559"/>
            <a:ext cx="713657" cy="369332"/>
          </a:xfrm>
          <a:prstGeom prst="rect">
            <a:avLst/>
          </a:prstGeom>
          <a:noFill/>
        </p:spPr>
        <p:txBody>
          <a:bodyPr wrap="none" rtlCol="0">
            <a:spAutoFit/>
          </a:bodyPr>
          <a:lstStyle/>
          <a:p>
            <a:r>
              <a:rPr lang="pl-PL">
                <a:latin typeface="Arial Narrow" panose="020B0606020202030204" pitchFamily="34" charset="0"/>
              </a:rPr>
              <a:t>output</a:t>
            </a:r>
            <a:endParaRPr lang="en-US" dirty="0">
              <a:latin typeface="Arial Narrow" panose="020B0606020202030204" pitchFamily="34" charset="0"/>
            </a:endParaRPr>
          </a:p>
        </p:txBody>
      </p:sp>
      <p:cxnSp>
        <p:nvCxnSpPr>
          <p:cNvPr id="11" name="Straight Arrow Connector 7">
            <a:extLst>
              <a:ext uri="{FF2B5EF4-FFF2-40B4-BE49-F238E27FC236}">
                <a16:creationId xmlns:a16="http://schemas.microsoft.com/office/drawing/2014/main" id="{123B1DC0-ED95-466F-AC10-D50ABA469299}"/>
              </a:ext>
            </a:extLst>
          </p:cNvPr>
          <p:cNvCxnSpPr/>
          <p:nvPr/>
        </p:nvCxnSpPr>
        <p:spPr>
          <a:xfrm>
            <a:off x="2389274" y="1981200"/>
            <a:ext cx="1143000" cy="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9">
            <a:extLst>
              <a:ext uri="{FF2B5EF4-FFF2-40B4-BE49-F238E27FC236}">
                <a16:creationId xmlns:a16="http://schemas.microsoft.com/office/drawing/2014/main" id="{454AA6EB-ABF1-4939-BFB0-FC719CA52BD5}"/>
              </a:ext>
            </a:extLst>
          </p:cNvPr>
          <p:cNvCxnSpPr/>
          <p:nvPr/>
        </p:nvCxnSpPr>
        <p:spPr>
          <a:xfrm>
            <a:off x="2389274" y="2398739"/>
            <a:ext cx="1143000" cy="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20">
            <a:extLst>
              <a:ext uri="{FF2B5EF4-FFF2-40B4-BE49-F238E27FC236}">
                <a16:creationId xmlns:a16="http://schemas.microsoft.com/office/drawing/2014/main" id="{63C07BC7-5112-4191-BD2B-32EA8EBFFD85}"/>
              </a:ext>
            </a:extLst>
          </p:cNvPr>
          <p:cNvCxnSpPr/>
          <p:nvPr/>
        </p:nvCxnSpPr>
        <p:spPr>
          <a:xfrm>
            <a:off x="5220249" y="2207375"/>
            <a:ext cx="1143000" cy="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21">
            <a:extLst>
              <a:ext uri="{FF2B5EF4-FFF2-40B4-BE49-F238E27FC236}">
                <a16:creationId xmlns:a16="http://schemas.microsoft.com/office/drawing/2014/main" id="{12011F8E-86A4-40B0-AFBC-B8CC5FB0667E}"/>
              </a:ext>
            </a:extLst>
          </p:cNvPr>
          <p:cNvSpPr txBox="1"/>
          <p:nvPr/>
        </p:nvSpPr>
        <p:spPr>
          <a:xfrm>
            <a:off x="3532274" y="3510024"/>
            <a:ext cx="1676400" cy="707886"/>
          </a:xfrm>
          <a:prstGeom prst="rect">
            <a:avLst/>
          </a:prstGeom>
          <a:noFill/>
          <a:ln>
            <a:solidFill>
              <a:schemeClr val="tx1"/>
            </a:solidFill>
          </a:ln>
        </p:spPr>
        <p:txBody>
          <a:bodyPr wrap="square" rtlCol="0" anchor="ctr" anchorCtr="0">
            <a:spAutoFit/>
          </a:bodyPr>
          <a:lstStyle/>
          <a:p>
            <a:pPr algn="ctr"/>
            <a:r>
              <a:rPr lang="pl-PL" sz="2000">
                <a:latin typeface="Arial Narrow" panose="020B0606020202030204" pitchFamily="34" charset="0"/>
              </a:rPr>
              <a:t>Machine</a:t>
            </a:r>
            <a:br>
              <a:rPr lang="pl-PL" sz="2000">
                <a:latin typeface="Arial Narrow" panose="020B0606020202030204" pitchFamily="34" charset="0"/>
              </a:rPr>
            </a:br>
            <a:r>
              <a:rPr lang="pl-PL" sz="2000">
                <a:latin typeface="Arial Narrow" panose="020B0606020202030204" pitchFamily="34" charset="0"/>
              </a:rPr>
              <a:t>Learning</a:t>
            </a:r>
            <a:endParaRPr lang="pl-PL" sz="2000" dirty="0">
              <a:latin typeface="Arial Narrow" panose="020B0606020202030204" pitchFamily="34" charset="0"/>
            </a:endParaRPr>
          </a:p>
        </p:txBody>
      </p:sp>
      <p:sp>
        <p:nvSpPr>
          <p:cNvPr id="15" name="TextBox 22">
            <a:extLst>
              <a:ext uri="{FF2B5EF4-FFF2-40B4-BE49-F238E27FC236}">
                <a16:creationId xmlns:a16="http://schemas.microsoft.com/office/drawing/2014/main" id="{21131AE4-BFF3-4125-9355-4843F8E90C53}"/>
              </a:ext>
            </a:extLst>
          </p:cNvPr>
          <p:cNvSpPr txBox="1"/>
          <p:nvPr/>
        </p:nvSpPr>
        <p:spPr>
          <a:xfrm>
            <a:off x="1524001" y="3874725"/>
            <a:ext cx="944489" cy="369332"/>
          </a:xfrm>
          <a:prstGeom prst="rect">
            <a:avLst/>
          </a:prstGeom>
          <a:noFill/>
        </p:spPr>
        <p:txBody>
          <a:bodyPr wrap="none" rtlCol="0">
            <a:spAutoFit/>
          </a:bodyPr>
          <a:lstStyle/>
          <a:p>
            <a:r>
              <a:rPr lang="pl-PL">
                <a:latin typeface="Arial Narrow" panose="020B0606020202030204" pitchFamily="34" charset="0"/>
              </a:rPr>
              <a:t>output(?)</a:t>
            </a:r>
            <a:endParaRPr lang="en-US" dirty="0">
              <a:latin typeface="Arial Narrow" panose="020B0606020202030204" pitchFamily="34" charset="0"/>
            </a:endParaRPr>
          </a:p>
        </p:txBody>
      </p:sp>
      <p:sp>
        <p:nvSpPr>
          <p:cNvPr id="16" name="TextBox 23">
            <a:extLst>
              <a:ext uri="{FF2B5EF4-FFF2-40B4-BE49-F238E27FC236}">
                <a16:creationId xmlns:a16="http://schemas.microsoft.com/office/drawing/2014/main" id="{D7A5FA6F-D3E4-42EE-8D93-E3C17A365EB6}"/>
              </a:ext>
            </a:extLst>
          </p:cNvPr>
          <p:cNvSpPr txBox="1"/>
          <p:nvPr/>
        </p:nvSpPr>
        <p:spPr>
          <a:xfrm>
            <a:off x="1832724" y="3410338"/>
            <a:ext cx="554960" cy="369332"/>
          </a:xfrm>
          <a:prstGeom prst="rect">
            <a:avLst/>
          </a:prstGeom>
          <a:noFill/>
        </p:spPr>
        <p:txBody>
          <a:bodyPr wrap="none" rtlCol="0">
            <a:spAutoFit/>
          </a:bodyPr>
          <a:lstStyle/>
          <a:p>
            <a:r>
              <a:rPr lang="pl-PL">
                <a:latin typeface="Arial Narrow" panose="020B0606020202030204" pitchFamily="34" charset="0"/>
              </a:rPr>
              <a:t>data</a:t>
            </a:r>
            <a:endParaRPr lang="en-US" dirty="0">
              <a:latin typeface="Arial Narrow" panose="020B0606020202030204" pitchFamily="34" charset="0"/>
            </a:endParaRPr>
          </a:p>
        </p:txBody>
      </p:sp>
      <p:sp>
        <p:nvSpPr>
          <p:cNvPr id="17" name="TextBox 24">
            <a:extLst>
              <a:ext uri="{FF2B5EF4-FFF2-40B4-BE49-F238E27FC236}">
                <a16:creationId xmlns:a16="http://schemas.microsoft.com/office/drawing/2014/main" id="{73C55C27-964E-4772-AB37-1F40F84FA815}"/>
              </a:ext>
            </a:extLst>
          </p:cNvPr>
          <p:cNvSpPr txBox="1"/>
          <p:nvPr/>
        </p:nvSpPr>
        <p:spPr>
          <a:xfrm>
            <a:off x="6299587" y="3638938"/>
            <a:ext cx="638316" cy="369332"/>
          </a:xfrm>
          <a:prstGeom prst="rect">
            <a:avLst/>
          </a:prstGeom>
          <a:noFill/>
        </p:spPr>
        <p:txBody>
          <a:bodyPr wrap="none" rtlCol="0">
            <a:spAutoFit/>
          </a:bodyPr>
          <a:lstStyle/>
          <a:p>
            <a:r>
              <a:rPr lang="pl-PL" b="1">
                <a:solidFill>
                  <a:srgbClr val="00B050"/>
                </a:solidFill>
                <a:latin typeface="Arial Narrow" panose="020B0606020202030204" pitchFamily="34" charset="0"/>
              </a:rPr>
              <a:t>rules</a:t>
            </a:r>
            <a:endParaRPr lang="en-US" b="1" dirty="0">
              <a:solidFill>
                <a:srgbClr val="00B050"/>
              </a:solidFill>
              <a:latin typeface="Arial Narrow" panose="020B0606020202030204" pitchFamily="34" charset="0"/>
            </a:endParaRPr>
          </a:p>
        </p:txBody>
      </p:sp>
      <p:cxnSp>
        <p:nvCxnSpPr>
          <p:cNvPr id="18" name="Straight Arrow Connector 25">
            <a:extLst>
              <a:ext uri="{FF2B5EF4-FFF2-40B4-BE49-F238E27FC236}">
                <a16:creationId xmlns:a16="http://schemas.microsoft.com/office/drawing/2014/main" id="{92796427-FD91-4290-99A2-1E12A91A9198}"/>
              </a:ext>
            </a:extLst>
          </p:cNvPr>
          <p:cNvCxnSpPr/>
          <p:nvPr/>
        </p:nvCxnSpPr>
        <p:spPr>
          <a:xfrm>
            <a:off x="2389274" y="3638938"/>
            <a:ext cx="1143000" cy="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26">
            <a:extLst>
              <a:ext uri="{FF2B5EF4-FFF2-40B4-BE49-F238E27FC236}">
                <a16:creationId xmlns:a16="http://schemas.microsoft.com/office/drawing/2014/main" id="{77B5C1C4-23A1-4F62-B543-2B6B8F0F6B31}"/>
              </a:ext>
            </a:extLst>
          </p:cNvPr>
          <p:cNvCxnSpPr/>
          <p:nvPr/>
        </p:nvCxnSpPr>
        <p:spPr>
          <a:xfrm>
            <a:off x="2389274" y="4091657"/>
            <a:ext cx="1143000" cy="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27">
            <a:extLst>
              <a:ext uri="{FF2B5EF4-FFF2-40B4-BE49-F238E27FC236}">
                <a16:creationId xmlns:a16="http://schemas.microsoft.com/office/drawing/2014/main" id="{EEF566A1-2AED-4CCF-9A48-C9BFCF4E362E}"/>
              </a:ext>
            </a:extLst>
          </p:cNvPr>
          <p:cNvCxnSpPr/>
          <p:nvPr/>
        </p:nvCxnSpPr>
        <p:spPr>
          <a:xfrm>
            <a:off x="5220249" y="3846754"/>
            <a:ext cx="1143000" cy="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8">
            <a:extLst>
              <a:ext uri="{FF2B5EF4-FFF2-40B4-BE49-F238E27FC236}">
                <a16:creationId xmlns:a16="http://schemas.microsoft.com/office/drawing/2014/main" id="{E84012ED-C19B-4096-9C22-C1E45B8E1014}"/>
              </a:ext>
            </a:extLst>
          </p:cNvPr>
          <p:cNvSpPr txBox="1"/>
          <p:nvPr/>
        </p:nvSpPr>
        <p:spPr>
          <a:xfrm>
            <a:off x="8104658" y="1988614"/>
            <a:ext cx="2092239" cy="2031325"/>
          </a:xfrm>
          <a:prstGeom prst="rect">
            <a:avLst/>
          </a:prstGeom>
          <a:noFill/>
        </p:spPr>
        <p:txBody>
          <a:bodyPr wrap="none" rtlCol="0">
            <a:spAutoFit/>
          </a:bodyPr>
          <a:lstStyle/>
          <a:p>
            <a:r>
              <a:rPr lang="pl-PL">
                <a:latin typeface="Arial Narrow" panose="020B0606020202030204" pitchFamily="34" charset="0"/>
              </a:rPr>
              <a:t>deterministic approach</a:t>
            </a:r>
            <a:endParaRPr lang="pl-PL" dirty="0">
              <a:latin typeface="Arial Narrow" panose="020B0606020202030204" pitchFamily="34" charset="0"/>
            </a:endParaRPr>
          </a:p>
          <a:p>
            <a:endParaRPr lang="pl-PL" dirty="0">
              <a:latin typeface="Arial Narrow" panose="020B0606020202030204" pitchFamily="34" charset="0"/>
            </a:endParaRPr>
          </a:p>
          <a:p>
            <a:endParaRPr lang="pl-PL" dirty="0">
              <a:latin typeface="Arial Narrow" panose="020B0606020202030204" pitchFamily="34" charset="0"/>
            </a:endParaRPr>
          </a:p>
          <a:p>
            <a:endParaRPr lang="pl-PL" dirty="0">
              <a:latin typeface="Arial Narrow" panose="020B0606020202030204" pitchFamily="34" charset="0"/>
            </a:endParaRPr>
          </a:p>
          <a:p>
            <a:endParaRPr lang="pl-PL" dirty="0">
              <a:latin typeface="Arial Narrow" panose="020B0606020202030204" pitchFamily="34" charset="0"/>
            </a:endParaRPr>
          </a:p>
          <a:p>
            <a:endParaRPr lang="pl-PL" dirty="0">
              <a:latin typeface="Arial Narrow" panose="020B0606020202030204" pitchFamily="34" charset="0"/>
            </a:endParaRPr>
          </a:p>
          <a:p>
            <a:r>
              <a:rPr lang="pl-PL">
                <a:latin typeface="Arial Narrow" panose="020B0606020202030204" pitchFamily="34" charset="0"/>
              </a:rPr>
              <a:t>probabilistic approach</a:t>
            </a:r>
            <a:endParaRPr lang="en-US" dirty="0">
              <a:latin typeface="Arial Narrow" panose="020B0606020202030204" pitchFamily="34" charset="0"/>
            </a:endParaRPr>
          </a:p>
        </p:txBody>
      </p:sp>
      <p:sp>
        <p:nvSpPr>
          <p:cNvPr id="3" name="Rectangle 2">
            <a:extLst>
              <a:ext uri="{FF2B5EF4-FFF2-40B4-BE49-F238E27FC236}">
                <a16:creationId xmlns:a16="http://schemas.microsoft.com/office/drawing/2014/main" id="{7932F4C0-876A-114A-8EF0-21598BE4F1A2}"/>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a:latin typeface="Arial" pitchFamily="34" charset="0"/>
                <a:ea typeface="+mj-lt"/>
                <a:cs typeface="Arial" pitchFamily="34" charset="0"/>
              </a:rPr>
              <a:t>Introduction</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3008499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034E02F-8118-F56D-446E-1936DBC37F0E}"/>
              </a:ext>
            </a:extLst>
          </p:cNvPr>
          <p:cNvSpPr>
            <a:spLocks noGrp="1"/>
          </p:cNvSpPr>
          <p:nvPr>
            <p:ph type="sldNum" sz="quarter" idx="12"/>
          </p:nvPr>
        </p:nvSpPr>
        <p:spPr/>
        <p:txBody>
          <a:bodyPr/>
          <a:lstStyle/>
          <a:p>
            <a:fld id="{20D4B2D9-DB10-4EB9-B7A6-032A6D4E75AC}" type="slidenum">
              <a:rPr lang="pl-PL" smtClean="0"/>
              <a:pPr/>
              <a:t>17</a:t>
            </a:fld>
            <a:endParaRPr lang="pl-PL" dirty="0"/>
          </a:p>
        </p:txBody>
      </p:sp>
      <p:sp>
        <p:nvSpPr>
          <p:cNvPr id="22" name="TextBox 5">
            <a:extLst>
              <a:ext uri="{FF2B5EF4-FFF2-40B4-BE49-F238E27FC236}">
                <a16:creationId xmlns:a16="http://schemas.microsoft.com/office/drawing/2014/main" id="{AB572517-9A7D-438C-A30E-B58B88934D26}"/>
              </a:ext>
            </a:extLst>
          </p:cNvPr>
          <p:cNvSpPr txBox="1"/>
          <p:nvPr/>
        </p:nvSpPr>
        <p:spPr>
          <a:xfrm>
            <a:off x="0" y="381000"/>
            <a:ext cx="10683240" cy="3048000"/>
          </a:xfrm>
          <a:prstGeom prst="rect">
            <a:avLst/>
          </a:prstGeom>
          <a:noFill/>
        </p:spPr>
        <p:txBody>
          <a:bodyPr wrap="square" lIns="18000" tIns="18000" rIns="18000" bIns="18000" rtlCol="0">
            <a:noAutofit/>
          </a:bodyPr>
          <a:lstStyle/>
          <a:p>
            <a:r>
              <a:rPr lang="pl-PL" sz="2000" b="1">
                <a:latin typeface="Arial Narrow" panose="020B0606020202030204" pitchFamily="34" charset="0"/>
              </a:rPr>
              <a:t>prof</a:t>
            </a:r>
            <a:r>
              <a:rPr lang="pl-PL" sz="2000" b="1" dirty="0">
                <a:latin typeface="Arial Narrow" panose="020B0606020202030204" pitchFamily="34" charset="0"/>
              </a:rPr>
              <a:t>. </a:t>
            </a:r>
            <a:r>
              <a:rPr lang="pl-PL" sz="2000" b="1">
                <a:latin typeface="Arial Narrow" panose="020B0606020202030204" pitchFamily="34" charset="0"/>
              </a:rPr>
              <a:t>Tom Mitchel</a:t>
            </a:r>
            <a:r>
              <a:rPr lang="pl-PL" sz="2000">
                <a:latin typeface="Arial Narrow" panose="020B0606020202030204" pitchFamily="34" charset="0"/>
              </a:rPr>
              <a:t>:</a:t>
            </a:r>
            <a:endParaRPr lang="pl-PL" sz="2000" b="1" dirty="0">
              <a:latin typeface="Arial Narrow" panose="020B0606020202030204" pitchFamily="34" charset="0"/>
            </a:endParaRPr>
          </a:p>
          <a:p>
            <a:r>
              <a:rPr lang="en-US" sz="2000">
                <a:latin typeface="Arial Narrow" panose="020B0606020202030204" pitchFamily="34" charset="0"/>
              </a:rPr>
              <a:t>A computer program is said to learn from experience E with respect to some class of tasks T and performance measure P, if its performance at tasks in T, as measured by P, improves with experience E.</a:t>
            </a:r>
            <a:endParaRPr lang="pl-PL" sz="2000">
              <a:latin typeface="Arial Narrow" panose="020B0606020202030204" pitchFamily="34" charset="0"/>
            </a:endParaRPr>
          </a:p>
          <a:p>
            <a:endParaRPr lang="pl-PL" sz="2000">
              <a:latin typeface="Arial Narrow" panose="020B0606020202030204" pitchFamily="34" charset="0"/>
            </a:endParaRPr>
          </a:p>
          <a:p>
            <a:r>
              <a:rPr lang="en-US" sz="2000">
                <a:latin typeface="Arial Narrow" panose="020B0606020202030204" pitchFamily="34" charset="0"/>
              </a:rPr>
              <a:t>T (Task): </a:t>
            </a:r>
            <a:r>
              <a:rPr lang="pl-PL" sz="2000">
                <a:latin typeface="Arial Narrow" panose="020B0606020202030204" pitchFamily="34" charset="0"/>
              </a:rPr>
              <a:t>		</a:t>
            </a:r>
            <a:r>
              <a:rPr lang="en-US" sz="2000">
                <a:latin typeface="Arial Narrow" panose="020B0606020202030204" pitchFamily="34" charset="0"/>
              </a:rPr>
              <a:t>What the system is trying to do (e.g., classify emails as spam)</a:t>
            </a:r>
            <a:endParaRPr lang="pl-PL" sz="2000">
              <a:latin typeface="Arial Narrow" panose="020B0606020202030204" pitchFamily="34" charset="0"/>
            </a:endParaRPr>
          </a:p>
          <a:p>
            <a:r>
              <a:rPr lang="en-US" sz="2000">
                <a:latin typeface="Arial Narrow" panose="020B0606020202030204" pitchFamily="34" charset="0"/>
              </a:rPr>
              <a:t>E (Experience): </a:t>
            </a:r>
            <a:r>
              <a:rPr lang="pl-PL" sz="2000">
                <a:latin typeface="Arial Narrow" panose="020B0606020202030204" pitchFamily="34" charset="0"/>
              </a:rPr>
              <a:t>	</a:t>
            </a:r>
            <a:r>
              <a:rPr lang="en-US" sz="2000">
                <a:latin typeface="Arial Narrow" panose="020B0606020202030204" pitchFamily="34" charset="0"/>
              </a:rPr>
              <a:t>The data it learns from (e.g., past emails)</a:t>
            </a:r>
            <a:endParaRPr lang="pl-PL" sz="2000">
              <a:latin typeface="Arial Narrow" panose="020B0606020202030204" pitchFamily="34" charset="0"/>
            </a:endParaRPr>
          </a:p>
          <a:p>
            <a:r>
              <a:rPr lang="en-US" sz="2000">
                <a:latin typeface="Arial Narrow" panose="020B0606020202030204" pitchFamily="34" charset="0"/>
              </a:rPr>
              <a:t>P (Performance): </a:t>
            </a:r>
            <a:r>
              <a:rPr lang="pl-PL" sz="2000">
                <a:latin typeface="Arial Narrow" panose="020B0606020202030204" pitchFamily="34" charset="0"/>
              </a:rPr>
              <a:t>	</a:t>
            </a:r>
            <a:r>
              <a:rPr lang="en-US" sz="2000">
                <a:latin typeface="Arial Narrow" panose="020B0606020202030204" pitchFamily="34" charset="0"/>
              </a:rPr>
              <a:t>How well it performs (e.g., accuracy)</a:t>
            </a:r>
            <a:endParaRPr lang="pl-PL" sz="2000">
              <a:latin typeface="Arial Narrow" panose="020B0606020202030204" pitchFamily="34" charset="0"/>
            </a:endParaRPr>
          </a:p>
          <a:p>
            <a:endParaRPr lang="pl-PL" sz="2000">
              <a:latin typeface="Arial Narrow" panose="020B0606020202030204" pitchFamily="34" charset="0"/>
            </a:endParaRPr>
          </a:p>
          <a:p>
            <a:r>
              <a:rPr lang="pl-PL" sz="2000">
                <a:latin typeface="Arial Narrow" panose="020B0606020202030204" pitchFamily="34" charset="0"/>
              </a:rPr>
              <a:t>Simply:</a:t>
            </a:r>
          </a:p>
          <a:p>
            <a:r>
              <a:rPr lang="en-US" sz="2000">
                <a:latin typeface="Arial Narrow" panose="020B0606020202030204" pitchFamily="34" charset="0"/>
              </a:rPr>
              <a:t>A machine “learns” if it gets better at a task by using experience (data).</a:t>
            </a:r>
            <a:endParaRPr lang="pl-PL" sz="2000" dirty="0">
              <a:latin typeface="Arial Narrow" panose="020B0606020202030204" pitchFamily="34" charset="0"/>
            </a:endParaRPr>
          </a:p>
        </p:txBody>
      </p:sp>
      <p:sp>
        <p:nvSpPr>
          <p:cNvPr id="3" name="Rectangle 2">
            <a:extLst>
              <a:ext uri="{FF2B5EF4-FFF2-40B4-BE49-F238E27FC236}">
                <a16:creationId xmlns:a16="http://schemas.microsoft.com/office/drawing/2014/main" id="{9DAA03D8-DBD2-14AE-3BED-0340BF0CFBBF}"/>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a:latin typeface="Arial" pitchFamily="34" charset="0"/>
                <a:ea typeface="+mj-lt"/>
                <a:cs typeface="Arial" pitchFamily="34" charset="0"/>
              </a:rPr>
              <a:t>Introduction</a:t>
            </a:r>
            <a:endParaRPr lang="en-GB" sz="4400" dirty="0">
              <a:latin typeface="Arial" pitchFamily="34" charset="0"/>
              <a:ea typeface="+mj-lt"/>
              <a:cs typeface="Arial" pitchFamily="34" charset="0"/>
            </a:endParaRPr>
          </a:p>
        </p:txBody>
      </p:sp>
      <p:pic>
        <p:nvPicPr>
          <p:cNvPr id="5" name="Picture 4">
            <a:extLst>
              <a:ext uri="{FF2B5EF4-FFF2-40B4-BE49-F238E27FC236}">
                <a16:creationId xmlns:a16="http://schemas.microsoft.com/office/drawing/2014/main" id="{6B55BC63-5E15-7C4E-C648-8A70443D83A6}"/>
              </a:ext>
            </a:extLst>
          </p:cNvPr>
          <p:cNvPicPr>
            <a:picLocks noChangeAspect="1"/>
          </p:cNvPicPr>
          <p:nvPr/>
        </p:nvPicPr>
        <p:blipFill>
          <a:blip r:embed="rId2"/>
          <a:stretch>
            <a:fillRect/>
          </a:stretch>
        </p:blipFill>
        <p:spPr>
          <a:xfrm>
            <a:off x="6629400" y="2393951"/>
            <a:ext cx="5547360" cy="3962400"/>
          </a:xfrm>
          <a:prstGeom prst="rect">
            <a:avLst/>
          </a:prstGeom>
        </p:spPr>
      </p:pic>
    </p:spTree>
    <p:extLst>
      <p:ext uri="{BB962C8B-B14F-4D97-AF65-F5344CB8AC3E}">
        <p14:creationId xmlns:p14="http://schemas.microsoft.com/office/powerpoint/2010/main" val="15227933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585944C-E745-42E6-8893-BCA143753ECD}"/>
              </a:ext>
            </a:extLst>
          </p:cNvPr>
          <p:cNvSpPr>
            <a:spLocks noGrp="1"/>
          </p:cNvSpPr>
          <p:nvPr>
            <p:ph type="sldNum" sz="quarter" idx="12"/>
          </p:nvPr>
        </p:nvSpPr>
        <p:spPr/>
        <p:txBody>
          <a:bodyPr/>
          <a:lstStyle/>
          <a:p>
            <a:fld id="{20D4B2D9-DB10-4EB9-B7A6-032A6D4E75AC}" type="slidenum">
              <a:rPr lang="pl-PL" smtClean="0"/>
              <a:pPr/>
              <a:t>18</a:t>
            </a:fld>
            <a:endParaRPr lang="pl-PL" dirty="0"/>
          </a:p>
        </p:txBody>
      </p:sp>
      <p:sp>
        <p:nvSpPr>
          <p:cNvPr id="5" name="TextBox 4">
            <a:extLst>
              <a:ext uri="{FF2B5EF4-FFF2-40B4-BE49-F238E27FC236}">
                <a16:creationId xmlns:a16="http://schemas.microsoft.com/office/drawing/2014/main" id="{67A6A3A8-B263-F09A-1D78-C9FE88A7E87F}"/>
              </a:ext>
            </a:extLst>
          </p:cNvPr>
          <p:cNvSpPr txBox="1"/>
          <p:nvPr/>
        </p:nvSpPr>
        <p:spPr>
          <a:xfrm>
            <a:off x="0" y="304800"/>
            <a:ext cx="10668000" cy="6019800"/>
          </a:xfrm>
          <a:prstGeom prst="rect">
            <a:avLst/>
          </a:prstGeom>
          <a:noFill/>
        </p:spPr>
        <p:txBody>
          <a:bodyPr wrap="square" lIns="18000" tIns="18000" rIns="18000" bIns="18000" rtlCol="0">
            <a:noAutofit/>
          </a:bodyPr>
          <a:lstStyle/>
          <a:p>
            <a:r>
              <a:rPr lang="pl-PL" sz="2000" b="1" dirty="0">
                <a:latin typeface="Arial Narrow" panose="020B0606020202030204" pitchFamily="34" charset="0"/>
              </a:rPr>
              <a:t>The machine learning process:</a:t>
            </a:r>
            <a:endParaRPr lang="pl-PL" sz="2000" dirty="0">
              <a:latin typeface="Arial Narrow" panose="020B0606020202030204" pitchFamily="34" charset="0"/>
            </a:endParaRPr>
          </a:p>
          <a:p>
            <a:pPr algn="ctr">
              <a:spcBef>
                <a:spcPts val="600"/>
              </a:spcBef>
            </a:pPr>
            <a:r>
              <a:rPr lang="pl-PL" sz="2000" b="1" dirty="0">
                <a:solidFill>
                  <a:srgbClr val="0000FF"/>
                </a:solidFill>
                <a:latin typeface="Arial Narrow" panose="020B0606020202030204" pitchFamily="34" charset="0"/>
              </a:rPr>
              <a:t>1. Problem identification</a:t>
            </a:r>
            <a:br>
              <a:rPr lang="pl-PL" sz="2000" dirty="0">
                <a:solidFill>
                  <a:srgbClr val="0000FF"/>
                </a:solidFill>
                <a:latin typeface="Arial Narrow" panose="020B0606020202030204" pitchFamily="34" charset="0"/>
              </a:rPr>
            </a:br>
            <a:r>
              <a:rPr lang="pl-PL" dirty="0">
                <a:solidFill>
                  <a:srgbClr val="0000FF"/>
                </a:solidFill>
                <a:latin typeface="Arial Narrow" panose="020B0606020202030204" pitchFamily="34" charset="0"/>
              </a:rPr>
              <a:t>(</a:t>
            </a:r>
            <a:r>
              <a:rPr lang="en-US" dirty="0">
                <a:solidFill>
                  <a:srgbClr val="0000FF"/>
                </a:solidFill>
                <a:latin typeface="Arial Narrow" panose="020B0606020202030204" pitchFamily="34" charset="0"/>
              </a:rPr>
              <a:t>What is the model supposed to learn, and what will it be used for?</a:t>
            </a:r>
            <a:r>
              <a:rPr lang="pl-PL" dirty="0">
                <a:solidFill>
                  <a:srgbClr val="0000FF"/>
                </a:solidFill>
                <a:latin typeface="Arial Narrow" panose="020B0606020202030204" pitchFamily="34" charset="0"/>
              </a:rPr>
              <a:t>)</a:t>
            </a:r>
            <a:endParaRPr lang="pl-PL" sz="2000" dirty="0">
              <a:solidFill>
                <a:srgbClr val="0000FF"/>
              </a:solidFill>
              <a:latin typeface="Arial Narrow" panose="020B0606020202030204" pitchFamily="34" charset="0"/>
            </a:endParaRPr>
          </a:p>
          <a:p>
            <a:pPr algn="ctr"/>
            <a:endParaRPr lang="pl-PL" sz="2000" dirty="0">
              <a:solidFill>
                <a:srgbClr val="0000FF"/>
              </a:solidFill>
              <a:latin typeface="Arial Narrow" panose="020B0606020202030204" pitchFamily="34" charset="0"/>
            </a:endParaRPr>
          </a:p>
          <a:p>
            <a:pPr algn="ctr">
              <a:spcBef>
                <a:spcPts val="600"/>
              </a:spcBef>
            </a:pPr>
            <a:r>
              <a:rPr lang="pl-PL" sz="2000" b="1" dirty="0">
                <a:solidFill>
                  <a:srgbClr val="0000FF"/>
                </a:solidFill>
                <a:latin typeface="Arial Narrow" panose="020B0606020202030204" pitchFamily="34" charset="0"/>
              </a:rPr>
              <a:t>2. Data collection and preparation </a:t>
            </a:r>
            <a:br>
              <a:rPr lang="pl-PL" sz="2000" dirty="0">
                <a:solidFill>
                  <a:srgbClr val="0000FF"/>
                </a:solidFill>
                <a:latin typeface="Arial Narrow" panose="020B0606020202030204" pitchFamily="34" charset="0"/>
              </a:rPr>
            </a:br>
            <a:r>
              <a:rPr lang="pl-PL" sz="2000" dirty="0">
                <a:solidFill>
                  <a:srgbClr val="0000FF"/>
                </a:solidFill>
                <a:latin typeface="Arial Narrow" panose="020B0606020202030204" pitchFamily="34" charset="0"/>
              </a:rPr>
              <a:t>(t</a:t>
            </a:r>
            <a:r>
              <a:rPr lang="en-US" sz="2000" dirty="0">
                <a:solidFill>
                  <a:srgbClr val="0000FF"/>
                </a:solidFill>
                <a:latin typeface="Arial Narrow" panose="020B0606020202030204" pitchFamily="34" charset="0"/>
              </a:rPr>
              <a:t>he data must be of high quality, representative, consistent, and free of noise</a:t>
            </a:r>
            <a:r>
              <a:rPr lang="pl-PL" sz="2000" dirty="0">
                <a:solidFill>
                  <a:srgbClr val="0000FF"/>
                </a:solidFill>
                <a:latin typeface="Arial Narrow" panose="020B0606020202030204" pitchFamily="34" charset="0"/>
              </a:rPr>
              <a:t>)</a:t>
            </a:r>
          </a:p>
          <a:p>
            <a:pPr algn="ctr"/>
            <a:endParaRPr lang="pl-PL" sz="2000" dirty="0">
              <a:latin typeface="Arial Narrow" panose="020B0606020202030204" pitchFamily="34" charset="0"/>
            </a:endParaRPr>
          </a:p>
          <a:p>
            <a:pPr algn="ctr"/>
            <a:r>
              <a:rPr lang="pl-PL" sz="2000" b="1" dirty="0">
                <a:latin typeface="Arial Narrow" panose="020B0606020202030204" pitchFamily="34" charset="0"/>
              </a:rPr>
              <a:t>3. </a:t>
            </a:r>
            <a:r>
              <a:rPr lang="en-US" sz="2000" b="1" dirty="0">
                <a:latin typeface="Arial Narrow" panose="020B0606020202030204" pitchFamily="34" charset="0"/>
              </a:rPr>
              <a:t>Dividing data</a:t>
            </a:r>
            <a:r>
              <a:rPr lang="pl-PL" sz="2000" b="1" dirty="0">
                <a:latin typeface="Arial Narrow" panose="020B0606020202030204" pitchFamily="34" charset="0"/>
              </a:rPr>
              <a:t>set</a:t>
            </a:r>
            <a:r>
              <a:rPr lang="en-US" sz="2000" b="1" dirty="0">
                <a:latin typeface="Arial Narrow" panose="020B0606020202030204" pitchFamily="34" charset="0"/>
              </a:rPr>
              <a:t> into </a:t>
            </a:r>
            <a:r>
              <a:rPr lang="pl-PL" sz="2000" b="1" dirty="0">
                <a:latin typeface="Arial Narrow" panose="020B0606020202030204" pitchFamily="34" charset="0"/>
              </a:rPr>
              <a:t>the </a:t>
            </a:r>
            <a:r>
              <a:rPr lang="en-US" sz="2000" b="1" dirty="0">
                <a:solidFill>
                  <a:srgbClr val="FF0000"/>
                </a:solidFill>
                <a:latin typeface="Arial Narrow" panose="020B0606020202030204" pitchFamily="34" charset="0"/>
              </a:rPr>
              <a:t>training</a:t>
            </a:r>
            <a:r>
              <a:rPr lang="en-US" sz="2000" b="1" dirty="0">
                <a:latin typeface="Arial Narrow" panose="020B0606020202030204" pitchFamily="34" charset="0"/>
              </a:rPr>
              <a:t> </a:t>
            </a:r>
            <a:r>
              <a:rPr lang="pl-PL" sz="2000" b="1" dirty="0">
                <a:latin typeface="Arial Narrow" panose="020B0606020202030204" pitchFamily="34" charset="0"/>
              </a:rPr>
              <a:t>(sometimes also </a:t>
            </a:r>
            <a:r>
              <a:rPr lang="pl-PL" sz="2000" b="1" dirty="0">
                <a:solidFill>
                  <a:srgbClr val="FF0000"/>
                </a:solidFill>
                <a:latin typeface="Arial Narrow" panose="020B0606020202030204" pitchFamily="34" charset="0"/>
              </a:rPr>
              <a:t>validating</a:t>
            </a:r>
            <a:r>
              <a:rPr lang="pl-PL" sz="2000" b="1" dirty="0">
                <a:latin typeface="Arial Narrow" panose="020B0606020202030204" pitchFamily="34" charset="0"/>
              </a:rPr>
              <a:t>) </a:t>
            </a:r>
            <a:r>
              <a:rPr lang="en-US" sz="2000" b="1" dirty="0">
                <a:latin typeface="Arial Narrow" panose="020B0606020202030204" pitchFamily="34" charset="0"/>
              </a:rPr>
              <a:t>and </a:t>
            </a:r>
            <a:r>
              <a:rPr lang="en-US" sz="2000" b="1" dirty="0">
                <a:solidFill>
                  <a:srgbClr val="FF0000"/>
                </a:solidFill>
                <a:latin typeface="Arial Narrow" panose="020B0606020202030204" pitchFamily="34" charset="0"/>
              </a:rPr>
              <a:t>test</a:t>
            </a:r>
            <a:r>
              <a:rPr lang="pl-PL" sz="2000" b="1" dirty="0">
                <a:solidFill>
                  <a:srgbClr val="FF0000"/>
                </a:solidFill>
                <a:latin typeface="Arial Narrow" panose="020B0606020202030204" pitchFamily="34" charset="0"/>
              </a:rPr>
              <a:t>ing</a:t>
            </a:r>
            <a:r>
              <a:rPr lang="en-US" sz="2000" b="1" dirty="0">
                <a:latin typeface="Arial Narrow" panose="020B0606020202030204" pitchFamily="34" charset="0"/>
              </a:rPr>
              <a:t> </a:t>
            </a:r>
            <a:r>
              <a:rPr lang="pl-PL" sz="2000" b="1" dirty="0">
                <a:latin typeface="Arial Narrow" panose="020B0606020202030204" pitchFamily="34" charset="0"/>
              </a:rPr>
              <a:t>data</a:t>
            </a:r>
            <a:r>
              <a:rPr lang="en-US" sz="2000" b="1" dirty="0">
                <a:latin typeface="Arial Narrow" panose="020B0606020202030204" pitchFamily="34" charset="0"/>
              </a:rPr>
              <a:t>sets</a:t>
            </a:r>
            <a:endParaRPr lang="pl-PL" sz="2000" b="1" dirty="0">
              <a:latin typeface="Arial Narrow" panose="020B0606020202030204" pitchFamily="34" charset="0"/>
            </a:endParaRPr>
          </a:p>
          <a:p>
            <a:pPr algn="ctr"/>
            <a:endParaRPr lang="pl-PL" sz="2000" b="1" dirty="0">
              <a:latin typeface="Arial Narrow" panose="020B0606020202030204" pitchFamily="34" charset="0"/>
            </a:endParaRPr>
          </a:p>
          <a:p>
            <a:pPr algn="ctr"/>
            <a:r>
              <a:rPr lang="pl-PL" sz="2000" b="1" dirty="0">
                <a:latin typeface="Arial Narrow" panose="020B0606020202030204" pitchFamily="34" charset="0"/>
              </a:rPr>
              <a:t>4. </a:t>
            </a:r>
            <a:r>
              <a:rPr lang="en-US" sz="2000" b="1" dirty="0">
                <a:latin typeface="Arial Narrow" panose="020B0606020202030204" pitchFamily="34" charset="0"/>
              </a:rPr>
              <a:t>Choosing </a:t>
            </a:r>
            <a:r>
              <a:rPr lang="pl-PL" sz="2000" b="1" dirty="0">
                <a:latin typeface="Arial Narrow" panose="020B0606020202030204" pitchFamily="34" charset="0"/>
              </a:rPr>
              <a:t>the</a:t>
            </a:r>
            <a:r>
              <a:rPr lang="en-US" sz="2000" b="1" dirty="0">
                <a:latin typeface="Arial Narrow" panose="020B0606020202030204" pitchFamily="34" charset="0"/>
              </a:rPr>
              <a:t> algorithm (or </a:t>
            </a:r>
            <a:r>
              <a:rPr lang="pl-PL" sz="2000" b="1" dirty="0">
                <a:latin typeface="Arial Narrow" panose="020B0606020202030204" pitchFamily="34" charset="0"/>
              </a:rPr>
              <a:t>many</a:t>
            </a:r>
            <a:r>
              <a:rPr lang="en-US" sz="2000" b="1" dirty="0">
                <a:latin typeface="Arial Narrow" panose="020B0606020202030204" pitchFamily="34" charset="0"/>
              </a:rPr>
              <a:t> </a:t>
            </a:r>
            <a:r>
              <a:rPr lang="pl-PL" sz="2000" b="1" dirty="0">
                <a:latin typeface="Arial Narrow" panose="020B0606020202030204" pitchFamily="34" charset="0"/>
              </a:rPr>
              <a:t>algorithms</a:t>
            </a:r>
            <a:r>
              <a:rPr lang="en-US" sz="2000" b="1" dirty="0">
                <a:latin typeface="Arial Narrow" panose="020B0606020202030204" pitchFamily="34" charset="0"/>
              </a:rPr>
              <a:t>)</a:t>
            </a:r>
            <a:br>
              <a:rPr lang="pl-PL" sz="2000" dirty="0">
                <a:latin typeface="Arial Narrow" panose="020B0606020202030204" pitchFamily="34" charset="0"/>
              </a:rPr>
            </a:br>
            <a:r>
              <a:rPr lang="pl-PL" sz="2000" dirty="0">
                <a:latin typeface="Arial Narrow" panose="020B0606020202030204" pitchFamily="34" charset="0"/>
              </a:rPr>
              <a:t>(t</a:t>
            </a:r>
            <a:r>
              <a:rPr lang="en-US" sz="2000" dirty="0">
                <a:latin typeface="Arial Narrow" panose="020B0606020202030204" pitchFamily="34" charset="0"/>
              </a:rPr>
              <a:t>he algorithm must be tailored to the type of problem and the nature of the available data</a:t>
            </a:r>
            <a:r>
              <a:rPr lang="pl-PL" sz="2000" dirty="0">
                <a:latin typeface="Arial Narrow" panose="020B0606020202030204" pitchFamily="34" charset="0"/>
              </a:rPr>
              <a:t>)</a:t>
            </a:r>
          </a:p>
          <a:p>
            <a:pPr algn="ctr"/>
            <a:endParaRPr lang="pl-PL" sz="2000" dirty="0">
              <a:latin typeface="Arial Narrow" panose="020B0606020202030204" pitchFamily="34" charset="0"/>
            </a:endParaRPr>
          </a:p>
          <a:p>
            <a:pPr algn="ctr"/>
            <a:r>
              <a:rPr lang="pl-PL" sz="2000" b="1" dirty="0">
                <a:latin typeface="Arial Narrow" panose="020B0606020202030204" pitchFamily="34" charset="0"/>
              </a:rPr>
              <a:t>5. Training the model</a:t>
            </a:r>
            <a:br>
              <a:rPr lang="pl-PL" sz="2000" dirty="0">
                <a:latin typeface="Arial Narrow" panose="020B0606020202030204" pitchFamily="34" charset="0"/>
              </a:rPr>
            </a:br>
            <a:r>
              <a:rPr lang="pl-PL" sz="2000" dirty="0">
                <a:latin typeface="Arial Narrow" panose="020B0606020202030204" pitchFamily="34" charset="0"/>
              </a:rPr>
              <a:t>(t</a:t>
            </a:r>
            <a:r>
              <a:rPr lang="en-US" sz="2000" dirty="0">
                <a:latin typeface="Arial Narrow" panose="020B0606020202030204" pitchFamily="34" charset="0"/>
              </a:rPr>
              <a:t>raining involves reducing errors and improving accuracy</a:t>
            </a:r>
            <a:r>
              <a:rPr lang="pl-PL" sz="2000" dirty="0">
                <a:latin typeface="Arial Narrow" panose="020B0606020202030204" pitchFamily="34" charset="0"/>
              </a:rPr>
              <a:t>)</a:t>
            </a:r>
          </a:p>
          <a:p>
            <a:pPr algn="ctr"/>
            <a:endParaRPr lang="pl-PL" sz="2000" dirty="0">
              <a:latin typeface="Arial Narrow" panose="020B0606020202030204" pitchFamily="34" charset="0"/>
            </a:endParaRPr>
          </a:p>
          <a:p>
            <a:pPr algn="ctr"/>
            <a:r>
              <a:rPr lang="pl-PL" sz="2000" b="1" dirty="0">
                <a:latin typeface="Arial Narrow" panose="020B0606020202030204" pitchFamily="34" charset="0"/>
              </a:rPr>
              <a:t>6. </a:t>
            </a:r>
            <a:r>
              <a:rPr lang="en-US" sz="2000" b="1" dirty="0">
                <a:latin typeface="Arial Narrow" panose="020B0606020202030204" pitchFamily="34" charset="0"/>
              </a:rPr>
              <a:t>Assess</a:t>
            </a:r>
            <a:r>
              <a:rPr lang="pl-PL" sz="2000" b="1" dirty="0">
                <a:latin typeface="Arial Narrow" panose="020B0606020202030204" pitchFamily="34" charset="0"/>
              </a:rPr>
              <a:t>ing</a:t>
            </a:r>
            <a:r>
              <a:rPr lang="en-US" sz="2000" b="1" dirty="0">
                <a:latin typeface="Arial Narrow" panose="020B0606020202030204" pitchFamily="34" charset="0"/>
              </a:rPr>
              <a:t> the model</a:t>
            </a:r>
            <a:r>
              <a:rPr lang="pl-PL" sz="2000" b="1" dirty="0">
                <a:latin typeface="Arial Narrow" panose="020B0606020202030204" pitchFamily="34" charset="0"/>
              </a:rPr>
              <a:t>’</a:t>
            </a:r>
            <a:r>
              <a:rPr lang="en-US" sz="2000" b="1" dirty="0">
                <a:latin typeface="Arial Narrow" panose="020B0606020202030204" pitchFamily="34" charset="0"/>
              </a:rPr>
              <a:t>s performance and, if necessary, </a:t>
            </a:r>
            <a:br>
              <a:rPr lang="pl-PL" sz="2000" b="1" dirty="0">
                <a:latin typeface="Arial Narrow" panose="020B0606020202030204" pitchFamily="34" charset="0"/>
              </a:rPr>
            </a:br>
            <a:r>
              <a:rPr lang="en-US" sz="2000" b="1" dirty="0">
                <a:latin typeface="Arial Narrow" panose="020B0606020202030204" pitchFamily="34" charset="0"/>
              </a:rPr>
              <a:t>fine-tun</a:t>
            </a:r>
            <a:r>
              <a:rPr lang="pl-PL" sz="2000" b="1" dirty="0">
                <a:latin typeface="Arial Narrow" panose="020B0606020202030204" pitchFamily="34" charset="0"/>
              </a:rPr>
              <a:t>ing</a:t>
            </a:r>
            <a:r>
              <a:rPr lang="en-US" sz="2000" b="1" dirty="0">
                <a:latin typeface="Arial Narrow" panose="020B0606020202030204" pitchFamily="34" charset="0"/>
              </a:rPr>
              <a:t> it and return</a:t>
            </a:r>
            <a:r>
              <a:rPr lang="pl-PL" sz="2000" b="1" dirty="0">
                <a:latin typeface="Arial Narrow" panose="020B0606020202030204" pitchFamily="34" charset="0"/>
              </a:rPr>
              <a:t>ing</a:t>
            </a:r>
            <a:r>
              <a:rPr lang="en-US" sz="2000" b="1" dirty="0">
                <a:latin typeface="Arial Narrow" panose="020B0606020202030204" pitchFamily="34" charset="0"/>
              </a:rPr>
              <a:t> to step 5 (or even 4, 3, or 2)</a:t>
            </a:r>
            <a:endParaRPr lang="pl-PL" sz="2000" dirty="0">
              <a:latin typeface="Arial Narrow" panose="020B0606020202030204" pitchFamily="34" charset="0"/>
            </a:endParaRPr>
          </a:p>
          <a:p>
            <a:pPr algn="ctr"/>
            <a:endParaRPr lang="pl-PL" sz="2000" dirty="0">
              <a:latin typeface="Arial Narrow" panose="020B0606020202030204" pitchFamily="34" charset="0"/>
            </a:endParaRPr>
          </a:p>
          <a:p>
            <a:pPr algn="ctr"/>
            <a:r>
              <a:rPr lang="pl-PL" sz="2000" b="1" dirty="0">
                <a:latin typeface="Arial Narrow" panose="020B0606020202030204" pitchFamily="34" charset="0"/>
              </a:rPr>
              <a:t>7. </a:t>
            </a:r>
            <a:r>
              <a:rPr lang="en-US" sz="2000" b="1" dirty="0">
                <a:latin typeface="Arial Narrow" panose="020B0606020202030204" pitchFamily="34" charset="0"/>
              </a:rPr>
              <a:t>Model deployment and quality monitoring</a:t>
            </a:r>
            <a:endParaRPr lang="pl-PL" sz="2000" dirty="0">
              <a:latin typeface="Arial Narrow" panose="020B0606020202030204" pitchFamily="34" charset="0"/>
            </a:endParaRPr>
          </a:p>
        </p:txBody>
      </p:sp>
      <p:sp>
        <p:nvSpPr>
          <p:cNvPr id="7" name="Arrow: Down 6">
            <a:extLst>
              <a:ext uri="{FF2B5EF4-FFF2-40B4-BE49-F238E27FC236}">
                <a16:creationId xmlns:a16="http://schemas.microsoft.com/office/drawing/2014/main" id="{6356B177-2797-A6CD-1604-5DCC8D218FDC}"/>
              </a:ext>
            </a:extLst>
          </p:cNvPr>
          <p:cNvSpPr/>
          <p:nvPr/>
        </p:nvSpPr>
        <p:spPr>
          <a:xfrm>
            <a:off x="5105400" y="2284068"/>
            <a:ext cx="304800" cy="381000"/>
          </a:xfrm>
          <a:prstGeom prst="downArrow">
            <a:avLst/>
          </a:prstGeom>
          <a:solidFill>
            <a:schemeClr val="tx2">
              <a:lumMod val="60000"/>
              <a:lumOff val="40000"/>
            </a:schemeClr>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 name="Arrow: Down 7">
            <a:extLst>
              <a:ext uri="{FF2B5EF4-FFF2-40B4-BE49-F238E27FC236}">
                <a16:creationId xmlns:a16="http://schemas.microsoft.com/office/drawing/2014/main" id="{EE0009A1-1429-8318-F0BC-AD03C5F216BD}"/>
              </a:ext>
            </a:extLst>
          </p:cNvPr>
          <p:cNvSpPr/>
          <p:nvPr/>
        </p:nvSpPr>
        <p:spPr>
          <a:xfrm>
            <a:off x="5105400" y="3821596"/>
            <a:ext cx="304800" cy="381000"/>
          </a:xfrm>
          <a:prstGeom prst="downArrow">
            <a:avLst/>
          </a:prstGeom>
          <a:solidFill>
            <a:schemeClr val="tx2">
              <a:lumMod val="60000"/>
              <a:lumOff val="40000"/>
            </a:schemeClr>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 name="Arrow: Down 8">
            <a:extLst>
              <a:ext uri="{FF2B5EF4-FFF2-40B4-BE49-F238E27FC236}">
                <a16:creationId xmlns:a16="http://schemas.microsoft.com/office/drawing/2014/main" id="{D303ED05-BBB3-B80A-DC89-6FECBDD7CCAF}"/>
              </a:ext>
            </a:extLst>
          </p:cNvPr>
          <p:cNvSpPr/>
          <p:nvPr/>
        </p:nvSpPr>
        <p:spPr>
          <a:xfrm>
            <a:off x="5105400" y="4732407"/>
            <a:ext cx="304800" cy="381000"/>
          </a:xfrm>
          <a:prstGeom prst="downArrow">
            <a:avLst/>
          </a:prstGeom>
          <a:solidFill>
            <a:schemeClr val="tx2">
              <a:lumMod val="60000"/>
              <a:lumOff val="40000"/>
            </a:schemeClr>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0" name="Arrow: Down 9">
            <a:extLst>
              <a:ext uri="{FF2B5EF4-FFF2-40B4-BE49-F238E27FC236}">
                <a16:creationId xmlns:a16="http://schemas.microsoft.com/office/drawing/2014/main" id="{8113ECD6-8152-F7D1-D5C2-ECA41877D2F2}"/>
              </a:ext>
            </a:extLst>
          </p:cNvPr>
          <p:cNvSpPr/>
          <p:nvPr/>
        </p:nvSpPr>
        <p:spPr>
          <a:xfrm>
            <a:off x="5105400" y="5638800"/>
            <a:ext cx="304800" cy="381000"/>
          </a:xfrm>
          <a:prstGeom prst="downArrow">
            <a:avLst/>
          </a:prstGeom>
          <a:solidFill>
            <a:schemeClr val="tx2">
              <a:lumMod val="60000"/>
              <a:lumOff val="40000"/>
            </a:schemeClr>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1" name="Arrow: Down 10">
            <a:extLst>
              <a:ext uri="{FF2B5EF4-FFF2-40B4-BE49-F238E27FC236}">
                <a16:creationId xmlns:a16="http://schemas.microsoft.com/office/drawing/2014/main" id="{2271696C-1C7E-DE59-DEF6-1B956A6A3B89}"/>
              </a:ext>
            </a:extLst>
          </p:cNvPr>
          <p:cNvSpPr/>
          <p:nvPr/>
        </p:nvSpPr>
        <p:spPr>
          <a:xfrm>
            <a:off x="5105400" y="2887732"/>
            <a:ext cx="304800" cy="381000"/>
          </a:xfrm>
          <a:prstGeom prst="downArrow">
            <a:avLst/>
          </a:prstGeom>
          <a:solidFill>
            <a:schemeClr val="tx2">
              <a:lumMod val="60000"/>
              <a:lumOff val="40000"/>
            </a:schemeClr>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grpSp>
        <p:nvGrpSpPr>
          <p:cNvPr id="26" name="Group 25">
            <a:extLst>
              <a:ext uri="{FF2B5EF4-FFF2-40B4-BE49-F238E27FC236}">
                <a16:creationId xmlns:a16="http://schemas.microsoft.com/office/drawing/2014/main" id="{7DBF8E47-E1D7-5AA1-6847-F294576FFA1A}"/>
              </a:ext>
            </a:extLst>
          </p:cNvPr>
          <p:cNvGrpSpPr/>
          <p:nvPr/>
        </p:nvGrpSpPr>
        <p:grpSpPr>
          <a:xfrm>
            <a:off x="579120" y="1727200"/>
            <a:ext cx="944880" cy="3769360"/>
            <a:chOff x="304800" y="1727200"/>
            <a:chExt cx="944880" cy="3769360"/>
          </a:xfrm>
        </p:grpSpPr>
        <p:sp>
          <p:nvSpPr>
            <p:cNvPr id="3" name="Arrow: Bent 2">
              <a:extLst>
                <a:ext uri="{FF2B5EF4-FFF2-40B4-BE49-F238E27FC236}">
                  <a16:creationId xmlns:a16="http://schemas.microsoft.com/office/drawing/2014/main" id="{E2636812-B7FC-4990-86D8-BB55E18A2957}"/>
                </a:ext>
              </a:extLst>
            </p:cNvPr>
            <p:cNvSpPr/>
            <p:nvPr/>
          </p:nvSpPr>
          <p:spPr>
            <a:xfrm>
              <a:off x="309880" y="4114800"/>
              <a:ext cx="604520" cy="1143000"/>
            </a:xfrm>
            <a:prstGeom prst="bentArrow">
              <a:avLst/>
            </a:prstGeom>
            <a:solidFill>
              <a:schemeClr val="accent1">
                <a:lumMod val="75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solidFill>
                  <a:schemeClr val="tx1"/>
                </a:solidFill>
              </a:endParaRPr>
            </a:p>
          </p:txBody>
        </p:sp>
        <p:sp>
          <p:nvSpPr>
            <p:cNvPr id="14" name="Arrow: Bent 13">
              <a:extLst>
                <a:ext uri="{FF2B5EF4-FFF2-40B4-BE49-F238E27FC236}">
                  <a16:creationId xmlns:a16="http://schemas.microsoft.com/office/drawing/2014/main" id="{4E881479-7BFA-FDC6-B456-B6582450699A}"/>
                </a:ext>
              </a:extLst>
            </p:cNvPr>
            <p:cNvSpPr/>
            <p:nvPr/>
          </p:nvSpPr>
          <p:spPr>
            <a:xfrm>
              <a:off x="304800" y="1727200"/>
              <a:ext cx="609600" cy="1285240"/>
            </a:xfrm>
            <a:prstGeom prst="bentArrow">
              <a:avLst/>
            </a:prstGeom>
            <a:solidFill>
              <a:schemeClr val="accent5">
                <a:lumMod val="60000"/>
                <a:lumOff val="40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solidFill>
                  <a:schemeClr val="tx1"/>
                </a:solidFill>
              </a:endParaRPr>
            </a:p>
          </p:txBody>
        </p:sp>
        <p:sp>
          <p:nvSpPr>
            <p:cNvPr id="13" name="Arrow: Bent 12">
              <a:extLst>
                <a:ext uri="{FF2B5EF4-FFF2-40B4-BE49-F238E27FC236}">
                  <a16:creationId xmlns:a16="http://schemas.microsoft.com/office/drawing/2014/main" id="{4F7D59A6-484A-4768-77AE-CF3E51A0EB4A}"/>
                </a:ext>
              </a:extLst>
            </p:cNvPr>
            <p:cNvSpPr/>
            <p:nvPr/>
          </p:nvSpPr>
          <p:spPr>
            <a:xfrm>
              <a:off x="304800" y="2590800"/>
              <a:ext cx="609600" cy="990600"/>
            </a:xfrm>
            <a:prstGeom prst="bentArrow">
              <a:avLst/>
            </a:prstGeom>
            <a:solidFill>
              <a:schemeClr val="accent5">
                <a:lumMod val="60000"/>
                <a:lumOff val="40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solidFill>
                  <a:schemeClr val="tx1"/>
                </a:solidFill>
              </a:endParaRPr>
            </a:p>
          </p:txBody>
        </p:sp>
        <p:sp>
          <p:nvSpPr>
            <p:cNvPr id="2" name="Arrow: Bent 1">
              <a:extLst>
                <a:ext uri="{FF2B5EF4-FFF2-40B4-BE49-F238E27FC236}">
                  <a16:creationId xmlns:a16="http://schemas.microsoft.com/office/drawing/2014/main" id="{8765E3B0-2FBF-1DF6-7FED-AE1825831E6B}"/>
                </a:ext>
              </a:extLst>
            </p:cNvPr>
            <p:cNvSpPr/>
            <p:nvPr/>
          </p:nvSpPr>
          <p:spPr>
            <a:xfrm>
              <a:off x="304800" y="3200400"/>
              <a:ext cx="609600" cy="2057400"/>
            </a:xfrm>
            <a:prstGeom prst="bentArrow">
              <a:avLst/>
            </a:prstGeom>
            <a:solidFill>
              <a:schemeClr val="accent1">
                <a:lumMod val="75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solidFill>
                  <a:schemeClr val="tx1"/>
                </a:solidFill>
              </a:endParaRPr>
            </a:p>
          </p:txBody>
        </p:sp>
        <p:sp>
          <p:nvSpPr>
            <p:cNvPr id="15" name="Minus Sign 14">
              <a:extLst>
                <a:ext uri="{FF2B5EF4-FFF2-40B4-BE49-F238E27FC236}">
                  <a16:creationId xmlns:a16="http://schemas.microsoft.com/office/drawing/2014/main" id="{04377ED5-FED6-3502-5B1E-EFFA3D831BB4}"/>
                </a:ext>
              </a:extLst>
            </p:cNvPr>
            <p:cNvSpPr/>
            <p:nvPr/>
          </p:nvSpPr>
          <p:spPr>
            <a:xfrm>
              <a:off x="335280" y="4886960"/>
              <a:ext cx="914400" cy="609600"/>
            </a:xfrm>
            <a:prstGeom prst="mathMinus">
              <a:avLst/>
            </a:prstGeom>
            <a:solidFill>
              <a:schemeClr val="accent1">
                <a:lumMod val="75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23" name="Group 22">
            <a:extLst>
              <a:ext uri="{FF2B5EF4-FFF2-40B4-BE49-F238E27FC236}">
                <a16:creationId xmlns:a16="http://schemas.microsoft.com/office/drawing/2014/main" id="{0B28FC4A-ADDD-2BE2-EBF5-078F540BF004}"/>
              </a:ext>
            </a:extLst>
          </p:cNvPr>
          <p:cNvGrpSpPr/>
          <p:nvPr/>
        </p:nvGrpSpPr>
        <p:grpSpPr>
          <a:xfrm>
            <a:off x="5105400" y="1270000"/>
            <a:ext cx="304800" cy="500546"/>
            <a:chOff x="4419600" y="1117600"/>
            <a:chExt cx="304800" cy="500546"/>
          </a:xfrm>
        </p:grpSpPr>
        <p:sp>
          <p:nvSpPr>
            <p:cNvPr id="6" name="Arrow: Down 5">
              <a:extLst>
                <a:ext uri="{FF2B5EF4-FFF2-40B4-BE49-F238E27FC236}">
                  <a16:creationId xmlns:a16="http://schemas.microsoft.com/office/drawing/2014/main" id="{8AE3684E-61C7-AF89-0CE4-B0318318F6FA}"/>
                </a:ext>
              </a:extLst>
            </p:cNvPr>
            <p:cNvSpPr/>
            <p:nvPr/>
          </p:nvSpPr>
          <p:spPr>
            <a:xfrm>
              <a:off x="4419600" y="1237146"/>
              <a:ext cx="304800" cy="381000"/>
            </a:xfrm>
            <a:prstGeom prst="downArrow">
              <a:avLst/>
            </a:prstGeom>
            <a:solidFill>
              <a:srgbClr val="0000FF"/>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2" name="Arrow: Down 21">
              <a:extLst>
                <a:ext uri="{FF2B5EF4-FFF2-40B4-BE49-F238E27FC236}">
                  <a16:creationId xmlns:a16="http://schemas.microsoft.com/office/drawing/2014/main" id="{7076CAB3-2BB4-D9CC-F52B-1E65632BDF06}"/>
                </a:ext>
              </a:extLst>
            </p:cNvPr>
            <p:cNvSpPr/>
            <p:nvPr/>
          </p:nvSpPr>
          <p:spPr>
            <a:xfrm flipV="1">
              <a:off x="4419600" y="1117600"/>
              <a:ext cx="304800" cy="381000"/>
            </a:xfrm>
            <a:prstGeom prst="downArrow">
              <a:avLst/>
            </a:prstGeom>
            <a:solidFill>
              <a:srgbClr val="0000FF"/>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grpSp>
      <p:sp>
        <p:nvSpPr>
          <p:cNvPr id="16" name="Rectangle 2">
            <a:extLst>
              <a:ext uri="{FF2B5EF4-FFF2-40B4-BE49-F238E27FC236}">
                <a16:creationId xmlns:a16="http://schemas.microsoft.com/office/drawing/2014/main" id="{FC00F536-9159-2D90-FCF1-1444642C4580}"/>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a:latin typeface="Arial" pitchFamily="34" charset="0"/>
                <a:ea typeface="+mj-lt"/>
                <a:cs typeface="Arial" pitchFamily="34" charset="0"/>
              </a:rPr>
              <a:t>Introduction</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4239566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5" end="5"/>
                                            </p:txEl>
                                          </p:spTgt>
                                        </p:tgtEl>
                                        <p:attrNameLst>
                                          <p:attrName>style.visibility</p:attrName>
                                        </p:attrNameLst>
                                      </p:cBhvr>
                                      <p:to>
                                        <p:strVal val="visible"/>
                                      </p:to>
                                    </p:set>
                                    <p:anim calcmode="lin" valueType="num">
                                      <p:cBhvr additive="base">
                                        <p:cTn id="11"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anim calcmode="lin" valueType="num">
                                      <p:cBhvr additive="base">
                                        <p:cTn id="21"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5">
                                            <p:txEl>
                                              <p:pRg st="9" end="9"/>
                                            </p:txEl>
                                          </p:spTgt>
                                        </p:tgtEl>
                                        <p:attrNameLst>
                                          <p:attrName>style.visibility</p:attrName>
                                        </p:attrNameLst>
                                      </p:cBhvr>
                                      <p:to>
                                        <p:strVal val="visible"/>
                                      </p:to>
                                    </p:set>
                                    <p:anim calcmode="lin" valueType="num">
                                      <p:cBhvr additive="base">
                                        <p:cTn id="31"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ppt_x"/>
                                          </p:val>
                                        </p:tav>
                                        <p:tav tm="100000">
                                          <p:val>
                                            <p:strVal val="#ppt_x"/>
                                          </p:val>
                                        </p:tav>
                                      </p:tavLst>
                                    </p:anim>
                                    <p:anim calcmode="lin" valueType="num">
                                      <p:cBhvr additive="base">
                                        <p:cTn id="38" dur="500" fill="hold"/>
                                        <p:tgtEl>
                                          <p:spTgt spid="9"/>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5">
                                            <p:txEl>
                                              <p:pRg st="11" end="11"/>
                                            </p:txEl>
                                          </p:spTgt>
                                        </p:tgtEl>
                                        <p:attrNameLst>
                                          <p:attrName>style.visibility</p:attrName>
                                        </p:attrNameLst>
                                      </p:cBhvr>
                                      <p:to>
                                        <p:strVal val="visible"/>
                                      </p:to>
                                    </p:set>
                                    <p:anim calcmode="lin" valueType="num">
                                      <p:cBhvr additive="base">
                                        <p:cTn id="41" dur="500" fill="hold"/>
                                        <p:tgtEl>
                                          <p:spTgt spid="5">
                                            <p:txEl>
                                              <p:pRg st="11" end="11"/>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5">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5">
                                            <p:txEl>
                                              <p:pRg st="13" end="13"/>
                                            </p:txEl>
                                          </p:spTgt>
                                        </p:tgtEl>
                                        <p:attrNameLst>
                                          <p:attrName>style.visibility</p:attrName>
                                        </p:attrNameLst>
                                      </p:cBhvr>
                                      <p:to>
                                        <p:strVal val="visible"/>
                                      </p:to>
                                    </p:set>
                                    <p:anim calcmode="lin" valueType="num">
                                      <p:cBhvr additive="base">
                                        <p:cTn id="47" dur="500" fill="hold"/>
                                        <p:tgtEl>
                                          <p:spTgt spid="5">
                                            <p:txEl>
                                              <p:pRg st="13" end="13"/>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5">
                                            <p:txEl>
                                              <p:pRg st="13" end="13"/>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 calcmode="lin" valueType="num">
                                      <p:cBhvr additive="base">
                                        <p:cTn id="51" dur="500" fill="hold"/>
                                        <p:tgtEl>
                                          <p:spTgt spid="10"/>
                                        </p:tgtEl>
                                        <p:attrNameLst>
                                          <p:attrName>ppt_x</p:attrName>
                                        </p:attrNameLst>
                                      </p:cBhvr>
                                      <p:tavLst>
                                        <p:tav tm="0">
                                          <p:val>
                                            <p:strVal val="#ppt_x"/>
                                          </p:val>
                                        </p:tav>
                                        <p:tav tm="100000">
                                          <p:val>
                                            <p:strVal val="#ppt_x"/>
                                          </p:val>
                                        </p:tav>
                                      </p:tavLst>
                                    </p:anim>
                                    <p:anim calcmode="lin" valueType="num">
                                      <p:cBhvr additive="base">
                                        <p:cTn id="5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26"/>
                                        </p:tgtEl>
                                        <p:attrNameLst>
                                          <p:attrName>style.visibility</p:attrName>
                                        </p:attrNameLst>
                                      </p:cBhvr>
                                      <p:to>
                                        <p:strVal val="visible"/>
                                      </p:to>
                                    </p:set>
                                    <p:anim calcmode="lin" valueType="num">
                                      <p:cBhvr additive="base">
                                        <p:cTn id="57" dur="500" fill="hold"/>
                                        <p:tgtEl>
                                          <p:spTgt spid="26"/>
                                        </p:tgtEl>
                                        <p:attrNameLst>
                                          <p:attrName>ppt_x</p:attrName>
                                        </p:attrNameLst>
                                      </p:cBhvr>
                                      <p:tavLst>
                                        <p:tav tm="0">
                                          <p:val>
                                            <p:strVal val="#ppt_x"/>
                                          </p:val>
                                        </p:tav>
                                        <p:tav tm="100000">
                                          <p:val>
                                            <p:strVal val="#ppt_x"/>
                                          </p:val>
                                        </p:tav>
                                      </p:tavLst>
                                    </p:anim>
                                    <p:anim calcmode="lin" valueType="num">
                                      <p:cBhvr additive="base">
                                        <p:cTn id="5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918F5F7-7B85-6954-0B19-DEABF37769B9}"/>
              </a:ext>
            </a:extLst>
          </p:cNvPr>
          <p:cNvSpPr>
            <a:spLocks noGrp="1"/>
          </p:cNvSpPr>
          <p:nvPr>
            <p:ph type="sldNum" sz="quarter" idx="12"/>
          </p:nvPr>
        </p:nvSpPr>
        <p:spPr/>
        <p:txBody>
          <a:bodyPr/>
          <a:lstStyle/>
          <a:p>
            <a:fld id="{20D4B2D9-DB10-4EB9-B7A6-032A6D4E75AC}" type="slidenum">
              <a:rPr lang="pl-PL" smtClean="0"/>
              <a:pPr/>
              <a:t>19</a:t>
            </a:fld>
            <a:endParaRPr lang="pl-PL" dirty="0"/>
          </a:p>
        </p:txBody>
      </p:sp>
      <p:sp>
        <p:nvSpPr>
          <p:cNvPr id="6" name="Prostokąt 4">
            <a:extLst>
              <a:ext uri="{FF2B5EF4-FFF2-40B4-BE49-F238E27FC236}">
                <a16:creationId xmlns:a16="http://schemas.microsoft.com/office/drawing/2014/main" id="{CC31057F-6709-907B-6964-A7EC4CCD351B}"/>
              </a:ext>
            </a:extLst>
          </p:cNvPr>
          <p:cNvSpPr/>
          <p:nvPr/>
        </p:nvSpPr>
        <p:spPr>
          <a:xfrm>
            <a:off x="1534886" y="1155919"/>
            <a:ext cx="8915400" cy="1877437"/>
          </a:xfrm>
          <a:prstGeom prst="rect">
            <a:avLst/>
          </a:prstGeom>
        </p:spPr>
        <p:txBody>
          <a:bodyPr wrap="square">
            <a:spAutoFit/>
          </a:bodyPr>
          <a:lstStyle/>
          <a:p>
            <a:r>
              <a:rPr lang="pl-PL" sz="3200" b="1">
                <a:solidFill>
                  <a:srgbClr val="0000FF"/>
                </a:solidFill>
                <a:latin typeface="Arial Narrow" panose="020B0606020202030204" pitchFamily="34" charset="0"/>
                <a:cs typeface="Calibri" panose="020F0502020204030204" pitchFamily="34" charset="0"/>
              </a:rPr>
              <a:t>Selected concepts related to Machine Learning</a:t>
            </a:r>
            <a:endParaRPr lang="pl-PL" sz="2800">
              <a:solidFill>
                <a:srgbClr val="0000FF"/>
              </a:solidFill>
              <a:latin typeface="Arial Narrow" panose="020B0606020202030204" pitchFamily="34" charset="0"/>
              <a:cs typeface="Calibri" panose="020F0502020204030204" pitchFamily="34" charset="0"/>
            </a:endParaRPr>
          </a:p>
          <a:p>
            <a:endParaRPr lang="pl-PL" sz="2800">
              <a:latin typeface="Arial Narrow" panose="020B0606020202030204" pitchFamily="34" charset="0"/>
              <a:cs typeface="Calibri" panose="020F0502020204030204" pitchFamily="34" charset="0"/>
            </a:endParaRPr>
          </a:p>
          <a:p>
            <a:endParaRPr lang="pl-PL" sz="2800" b="1">
              <a:solidFill>
                <a:srgbClr val="0000FF"/>
              </a:solidFill>
              <a:latin typeface="Arial Narrow" panose="020B0606020202030204" pitchFamily="34" charset="0"/>
              <a:cs typeface="Calibri" panose="020F0502020204030204" pitchFamily="34" charset="0"/>
            </a:endParaRPr>
          </a:p>
          <a:p>
            <a:endParaRPr lang="pl-PL" sz="2800" dirty="0">
              <a:solidFill>
                <a:srgbClr val="0000FF"/>
              </a:solidFill>
              <a:latin typeface="Arial Narrow" panose="020B0606020202030204" pitchFamily="34" charset="0"/>
              <a:cs typeface="Calibri" panose="020F0502020204030204" pitchFamily="34" charset="0"/>
            </a:endParaRPr>
          </a:p>
        </p:txBody>
      </p:sp>
    </p:spTree>
    <p:extLst>
      <p:ext uri="{BB962C8B-B14F-4D97-AF65-F5344CB8AC3E}">
        <p14:creationId xmlns:p14="http://schemas.microsoft.com/office/powerpoint/2010/main" val="38784537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2BD09E-9B76-7E40-93F5-7F762F422D09}"/>
              </a:ext>
            </a:extLst>
          </p:cNvPr>
          <p:cNvSpPr>
            <a:spLocks noGrp="1"/>
          </p:cNvSpPr>
          <p:nvPr>
            <p:ph type="sldNum" sz="quarter" idx="12"/>
          </p:nvPr>
        </p:nvSpPr>
        <p:spPr/>
        <p:txBody>
          <a:bodyPr/>
          <a:lstStyle/>
          <a:p>
            <a:fld id="{20D4B2D9-DB10-4EB9-B7A6-032A6D4E75AC}" type="slidenum">
              <a:rPr lang="pl-PL" smtClean="0"/>
              <a:pPr/>
              <a:t>20</a:t>
            </a:fld>
            <a:endParaRPr lang="pl-PL" dirty="0"/>
          </a:p>
        </p:txBody>
      </p:sp>
      <p:sp>
        <p:nvSpPr>
          <p:cNvPr id="4" name="Rectangle 2">
            <a:extLst>
              <a:ext uri="{FF2B5EF4-FFF2-40B4-BE49-F238E27FC236}">
                <a16:creationId xmlns:a16="http://schemas.microsoft.com/office/drawing/2014/main" id="{59A09ACD-5103-7716-AE70-81796A63862C}"/>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a:latin typeface="Arial" pitchFamily="34" charset="0"/>
                <a:ea typeface="+mj-lt"/>
                <a:cs typeface="Arial" pitchFamily="34" charset="0"/>
              </a:rPr>
              <a:t>Concepts</a:t>
            </a:r>
            <a:endParaRPr lang="en-GB" sz="4400" dirty="0">
              <a:latin typeface="Arial" pitchFamily="34" charset="0"/>
              <a:ea typeface="+mj-lt"/>
              <a:cs typeface="Arial" pitchFamily="34" charset="0"/>
            </a:endParaRPr>
          </a:p>
        </p:txBody>
      </p:sp>
      <p:sp>
        <p:nvSpPr>
          <p:cNvPr id="5" name="TextBox 1">
            <a:extLst>
              <a:ext uri="{FF2B5EF4-FFF2-40B4-BE49-F238E27FC236}">
                <a16:creationId xmlns:a16="http://schemas.microsoft.com/office/drawing/2014/main" id="{D5902D19-44AA-87C3-487D-CC7573AEAF94}"/>
              </a:ext>
            </a:extLst>
          </p:cNvPr>
          <p:cNvSpPr txBox="1"/>
          <p:nvPr/>
        </p:nvSpPr>
        <p:spPr>
          <a:xfrm>
            <a:off x="0" y="304800"/>
            <a:ext cx="10668000" cy="5562600"/>
          </a:xfrm>
          <a:prstGeom prst="rect">
            <a:avLst/>
          </a:prstGeom>
          <a:noFill/>
        </p:spPr>
        <p:txBody>
          <a:bodyPr wrap="square" lIns="36000" tIns="36000" rIns="36000" bIns="36000" rtlCol="0">
            <a:noAutofit/>
          </a:bodyPr>
          <a:lstStyle/>
          <a:p>
            <a:r>
              <a:rPr lang="pl-PL" sz="2400" b="1">
                <a:latin typeface="Arial Narrow" panose="020B0606020202030204" pitchFamily="34" charset="0"/>
              </a:rPr>
              <a:t>We already know:</a:t>
            </a:r>
          </a:p>
          <a:p>
            <a:pPr marL="263525" indent="-263525">
              <a:buFont typeface="Arial" panose="020B0604020202020204" pitchFamily="34" charset="0"/>
              <a:buChar char="•"/>
            </a:pPr>
            <a:r>
              <a:rPr lang="pl-PL" sz="2400">
                <a:latin typeface="Arial Narrow" panose="020B0606020202030204" pitchFamily="34" charset="0"/>
              </a:rPr>
              <a:t>AI, ML, DL</a:t>
            </a:r>
          </a:p>
          <a:p>
            <a:pPr marL="263525" indent="-263525">
              <a:buFont typeface="Arial" panose="020B0604020202020204" pitchFamily="34" charset="0"/>
              <a:buChar char="•"/>
            </a:pPr>
            <a:r>
              <a:rPr lang="pl-PL" sz="2400">
                <a:latin typeface="Arial Narrow" panose="020B0606020202030204" pitchFamily="34" charset="0"/>
              </a:rPr>
              <a:t>biological vs artificial neuron</a:t>
            </a:r>
          </a:p>
          <a:p>
            <a:pPr marL="263525" indent="-263525">
              <a:buFont typeface="Arial" panose="020B0604020202020204" pitchFamily="34" charset="0"/>
              <a:buChar char="•"/>
              <a:tabLst>
                <a:tab pos="1971675" algn="l"/>
                <a:tab pos="6543675" algn="l"/>
                <a:tab pos="7712075" algn="l"/>
              </a:tabLst>
            </a:pPr>
            <a:r>
              <a:rPr lang="pl-PL" sz="2400">
                <a:solidFill>
                  <a:srgbClr val="7030A0"/>
                </a:solidFill>
                <a:latin typeface="Arial Narrow" panose="020B0606020202030204" pitchFamily="34" charset="0"/>
              </a:rPr>
              <a:t>dendrites</a:t>
            </a:r>
            <a:r>
              <a:rPr lang="pl-PL" sz="2400">
                <a:latin typeface="Arial Narrow" panose="020B0606020202030204" pitchFamily="34" charset="0"/>
              </a:rPr>
              <a:t>, 	</a:t>
            </a:r>
            <a:r>
              <a:rPr lang="pl-PL" sz="2400">
                <a:solidFill>
                  <a:srgbClr val="00B050"/>
                </a:solidFill>
                <a:latin typeface="Arial Narrow" panose="020B0606020202030204" pitchFamily="34" charset="0"/>
              </a:rPr>
              <a:t>soma</a:t>
            </a:r>
            <a:r>
              <a:rPr lang="pl-PL" sz="2400">
                <a:latin typeface="Arial Narrow" panose="020B0606020202030204" pitchFamily="34" charset="0"/>
              </a:rPr>
              <a:t>, 	</a:t>
            </a:r>
            <a:r>
              <a:rPr lang="pl-PL" sz="2400">
                <a:solidFill>
                  <a:srgbClr val="0070C0"/>
                </a:solidFill>
                <a:latin typeface="Arial Narrow" panose="020B0606020202030204" pitchFamily="34" charset="0"/>
              </a:rPr>
              <a:t>axon</a:t>
            </a:r>
            <a:r>
              <a:rPr lang="pl-PL" sz="2400">
                <a:latin typeface="Arial Narrow" panose="020B0606020202030204" pitchFamily="34" charset="0"/>
              </a:rPr>
              <a:t>, 	axon terminals</a:t>
            </a:r>
          </a:p>
          <a:p>
            <a:pPr marL="263525" indent="-263525">
              <a:buFont typeface="Arial" panose="020B0604020202020204" pitchFamily="34" charset="0"/>
              <a:buChar char="•"/>
              <a:tabLst>
                <a:tab pos="1971675" algn="l"/>
                <a:tab pos="6543675" algn="l"/>
              </a:tabLst>
            </a:pPr>
            <a:r>
              <a:rPr lang="pl-PL" sz="2400">
                <a:solidFill>
                  <a:srgbClr val="7030A0"/>
                </a:solidFill>
                <a:latin typeface="Arial Narrow" panose="020B0606020202030204" pitchFamily="34" charset="0"/>
              </a:rPr>
              <a:t>input, weights</a:t>
            </a:r>
            <a:r>
              <a:rPr lang="pl-PL" sz="2400">
                <a:latin typeface="Arial Narrow" panose="020B0606020202030204" pitchFamily="34" charset="0"/>
              </a:rPr>
              <a:t>,	</a:t>
            </a:r>
            <a:r>
              <a:rPr lang="pl-PL" sz="2400">
                <a:solidFill>
                  <a:srgbClr val="00B050"/>
                </a:solidFill>
                <a:latin typeface="Arial Narrow" panose="020B0606020202030204" pitchFamily="34" charset="0"/>
              </a:rPr>
              <a:t>aggregation function, activation function</a:t>
            </a:r>
            <a:r>
              <a:rPr lang="pl-PL" sz="2400">
                <a:latin typeface="Arial Narrow" panose="020B0606020202030204" pitchFamily="34" charset="0"/>
              </a:rPr>
              <a:t>,	</a:t>
            </a:r>
            <a:r>
              <a:rPr lang="pl-PL" sz="2400">
                <a:solidFill>
                  <a:srgbClr val="0070C0"/>
                </a:solidFill>
                <a:latin typeface="Arial Narrow" panose="020B0606020202030204" pitchFamily="34" charset="0"/>
              </a:rPr>
              <a:t>output</a:t>
            </a:r>
          </a:p>
          <a:p>
            <a:pPr marL="263525" indent="-263525">
              <a:buFont typeface="Arial" panose="020B0604020202020204" pitchFamily="34" charset="0"/>
              <a:buChar char="•"/>
            </a:pPr>
            <a:r>
              <a:rPr lang="pl-PL" sz="2400">
                <a:latin typeface="Arial Narrow" panose="020B0606020202030204" pitchFamily="34" charset="0"/>
              </a:rPr>
              <a:t>ML vs computer programming</a:t>
            </a:r>
          </a:p>
          <a:p>
            <a:pPr marL="263525" indent="-263525">
              <a:buFont typeface="Arial" panose="020B0604020202020204" pitchFamily="34" charset="0"/>
              <a:buChar char="•"/>
            </a:pPr>
            <a:r>
              <a:rPr lang="pl-PL" sz="2400">
                <a:latin typeface="Arial Narrow" panose="020B0606020202030204" pitchFamily="34" charset="0"/>
              </a:rPr>
              <a:t>ML process</a:t>
            </a:r>
            <a:endParaRPr lang="pl-PL" sz="2400" b="1">
              <a:latin typeface="Arial Narrow" panose="020B0606020202030204" pitchFamily="34" charset="0"/>
            </a:endParaRPr>
          </a:p>
          <a:p>
            <a:endParaRPr lang="pl-PL" sz="2000" b="1">
              <a:latin typeface="Arial Narrow" panose="020B0606020202030204" pitchFamily="34" charset="0"/>
            </a:endParaRPr>
          </a:p>
        </p:txBody>
      </p:sp>
    </p:spTree>
    <p:extLst>
      <p:ext uri="{BB962C8B-B14F-4D97-AF65-F5344CB8AC3E}">
        <p14:creationId xmlns:p14="http://schemas.microsoft.com/office/powerpoint/2010/main" val="40223411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9"/>
          <p:cNvSpPr>
            <a:spLocks noGrp="1"/>
          </p:cNvSpPr>
          <p:nvPr>
            <p:ph type="sldNum" sz="quarter" idx="12"/>
          </p:nvPr>
        </p:nvSpPr>
        <p:spPr/>
        <p:txBody>
          <a:bodyPr/>
          <a:lstStyle/>
          <a:p>
            <a:fld id="{20D4B2D9-DB10-4EB9-B7A6-032A6D4E75AC}" type="slidenum">
              <a:rPr lang="pl-PL" smtClean="0"/>
              <a:pPr/>
              <a:t>21</a:t>
            </a:fld>
            <a:endParaRPr lang="pl-PL" dirty="0"/>
          </a:p>
        </p:txBody>
      </p:sp>
      <p:sp>
        <p:nvSpPr>
          <p:cNvPr id="7" name="TextBox 1"/>
          <p:cNvSpPr txBox="1"/>
          <p:nvPr/>
        </p:nvSpPr>
        <p:spPr>
          <a:xfrm>
            <a:off x="0" y="304800"/>
            <a:ext cx="10668000" cy="1295400"/>
          </a:xfrm>
          <a:prstGeom prst="rect">
            <a:avLst/>
          </a:prstGeom>
          <a:noFill/>
        </p:spPr>
        <p:txBody>
          <a:bodyPr wrap="square" lIns="36000" tIns="36000" rIns="36000" bIns="36000" rtlCol="0">
            <a:noAutofit/>
          </a:bodyPr>
          <a:lstStyle/>
          <a:p>
            <a:r>
              <a:rPr lang="en-US" sz="2000" b="1">
                <a:latin typeface="Arial Narrow" panose="020B0606020202030204" pitchFamily="34" charset="0"/>
              </a:rPr>
              <a:t>Selected concepts related to </a:t>
            </a:r>
            <a:r>
              <a:rPr lang="pl-PL" sz="2000" b="1">
                <a:latin typeface="Arial Narrow" panose="020B0606020202030204" pitchFamily="34" charset="0"/>
              </a:rPr>
              <a:t>M</a:t>
            </a:r>
            <a:r>
              <a:rPr lang="en-US" sz="2000" b="1">
                <a:latin typeface="Arial Narrow" panose="020B0606020202030204" pitchFamily="34" charset="0"/>
              </a:rPr>
              <a:t>achine </a:t>
            </a:r>
            <a:r>
              <a:rPr lang="pl-PL" sz="2000" b="1">
                <a:latin typeface="Arial Narrow" panose="020B0606020202030204" pitchFamily="34" charset="0"/>
              </a:rPr>
              <a:t>L</a:t>
            </a:r>
            <a:r>
              <a:rPr lang="en-US" sz="2000" b="1">
                <a:latin typeface="Arial Narrow" panose="020B0606020202030204" pitchFamily="34" charset="0"/>
              </a:rPr>
              <a:t>earning</a:t>
            </a:r>
            <a:r>
              <a:rPr lang="pl-PL" sz="2000" b="1">
                <a:latin typeface="Arial Narrow" panose="020B0606020202030204" pitchFamily="34" charset="0"/>
              </a:rPr>
              <a:t>:</a:t>
            </a:r>
          </a:p>
          <a:p>
            <a:endParaRPr lang="pl-PL" sz="2000" b="1">
              <a:latin typeface="Arial Narrow" panose="020B0606020202030204" pitchFamily="34" charset="0"/>
            </a:endParaRPr>
          </a:p>
          <a:p>
            <a:r>
              <a:rPr lang="pl-PL" sz="2000" b="1">
                <a:solidFill>
                  <a:srgbClr val="00B050"/>
                </a:solidFill>
                <a:latin typeface="Arial Narrow" panose="020B0606020202030204" pitchFamily="34" charset="0"/>
              </a:rPr>
              <a:t>Dataset</a:t>
            </a:r>
            <a:r>
              <a:rPr lang="pl-PL" sz="2000" b="1">
                <a:latin typeface="Arial Narrow" panose="020B0606020202030204" pitchFamily="34" charset="0"/>
              </a:rPr>
              <a:t> </a:t>
            </a:r>
            <a:r>
              <a:rPr lang="pl-PL" sz="2000">
                <a:latin typeface="Arial Narrow" panose="020B0606020202030204" pitchFamily="34" charset="0"/>
              </a:rPr>
              <a:t>– all the data analyzed</a:t>
            </a:r>
          </a:p>
          <a:p>
            <a:r>
              <a:rPr lang="pl-PL" sz="2000" b="1">
                <a:solidFill>
                  <a:srgbClr val="FF0000"/>
                </a:solidFill>
                <a:latin typeface="Arial Narrow" panose="020B0606020202030204" pitchFamily="34" charset="0"/>
              </a:rPr>
              <a:t>Sample</a:t>
            </a:r>
            <a:r>
              <a:rPr lang="pl-PL" sz="2000">
                <a:latin typeface="Arial Narrow" panose="020B0606020202030204" pitchFamily="34" charset="0"/>
              </a:rPr>
              <a:t> – one</a:t>
            </a:r>
            <a:r>
              <a:rPr lang="en-US" sz="2000">
                <a:latin typeface="Arial Narrow" panose="020B0606020202030204" pitchFamily="34" charset="0"/>
              </a:rPr>
              <a:t> element of the dataset processed by the model </a:t>
            </a:r>
            <a:br>
              <a:rPr lang="pl-PL" sz="2000">
                <a:latin typeface="Arial Narrow" panose="020B0606020202030204" pitchFamily="34" charset="0"/>
              </a:rPr>
            </a:br>
            <a:r>
              <a:rPr lang="pl-PL" sz="2000">
                <a:latin typeface="Arial Narrow" panose="020B0606020202030204" pitchFamily="34" charset="0"/>
              </a:rPr>
              <a:t>(</a:t>
            </a:r>
            <a:r>
              <a:rPr lang="en-US" sz="2000">
                <a:latin typeface="Arial Narrow" panose="020B0606020202030204" pitchFamily="34" charset="0"/>
              </a:rPr>
              <a:t>e.g.</a:t>
            </a:r>
            <a:r>
              <a:rPr lang="pl-PL" sz="2000">
                <a:latin typeface="Arial Narrow" panose="020B0606020202030204" pitchFamily="34" charset="0"/>
              </a:rPr>
              <a:t>:</a:t>
            </a:r>
            <a:r>
              <a:rPr lang="en-US" sz="2000">
                <a:latin typeface="Arial Narrow" panose="020B0606020202030204" pitchFamily="34" charset="0"/>
              </a:rPr>
              <a:t> </a:t>
            </a:r>
            <a:r>
              <a:rPr lang="pl-PL" sz="2000">
                <a:latin typeface="Arial Narrow" panose="020B0606020202030204" pitchFamily="34" charset="0"/>
              </a:rPr>
              <a:t>one </a:t>
            </a:r>
            <a:r>
              <a:rPr lang="en-US" sz="2000">
                <a:latin typeface="Arial Narrow" panose="020B0606020202030204" pitchFamily="34" charset="0"/>
              </a:rPr>
              <a:t>photo, </a:t>
            </a:r>
            <a:r>
              <a:rPr lang="pl-PL" sz="2000">
                <a:latin typeface="Arial Narrow" panose="020B0606020202030204" pitchFamily="34" charset="0"/>
              </a:rPr>
              <a:t>c</a:t>
            </a:r>
            <a:r>
              <a:rPr lang="en-US" sz="2000">
                <a:latin typeface="Arial Narrow" panose="020B0606020202030204" pitchFamily="34" charset="0"/>
              </a:rPr>
              <a:t>omplete information about a single borrower, one of the texts analyzed</a:t>
            </a:r>
            <a:r>
              <a:rPr lang="pl-PL" sz="2000">
                <a:latin typeface="Arial Narrow" panose="020B0606020202030204" pitchFamily="34" charset="0"/>
              </a:rPr>
              <a:t>).</a:t>
            </a:r>
            <a:endParaRPr lang="pl-PL" sz="2000" dirty="0">
              <a:latin typeface="Arial Narrow" panose="020B0606020202030204" pitchFamily="34" charset="0"/>
            </a:endParaRPr>
          </a:p>
        </p:txBody>
      </p:sp>
      <p:sp>
        <p:nvSpPr>
          <p:cNvPr id="2" name="Rectangle 2">
            <a:extLst>
              <a:ext uri="{FF2B5EF4-FFF2-40B4-BE49-F238E27FC236}">
                <a16:creationId xmlns:a16="http://schemas.microsoft.com/office/drawing/2014/main" id="{75BE5A55-E2AA-D2FA-9ECB-14DEDAE6BA6E}"/>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a:latin typeface="Arial" pitchFamily="34" charset="0"/>
                <a:ea typeface="+mj-lt"/>
                <a:cs typeface="Arial" pitchFamily="34" charset="0"/>
              </a:rPr>
              <a:t>Concepts</a:t>
            </a:r>
            <a:endParaRPr lang="en-GB" sz="4400" dirty="0">
              <a:latin typeface="Arial" pitchFamily="34" charset="0"/>
              <a:ea typeface="+mj-lt"/>
              <a:cs typeface="Arial" pitchFamily="34" charset="0"/>
            </a:endParaRPr>
          </a:p>
        </p:txBody>
      </p:sp>
      <p:pic>
        <p:nvPicPr>
          <p:cNvPr id="5" name="Picture 4" descr="Sample of dataset images. ">
            <a:extLst>
              <a:ext uri="{FF2B5EF4-FFF2-40B4-BE49-F238E27FC236}">
                <a16:creationId xmlns:a16="http://schemas.microsoft.com/office/drawing/2014/main" id="{5A45219B-1299-9F4B-DFA9-713C8F192A44}"/>
              </a:ext>
            </a:extLst>
          </p:cNvPr>
          <p:cNvPicPr>
            <a:picLocks noChangeAspect="1"/>
          </p:cNvPicPr>
          <p:nvPr/>
        </p:nvPicPr>
        <p:blipFill>
          <a:blip r:embed="rId2"/>
          <a:stretch>
            <a:fillRect/>
          </a:stretch>
        </p:blipFill>
        <p:spPr>
          <a:xfrm>
            <a:off x="1219200" y="2159650"/>
            <a:ext cx="6225857" cy="4084285"/>
          </a:xfrm>
          <a:prstGeom prst="rect">
            <a:avLst/>
          </a:prstGeom>
        </p:spPr>
      </p:pic>
      <p:sp>
        <p:nvSpPr>
          <p:cNvPr id="6" name="Rectangle 5">
            <a:extLst>
              <a:ext uri="{FF2B5EF4-FFF2-40B4-BE49-F238E27FC236}">
                <a16:creationId xmlns:a16="http://schemas.microsoft.com/office/drawing/2014/main" id="{9C98CBE8-DB6D-F4BD-FCA6-26BB9B998086}"/>
              </a:ext>
            </a:extLst>
          </p:cNvPr>
          <p:cNvSpPr/>
          <p:nvPr/>
        </p:nvSpPr>
        <p:spPr>
          <a:xfrm>
            <a:off x="2946400" y="5207650"/>
            <a:ext cx="1524000" cy="1036285"/>
          </a:xfrm>
          <a:prstGeom prst="rect">
            <a:avLst/>
          </a:prstGeom>
          <a:noFill/>
          <a:ln w="539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ln>
                <a:solidFill>
                  <a:srgbClr val="FF0000"/>
                </a:solidFill>
              </a:ln>
            </a:endParaRPr>
          </a:p>
        </p:txBody>
      </p:sp>
      <p:sp>
        <p:nvSpPr>
          <p:cNvPr id="8" name="TextBox 7">
            <a:extLst>
              <a:ext uri="{FF2B5EF4-FFF2-40B4-BE49-F238E27FC236}">
                <a16:creationId xmlns:a16="http://schemas.microsoft.com/office/drawing/2014/main" id="{2B52638C-96E4-2CC1-7868-9FC36D49364E}"/>
              </a:ext>
            </a:extLst>
          </p:cNvPr>
          <p:cNvSpPr txBox="1"/>
          <p:nvPr/>
        </p:nvSpPr>
        <p:spPr>
          <a:xfrm>
            <a:off x="3208103" y="6243935"/>
            <a:ext cx="1083951" cy="461665"/>
          </a:xfrm>
          <a:prstGeom prst="rect">
            <a:avLst/>
          </a:prstGeom>
          <a:noFill/>
        </p:spPr>
        <p:txBody>
          <a:bodyPr wrap="none" rtlCol="0">
            <a:spAutoFit/>
          </a:bodyPr>
          <a:lstStyle/>
          <a:p>
            <a:r>
              <a:rPr lang="pl-PL" sz="2400" b="1">
                <a:solidFill>
                  <a:srgbClr val="FF0000"/>
                </a:solidFill>
                <a:latin typeface="Arial Narrow" panose="020B0606020202030204" pitchFamily="34" charset="0"/>
              </a:rPr>
              <a:t>Sample</a:t>
            </a:r>
            <a:endParaRPr lang="pl-PL" b="1">
              <a:solidFill>
                <a:srgbClr val="FF0000"/>
              </a:solidFill>
              <a:latin typeface="Arial Narrow" panose="020B0606020202030204" pitchFamily="34" charset="0"/>
            </a:endParaRPr>
          </a:p>
        </p:txBody>
      </p:sp>
      <p:sp>
        <p:nvSpPr>
          <p:cNvPr id="9" name="Right Brace 8">
            <a:extLst>
              <a:ext uri="{FF2B5EF4-FFF2-40B4-BE49-F238E27FC236}">
                <a16:creationId xmlns:a16="http://schemas.microsoft.com/office/drawing/2014/main" id="{AA529069-07CC-E81E-2FAE-1497D6CF882A}"/>
              </a:ext>
            </a:extLst>
          </p:cNvPr>
          <p:cNvSpPr/>
          <p:nvPr/>
        </p:nvSpPr>
        <p:spPr>
          <a:xfrm>
            <a:off x="7445057" y="2159650"/>
            <a:ext cx="482142" cy="4196701"/>
          </a:xfrm>
          <a:prstGeom prst="rightBrace">
            <a:avLst/>
          </a:prstGeom>
          <a:ln w="4762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l-PL"/>
          </a:p>
        </p:txBody>
      </p:sp>
      <p:sp>
        <p:nvSpPr>
          <p:cNvPr id="12" name="TextBox 11">
            <a:extLst>
              <a:ext uri="{FF2B5EF4-FFF2-40B4-BE49-F238E27FC236}">
                <a16:creationId xmlns:a16="http://schemas.microsoft.com/office/drawing/2014/main" id="{2FDA55B1-452A-DFEA-52C7-03FD74925E0E}"/>
              </a:ext>
            </a:extLst>
          </p:cNvPr>
          <p:cNvSpPr txBox="1"/>
          <p:nvPr/>
        </p:nvSpPr>
        <p:spPr>
          <a:xfrm>
            <a:off x="7995922" y="4027167"/>
            <a:ext cx="1098378" cy="461665"/>
          </a:xfrm>
          <a:prstGeom prst="rect">
            <a:avLst/>
          </a:prstGeom>
          <a:noFill/>
        </p:spPr>
        <p:txBody>
          <a:bodyPr wrap="none" rtlCol="0">
            <a:spAutoFit/>
          </a:bodyPr>
          <a:lstStyle/>
          <a:p>
            <a:r>
              <a:rPr lang="pl-PL" sz="2400" b="1">
                <a:solidFill>
                  <a:srgbClr val="00B050"/>
                </a:solidFill>
                <a:latin typeface="Arial Narrow" panose="020B0606020202030204" pitchFamily="34" charset="0"/>
              </a:rPr>
              <a:t>Dataset</a:t>
            </a:r>
            <a:endParaRPr lang="pl-PL" b="1">
              <a:solidFill>
                <a:srgbClr val="00B050"/>
              </a:solidFill>
              <a:latin typeface="Arial Narrow" panose="020B0606020202030204" pitchFamily="34" charset="0"/>
            </a:endParaRPr>
          </a:p>
        </p:txBody>
      </p:sp>
    </p:spTree>
    <p:extLst>
      <p:ext uri="{BB962C8B-B14F-4D97-AF65-F5344CB8AC3E}">
        <p14:creationId xmlns:p14="http://schemas.microsoft.com/office/powerpoint/2010/main" val="31257934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559D55-DE2F-BCCA-D8C4-73B55CB6043F}"/>
              </a:ext>
            </a:extLst>
          </p:cNvPr>
          <p:cNvSpPr>
            <a:spLocks noGrp="1"/>
          </p:cNvSpPr>
          <p:nvPr>
            <p:ph type="sldNum" sz="quarter" idx="12"/>
          </p:nvPr>
        </p:nvSpPr>
        <p:spPr/>
        <p:txBody>
          <a:bodyPr/>
          <a:lstStyle/>
          <a:p>
            <a:fld id="{20D4B2D9-DB10-4EB9-B7A6-032A6D4E75AC}" type="slidenum">
              <a:rPr lang="pl-PL" smtClean="0"/>
              <a:pPr/>
              <a:t>22</a:t>
            </a:fld>
            <a:endParaRPr lang="pl-PL" dirty="0"/>
          </a:p>
        </p:txBody>
      </p:sp>
      <p:sp>
        <p:nvSpPr>
          <p:cNvPr id="4" name="Rectangle 2">
            <a:extLst>
              <a:ext uri="{FF2B5EF4-FFF2-40B4-BE49-F238E27FC236}">
                <a16:creationId xmlns:a16="http://schemas.microsoft.com/office/drawing/2014/main" id="{82BFB48C-D184-2A75-3D7E-58A76706D001}"/>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a:latin typeface="Arial" pitchFamily="34" charset="0"/>
                <a:ea typeface="+mj-lt"/>
                <a:cs typeface="Arial" pitchFamily="34" charset="0"/>
              </a:rPr>
              <a:t>Concepts</a:t>
            </a:r>
            <a:endParaRPr lang="en-GB" sz="4400" dirty="0">
              <a:latin typeface="Arial" pitchFamily="34" charset="0"/>
              <a:ea typeface="+mj-lt"/>
              <a:cs typeface="Arial" pitchFamily="34" charset="0"/>
            </a:endParaRPr>
          </a:p>
        </p:txBody>
      </p:sp>
      <p:sp>
        <p:nvSpPr>
          <p:cNvPr id="5" name="TextBox 1">
            <a:extLst>
              <a:ext uri="{FF2B5EF4-FFF2-40B4-BE49-F238E27FC236}">
                <a16:creationId xmlns:a16="http://schemas.microsoft.com/office/drawing/2014/main" id="{ADF3C46B-5623-A2FB-16A8-FBF55881ED76}"/>
              </a:ext>
            </a:extLst>
          </p:cNvPr>
          <p:cNvSpPr txBox="1"/>
          <p:nvPr/>
        </p:nvSpPr>
        <p:spPr>
          <a:xfrm>
            <a:off x="0" y="304800"/>
            <a:ext cx="12115800" cy="1676400"/>
          </a:xfrm>
          <a:prstGeom prst="rect">
            <a:avLst/>
          </a:prstGeom>
          <a:noFill/>
        </p:spPr>
        <p:txBody>
          <a:bodyPr wrap="square" lIns="36000" tIns="36000" rIns="36000" bIns="36000" rtlCol="0">
            <a:noAutofit/>
          </a:bodyPr>
          <a:lstStyle/>
          <a:p>
            <a:r>
              <a:rPr lang="en-US" sz="2000" b="1" dirty="0">
                <a:latin typeface="Arial Narrow" panose="020B0606020202030204" pitchFamily="34" charset="0"/>
              </a:rPr>
              <a:t>Selected concepts related to machine learning</a:t>
            </a:r>
            <a:r>
              <a:rPr lang="pl-PL" sz="2000" b="1" dirty="0">
                <a:latin typeface="Arial Narrow" panose="020B0606020202030204" pitchFamily="34" charset="0"/>
              </a:rPr>
              <a:t>:</a:t>
            </a:r>
          </a:p>
          <a:p>
            <a:endParaRPr lang="pl-PL" sz="2000" b="1" dirty="0">
              <a:latin typeface="Arial Narrow" panose="020B0606020202030204" pitchFamily="34" charset="0"/>
            </a:endParaRPr>
          </a:p>
          <a:p>
            <a:r>
              <a:rPr lang="pl-PL" sz="2000" b="1" dirty="0">
                <a:solidFill>
                  <a:srgbClr val="00B050"/>
                </a:solidFill>
                <a:latin typeface="Arial Narrow" panose="020B0606020202030204" pitchFamily="34" charset="0"/>
              </a:rPr>
              <a:t>Batch</a:t>
            </a:r>
            <a:r>
              <a:rPr lang="pl-PL" sz="2000" b="1" dirty="0">
                <a:latin typeface="Arial Narrow" panose="020B0606020202030204" pitchFamily="34" charset="0"/>
              </a:rPr>
              <a:t> </a:t>
            </a:r>
            <a:r>
              <a:rPr lang="pl-PL" sz="2000" dirty="0">
                <a:latin typeface="Arial Narrow" panose="020B0606020202030204" pitchFamily="34" charset="0"/>
              </a:rPr>
              <a:t>– a</a:t>
            </a:r>
            <a:r>
              <a:rPr lang="en-US" sz="2000" dirty="0">
                <a:latin typeface="Arial Narrow" panose="020B0606020202030204" pitchFamily="34" charset="0"/>
              </a:rPr>
              <a:t> set of samples processed by the model. Most often, the number of samples is a power of 2. A batch is used to compute a single update of the model</a:t>
            </a:r>
            <a:r>
              <a:rPr lang="pl-PL" sz="2000" dirty="0">
                <a:latin typeface="Arial Narrow" panose="020B0606020202030204" pitchFamily="34" charset="0"/>
              </a:rPr>
              <a:t>’</a:t>
            </a:r>
            <a:r>
              <a:rPr lang="en-US" sz="2000" dirty="0">
                <a:latin typeface="Arial Narrow" panose="020B0606020202030204" pitchFamily="34" charset="0"/>
              </a:rPr>
              <a:t>s weights.</a:t>
            </a:r>
            <a:endParaRPr lang="pl-PL" sz="2000" dirty="0">
              <a:latin typeface="Arial Narrow" panose="020B0606020202030204" pitchFamily="34" charset="0"/>
            </a:endParaRPr>
          </a:p>
          <a:p>
            <a:r>
              <a:rPr lang="pl-PL" sz="2000" b="1" dirty="0">
                <a:solidFill>
                  <a:srgbClr val="FF0000"/>
                </a:solidFill>
                <a:latin typeface="Arial Narrow" panose="020B0606020202030204" pitchFamily="34" charset="0"/>
              </a:rPr>
              <a:t>Epoch</a:t>
            </a:r>
            <a:r>
              <a:rPr lang="pl-PL" sz="2000" b="1" dirty="0">
                <a:latin typeface="Arial Narrow" panose="020B0606020202030204" pitchFamily="34" charset="0"/>
              </a:rPr>
              <a:t> </a:t>
            </a:r>
            <a:r>
              <a:rPr lang="pl-PL" sz="2000" dirty="0">
                <a:latin typeface="Arial Narrow" panose="020B0606020202030204" pitchFamily="34" charset="0"/>
              </a:rPr>
              <a:t>– </a:t>
            </a:r>
            <a:r>
              <a:rPr lang="en-US" sz="2000" dirty="0">
                <a:latin typeface="Arial Narrow" panose="020B0606020202030204" pitchFamily="34" charset="0"/>
              </a:rPr>
              <a:t>a single pass through the entire dataset</a:t>
            </a:r>
            <a:r>
              <a:rPr lang="pl-PL" sz="2000" dirty="0">
                <a:latin typeface="Arial Narrow" panose="020B0606020202030204" pitchFamily="34" charset="0"/>
              </a:rPr>
              <a:t>.</a:t>
            </a:r>
          </a:p>
          <a:p>
            <a:endParaRPr lang="pl-PL" sz="2000" b="1" dirty="0">
              <a:latin typeface="Arial Narrow" panose="020B0606020202030204" pitchFamily="34" charset="0"/>
            </a:endParaRPr>
          </a:p>
          <a:p>
            <a:endParaRPr lang="pl-PL" sz="2000" dirty="0">
              <a:latin typeface="Arial Narrow" panose="020B0606020202030204" pitchFamily="34" charset="0"/>
            </a:endParaRPr>
          </a:p>
        </p:txBody>
      </p:sp>
      <p:pic>
        <p:nvPicPr>
          <p:cNvPr id="10" name="Picture 9">
            <a:extLst>
              <a:ext uri="{FF2B5EF4-FFF2-40B4-BE49-F238E27FC236}">
                <a16:creationId xmlns:a16="http://schemas.microsoft.com/office/drawing/2014/main" id="{C031E059-DF1E-E12D-D4D1-0ED49D996930}"/>
              </a:ext>
            </a:extLst>
          </p:cNvPr>
          <p:cNvPicPr>
            <a:picLocks noChangeAspect="1"/>
          </p:cNvPicPr>
          <p:nvPr/>
        </p:nvPicPr>
        <p:blipFill>
          <a:blip r:embed="rId2"/>
          <a:stretch>
            <a:fillRect/>
          </a:stretch>
        </p:blipFill>
        <p:spPr>
          <a:xfrm>
            <a:off x="4343400" y="2064814"/>
            <a:ext cx="7018672" cy="4291537"/>
          </a:xfrm>
          <a:prstGeom prst="rect">
            <a:avLst/>
          </a:prstGeom>
        </p:spPr>
      </p:pic>
      <p:sp>
        <p:nvSpPr>
          <p:cNvPr id="6" name="TextBox 5">
            <a:extLst>
              <a:ext uri="{FF2B5EF4-FFF2-40B4-BE49-F238E27FC236}">
                <a16:creationId xmlns:a16="http://schemas.microsoft.com/office/drawing/2014/main" id="{5F545238-D0CE-A29A-BFC3-863DF1471C46}"/>
              </a:ext>
            </a:extLst>
          </p:cNvPr>
          <p:cNvSpPr txBox="1"/>
          <p:nvPr/>
        </p:nvSpPr>
        <p:spPr>
          <a:xfrm>
            <a:off x="381000" y="2861608"/>
            <a:ext cx="3276600" cy="1631216"/>
          </a:xfrm>
          <a:prstGeom prst="rect">
            <a:avLst/>
          </a:prstGeom>
          <a:noFill/>
        </p:spPr>
        <p:txBody>
          <a:bodyPr wrap="square">
            <a:spAutoFit/>
          </a:bodyPr>
          <a:lstStyle/>
          <a:p>
            <a:r>
              <a:rPr lang="pl-PL" sz="2000" dirty="0">
                <a:latin typeface="Arial Narrow" panose="020B0606020202030204" pitchFamily="34" charset="0"/>
              </a:rPr>
              <a:t>Example:</a:t>
            </a:r>
          </a:p>
          <a:p>
            <a:pPr marL="179388" indent="-179388">
              <a:buFont typeface="Arial" panose="020B0604020202020204" pitchFamily="34" charset="0"/>
              <a:buChar char="•"/>
            </a:pPr>
            <a:r>
              <a:rPr lang="pl-PL" sz="2000" dirty="0">
                <a:latin typeface="Arial Narrow" panose="020B0606020202030204" pitchFamily="34" charset="0"/>
              </a:rPr>
              <a:t>dataset: </a:t>
            </a:r>
            <a:r>
              <a:rPr lang="en-US" sz="2000" dirty="0">
                <a:latin typeface="Arial Narrow" panose="020B0606020202030204" pitchFamily="34" charset="0"/>
              </a:rPr>
              <a:t>10,000 samples</a:t>
            </a:r>
            <a:endParaRPr lang="pl-PL" sz="2000" dirty="0">
              <a:latin typeface="Arial Narrow" panose="020B0606020202030204" pitchFamily="34" charset="0"/>
            </a:endParaRPr>
          </a:p>
          <a:p>
            <a:pPr marL="179388" indent="-179388">
              <a:buFont typeface="Arial" panose="020B0604020202020204" pitchFamily="34" charset="0"/>
              <a:buChar char="•"/>
            </a:pPr>
            <a:r>
              <a:rPr lang="en-US" sz="2000" dirty="0">
                <a:latin typeface="Arial Narrow" panose="020B0606020202030204" pitchFamily="34" charset="0"/>
              </a:rPr>
              <a:t>one batch</a:t>
            </a:r>
            <a:r>
              <a:rPr lang="pl-PL" sz="2000" dirty="0">
                <a:latin typeface="Arial Narrow" panose="020B0606020202030204" pitchFamily="34" charset="0"/>
              </a:rPr>
              <a:t>:</a:t>
            </a:r>
            <a:r>
              <a:rPr lang="en-US" sz="2000" dirty="0">
                <a:latin typeface="Arial Narrow" panose="020B0606020202030204" pitchFamily="34" charset="0"/>
              </a:rPr>
              <a:t> </a:t>
            </a:r>
            <a:r>
              <a:rPr lang="pl-PL" sz="2000" dirty="0">
                <a:latin typeface="Arial Narrow" panose="020B0606020202030204" pitchFamily="34" charset="0"/>
              </a:rPr>
              <a:t>2</a:t>
            </a:r>
            <a:r>
              <a:rPr lang="en-US" sz="2000" dirty="0">
                <a:latin typeface="Arial Narrow" panose="020B0606020202030204" pitchFamily="34" charset="0"/>
              </a:rPr>
              <a:t>,000 samples</a:t>
            </a:r>
            <a:endParaRPr lang="pl-PL" sz="2000" dirty="0">
              <a:latin typeface="Arial Narrow" panose="020B0606020202030204" pitchFamily="34" charset="0"/>
            </a:endParaRPr>
          </a:p>
          <a:p>
            <a:r>
              <a:rPr lang="pl-PL" sz="2000" dirty="0">
                <a:latin typeface="Arial Narrow" panose="020B0606020202030204" pitchFamily="34" charset="0"/>
              </a:rPr>
              <a:t>To</a:t>
            </a:r>
            <a:r>
              <a:rPr lang="en-US" sz="2000" dirty="0">
                <a:latin typeface="Arial Narrow" panose="020B0606020202030204" pitchFamily="34" charset="0"/>
              </a:rPr>
              <a:t> process the entire dataset</a:t>
            </a:r>
            <a:r>
              <a:rPr lang="pl-PL" sz="2000" dirty="0">
                <a:latin typeface="Arial Narrow" panose="020B0606020202030204" pitchFamily="34" charset="0"/>
              </a:rPr>
              <a:t> (epoch)</a:t>
            </a:r>
            <a:r>
              <a:rPr lang="en-US" sz="2000" dirty="0">
                <a:latin typeface="Arial Narrow" panose="020B0606020202030204" pitchFamily="34" charset="0"/>
              </a:rPr>
              <a:t>,</a:t>
            </a:r>
            <a:r>
              <a:rPr lang="pl-PL" sz="2000" dirty="0">
                <a:latin typeface="Arial Narrow" panose="020B0606020202030204" pitchFamily="34" charset="0"/>
              </a:rPr>
              <a:t> 5</a:t>
            </a:r>
            <a:r>
              <a:rPr lang="en-US" sz="2000" dirty="0">
                <a:latin typeface="Arial Narrow" panose="020B0606020202030204" pitchFamily="34" charset="0"/>
              </a:rPr>
              <a:t> iterations are required</a:t>
            </a:r>
            <a:endParaRPr lang="pl-PL" sz="2000" dirty="0">
              <a:latin typeface="Arial Narrow" panose="020B0606020202030204" pitchFamily="34" charset="0"/>
            </a:endParaRPr>
          </a:p>
        </p:txBody>
      </p:sp>
    </p:spTree>
    <p:extLst>
      <p:ext uri="{BB962C8B-B14F-4D97-AF65-F5344CB8AC3E}">
        <p14:creationId xmlns:p14="http://schemas.microsoft.com/office/powerpoint/2010/main" val="1223278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2BE0471-8433-9D4A-1CC3-F79BF8ADF80C}"/>
              </a:ext>
            </a:extLst>
          </p:cNvPr>
          <p:cNvSpPr>
            <a:spLocks noGrp="1"/>
          </p:cNvSpPr>
          <p:nvPr>
            <p:ph type="sldNum" sz="quarter" idx="12"/>
          </p:nvPr>
        </p:nvSpPr>
        <p:spPr/>
        <p:txBody>
          <a:bodyPr/>
          <a:lstStyle/>
          <a:p>
            <a:fld id="{20D4B2D9-DB10-4EB9-B7A6-032A6D4E75AC}" type="slidenum">
              <a:rPr lang="pl-PL" smtClean="0"/>
              <a:pPr/>
              <a:t>23</a:t>
            </a:fld>
            <a:endParaRPr lang="pl-PL" dirty="0"/>
          </a:p>
        </p:txBody>
      </p:sp>
      <p:sp>
        <p:nvSpPr>
          <p:cNvPr id="4" name="Rectangle 2">
            <a:extLst>
              <a:ext uri="{FF2B5EF4-FFF2-40B4-BE49-F238E27FC236}">
                <a16:creationId xmlns:a16="http://schemas.microsoft.com/office/drawing/2014/main" id="{16134AFA-A702-41E7-D539-3C3AEF8B678F}"/>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a:latin typeface="Arial" pitchFamily="34" charset="0"/>
                <a:ea typeface="+mj-lt"/>
                <a:cs typeface="Arial" pitchFamily="34" charset="0"/>
              </a:rPr>
              <a:t>Concepts</a:t>
            </a:r>
            <a:endParaRPr lang="en-GB" sz="4400" dirty="0">
              <a:latin typeface="Arial" pitchFamily="34" charset="0"/>
              <a:ea typeface="+mj-lt"/>
              <a:cs typeface="Arial" pitchFamily="34" charset="0"/>
            </a:endParaRPr>
          </a:p>
        </p:txBody>
      </p:sp>
      <p:sp>
        <p:nvSpPr>
          <p:cNvPr id="5" name="TextBox 1">
            <a:extLst>
              <a:ext uri="{FF2B5EF4-FFF2-40B4-BE49-F238E27FC236}">
                <a16:creationId xmlns:a16="http://schemas.microsoft.com/office/drawing/2014/main" id="{7FB611CD-05EA-C266-3AA4-557B9ED315B9}"/>
              </a:ext>
            </a:extLst>
          </p:cNvPr>
          <p:cNvSpPr txBox="1"/>
          <p:nvPr/>
        </p:nvSpPr>
        <p:spPr>
          <a:xfrm>
            <a:off x="0" y="304800"/>
            <a:ext cx="10668000" cy="2590800"/>
          </a:xfrm>
          <a:prstGeom prst="rect">
            <a:avLst/>
          </a:prstGeom>
          <a:noFill/>
        </p:spPr>
        <p:txBody>
          <a:bodyPr wrap="square" lIns="36000" tIns="36000" rIns="36000" bIns="36000" rtlCol="0">
            <a:noAutofit/>
          </a:bodyPr>
          <a:lstStyle/>
          <a:p>
            <a:r>
              <a:rPr lang="en-US" sz="2000" b="1">
                <a:latin typeface="Arial Narrow" panose="020B0606020202030204" pitchFamily="34" charset="0"/>
              </a:rPr>
              <a:t>Selected concepts related to machine learning</a:t>
            </a:r>
            <a:r>
              <a:rPr lang="pl-PL" sz="2000" b="1">
                <a:latin typeface="Arial Narrow" panose="020B0606020202030204" pitchFamily="34" charset="0"/>
              </a:rPr>
              <a:t>:</a:t>
            </a:r>
          </a:p>
          <a:p>
            <a:endParaRPr lang="pl-PL" sz="2000" b="1">
              <a:latin typeface="Arial Narrow" panose="020B0606020202030204" pitchFamily="34" charset="0"/>
            </a:endParaRPr>
          </a:p>
          <a:p>
            <a:r>
              <a:rPr lang="pl-PL" sz="2400" b="1">
                <a:solidFill>
                  <a:srgbClr val="00B050"/>
                </a:solidFill>
                <a:latin typeface="Arial Narrow" panose="020B0606020202030204" pitchFamily="34" charset="0"/>
              </a:rPr>
              <a:t>ML model</a:t>
            </a:r>
            <a:endParaRPr lang="pl-PL" sz="2400">
              <a:latin typeface="Arial Narrow" panose="020B0606020202030204" pitchFamily="34" charset="0"/>
            </a:endParaRPr>
          </a:p>
          <a:p>
            <a:endParaRPr lang="pl-PL" sz="2400">
              <a:latin typeface="Arial Narrow" panose="020B0606020202030204" pitchFamily="34" charset="0"/>
            </a:endParaRPr>
          </a:p>
          <a:p>
            <a:r>
              <a:rPr lang="en-US" sz="2400">
                <a:latin typeface="Arial Narrow" panose="020B0606020202030204" pitchFamily="34" charset="0"/>
              </a:rPr>
              <a:t>A model is a mathematical representation of relationships found in data.</a:t>
            </a:r>
            <a:endParaRPr lang="pl-PL" sz="2400">
              <a:latin typeface="Arial Narrow" panose="020B0606020202030204" pitchFamily="34" charset="0"/>
            </a:endParaRPr>
          </a:p>
          <a:p>
            <a:r>
              <a:rPr lang="en-US" sz="2400">
                <a:latin typeface="Arial Narrow" panose="020B0606020202030204" pitchFamily="34" charset="0"/>
              </a:rPr>
              <a:t>After training, it can classify, predict, or generate new content.</a:t>
            </a:r>
            <a:endParaRPr lang="pl-PL" sz="2400">
              <a:latin typeface="Arial Narrow" panose="020B0606020202030204" pitchFamily="34" charset="0"/>
            </a:endParaRPr>
          </a:p>
          <a:p>
            <a:r>
              <a:rPr lang="en-US" sz="2400">
                <a:latin typeface="Arial Narrow" panose="020B0606020202030204" pitchFamily="34" charset="0"/>
              </a:rPr>
              <a:t>A model does not “understand” the world in the same way a human does </a:t>
            </a:r>
            <a:r>
              <a:rPr lang="pl-PL" sz="2400">
                <a:latin typeface="Arial Narrow" panose="020B0606020202030204" pitchFamily="34" charset="0"/>
              </a:rPr>
              <a:t>–</a:t>
            </a:r>
            <a:r>
              <a:rPr lang="en-US" sz="2400">
                <a:latin typeface="Arial Narrow" panose="020B0606020202030204" pitchFamily="34" charset="0"/>
              </a:rPr>
              <a:t> it operates on patterns and probabilities.</a:t>
            </a:r>
            <a:endParaRPr lang="pl-PL" sz="2400">
              <a:latin typeface="Arial Narrow" panose="020B0606020202030204" pitchFamily="34" charset="0"/>
            </a:endParaRPr>
          </a:p>
          <a:p>
            <a:endParaRPr lang="pl-PL" sz="2000" b="1" dirty="0">
              <a:latin typeface="Arial Narrow" panose="020B0606020202030204" pitchFamily="34" charset="0"/>
            </a:endParaRPr>
          </a:p>
          <a:p>
            <a:endParaRPr lang="pl-PL" sz="2000" dirty="0">
              <a:latin typeface="Arial Narrow" panose="020B0606020202030204" pitchFamily="34" charset="0"/>
            </a:endParaRPr>
          </a:p>
        </p:txBody>
      </p:sp>
    </p:spTree>
    <p:extLst>
      <p:ext uri="{BB962C8B-B14F-4D97-AF65-F5344CB8AC3E}">
        <p14:creationId xmlns:p14="http://schemas.microsoft.com/office/powerpoint/2010/main" val="3999743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anim calcmode="lin" valueType="num">
                                      <p:cBhvr additive="base">
                                        <p:cTn id="7"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anim calcmode="lin" valueType="num">
                                      <p:cBhvr additive="base">
                                        <p:cTn id="13"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anim calcmode="lin" valueType="num">
                                      <p:cBhvr additive="base">
                                        <p:cTn id="19"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5DFD91A-BD0E-986F-0C61-8BF00094A45F}"/>
              </a:ext>
            </a:extLst>
          </p:cNvPr>
          <p:cNvSpPr>
            <a:spLocks noGrp="1"/>
          </p:cNvSpPr>
          <p:nvPr>
            <p:ph type="sldNum" sz="quarter" idx="12"/>
          </p:nvPr>
        </p:nvSpPr>
        <p:spPr/>
        <p:txBody>
          <a:bodyPr/>
          <a:lstStyle/>
          <a:p>
            <a:fld id="{20D4B2D9-DB10-4EB9-B7A6-032A6D4E75AC}" type="slidenum">
              <a:rPr lang="pl-PL" smtClean="0"/>
              <a:pPr/>
              <a:t>24</a:t>
            </a:fld>
            <a:endParaRPr lang="pl-PL" dirty="0"/>
          </a:p>
        </p:txBody>
      </p:sp>
      <p:sp>
        <p:nvSpPr>
          <p:cNvPr id="4" name="TextBox 1">
            <a:extLst>
              <a:ext uri="{FF2B5EF4-FFF2-40B4-BE49-F238E27FC236}">
                <a16:creationId xmlns:a16="http://schemas.microsoft.com/office/drawing/2014/main" id="{3F294E10-9755-6BCF-3114-AA77BBB1F751}"/>
              </a:ext>
            </a:extLst>
          </p:cNvPr>
          <p:cNvSpPr txBox="1"/>
          <p:nvPr/>
        </p:nvSpPr>
        <p:spPr>
          <a:xfrm>
            <a:off x="0" y="304800"/>
            <a:ext cx="12192000" cy="685800"/>
          </a:xfrm>
          <a:prstGeom prst="rect">
            <a:avLst/>
          </a:prstGeom>
          <a:noFill/>
        </p:spPr>
        <p:txBody>
          <a:bodyPr wrap="square" lIns="36000" tIns="36000" rIns="36000" bIns="36000" rtlCol="0">
            <a:noAutofit/>
          </a:bodyPr>
          <a:lstStyle/>
          <a:p>
            <a:r>
              <a:rPr lang="pl-PL" sz="2000" b="1" dirty="0">
                <a:solidFill>
                  <a:srgbClr val="00B050"/>
                </a:solidFill>
                <a:latin typeface="Arial Narrow" panose="020B0606020202030204" pitchFamily="34" charset="0"/>
              </a:rPr>
              <a:t>Parameters</a:t>
            </a:r>
            <a:r>
              <a:rPr lang="pl-PL" sz="2000" dirty="0">
                <a:latin typeface="Arial Narrow" panose="020B0606020202030204" pitchFamily="34" charset="0"/>
              </a:rPr>
              <a:t> are the set of (usually small) numbers. </a:t>
            </a:r>
            <a:r>
              <a:rPr lang="en-US" sz="2000" dirty="0">
                <a:latin typeface="Arial Narrow" panose="020B0606020202030204" pitchFamily="34" charset="0"/>
              </a:rPr>
              <a:t>Machine learning involves finding the right weights so that the network correctly maps the input data to the output.</a:t>
            </a:r>
            <a:endParaRPr lang="pl-PL" sz="2000" dirty="0">
              <a:latin typeface="Arial Narrow" panose="020B0606020202030204" pitchFamily="34" charset="0"/>
            </a:endParaRPr>
          </a:p>
        </p:txBody>
      </p:sp>
      <p:sp>
        <p:nvSpPr>
          <p:cNvPr id="3" name="Rectangle 2">
            <a:extLst>
              <a:ext uri="{FF2B5EF4-FFF2-40B4-BE49-F238E27FC236}">
                <a16:creationId xmlns:a16="http://schemas.microsoft.com/office/drawing/2014/main" id="{C4AD3728-C9B2-4FD5-0818-2169CE2DB312}"/>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a:latin typeface="Arial" pitchFamily="34" charset="0"/>
                <a:ea typeface="+mj-lt"/>
                <a:cs typeface="Arial" pitchFamily="34" charset="0"/>
              </a:rPr>
              <a:t>Concepts</a:t>
            </a:r>
            <a:endParaRPr lang="en-GB" sz="4400" dirty="0">
              <a:latin typeface="Arial" pitchFamily="34" charset="0"/>
              <a:ea typeface="+mj-lt"/>
              <a:cs typeface="Arial" pitchFamily="34" charset="0"/>
            </a:endParaRPr>
          </a:p>
        </p:txBody>
      </p:sp>
      <p:pic>
        <p:nvPicPr>
          <p:cNvPr id="6" name="Picture 10">
            <a:extLst>
              <a:ext uri="{FF2B5EF4-FFF2-40B4-BE49-F238E27FC236}">
                <a16:creationId xmlns:a16="http://schemas.microsoft.com/office/drawing/2014/main" id="{56231B52-21D4-F1AC-EB46-F559510BEB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 y="1219200"/>
            <a:ext cx="4161537" cy="2438400"/>
          </a:xfrm>
          <a:prstGeom prst="rect">
            <a:avLst/>
          </a:prstGeom>
        </p:spPr>
      </p:pic>
      <p:sp>
        <p:nvSpPr>
          <p:cNvPr id="8" name="TextBox 7">
            <a:extLst>
              <a:ext uri="{FF2B5EF4-FFF2-40B4-BE49-F238E27FC236}">
                <a16:creationId xmlns:a16="http://schemas.microsoft.com/office/drawing/2014/main" id="{94C931CD-49E7-203F-26A5-A81A27531C5A}"/>
              </a:ext>
            </a:extLst>
          </p:cNvPr>
          <p:cNvSpPr txBox="1"/>
          <p:nvPr/>
        </p:nvSpPr>
        <p:spPr>
          <a:xfrm>
            <a:off x="0" y="4303455"/>
            <a:ext cx="11582400" cy="2554545"/>
          </a:xfrm>
          <a:prstGeom prst="rect">
            <a:avLst/>
          </a:prstGeom>
          <a:noFill/>
        </p:spPr>
        <p:txBody>
          <a:bodyPr wrap="square">
            <a:spAutoFit/>
          </a:bodyPr>
          <a:lstStyle/>
          <a:p>
            <a:r>
              <a:rPr lang="pl-PL" sz="2000" b="1">
                <a:solidFill>
                  <a:srgbClr val="FF0000"/>
                </a:solidFill>
                <a:latin typeface="Arial Narrow" panose="020B0606020202030204" pitchFamily="34" charset="0"/>
              </a:rPr>
              <a:t>Hyperparameters</a:t>
            </a:r>
            <a:r>
              <a:rPr lang="pl-PL" sz="2000">
                <a:latin typeface="Arial Narrow" panose="020B0606020202030204" pitchFamily="34" charset="0"/>
              </a:rPr>
              <a:t> – </a:t>
            </a:r>
            <a:r>
              <a:rPr lang="en-US" sz="2000">
                <a:latin typeface="Arial Narrow" panose="020B0606020202030204" pitchFamily="34" charset="0"/>
              </a:rPr>
              <a:t>model attributes tuned by model developers</a:t>
            </a:r>
            <a:r>
              <a:rPr lang="pl-PL" sz="2000">
                <a:latin typeface="Arial Narrow" panose="020B0606020202030204" pitchFamily="34" charset="0"/>
              </a:rPr>
              <a:t>.</a:t>
            </a:r>
          </a:p>
          <a:p>
            <a:r>
              <a:rPr lang="en-US" sz="2000">
                <a:latin typeface="Arial Narrow" panose="020B0606020202030204" pitchFamily="34" charset="0"/>
              </a:rPr>
              <a:t>Types of hyperparameters:</a:t>
            </a:r>
            <a:endParaRPr lang="pl-PL" sz="2000">
              <a:latin typeface="Arial Narrow" panose="020B0606020202030204" pitchFamily="34" charset="0"/>
            </a:endParaRPr>
          </a:p>
          <a:p>
            <a:pPr marL="263525" indent="-263525">
              <a:buFont typeface="Arial" panose="020B0604020202020204" pitchFamily="34" charset="0"/>
              <a:buChar char="•"/>
            </a:pPr>
            <a:r>
              <a:rPr lang="en-US" sz="2000">
                <a:latin typeface="Arial Narrow" panose="020B0606020202030204" pitchFamily="34" charset="0"/>
              </a:rPr>
              <a:t>model hyperparameters (relating to the model’s structure, e.g., number and size of hidden layers</a:t>
            </a:r>
            <a:r>
              <a:rPr lang="pl-PL" sz="2000">
                <a:latin typeface="Arial Narrow" panose="020B0606020202030204" pitchFamily="34" charset="0"/>
              </a:rPr>
              <a:t>, number of epochs, batch size</a:t>
            </a:r>
            <a:r>
              <a:rPr lang="en-US" sz="2000">
                <a:latin typeface="Arial Narrow" panose="020B0606020202030204" pitchFamily="34" charset="0"/>
              </a:rPr>
              <a:t>),</a:t>
            </a:r>
            <a:endParaRPr lang="pl-PL" sz="2000">
              <a:latin typeface="Arial Narrow" panose="020B0606020202030204" pitchFamily="34" charset="0"/>
            </a:endParaRPr>
          </a:p>
          <a:p>
            <a:pPr marL="263525" indent="-263525">
              <a:buFont typeface="Arial" panose="020B0604020202020204" pitchFamily="34" charset="0"/>
              <a:buChar char="•"/>
            </a:pPr>
            <a:r>
              <a:rPr lang="en-US" sz="2000">
                <a:latin typeface="Arial Narrow" panose="020B0606020202030204" pitchFamily="34" charset="0"/>
              </a:rPr>
              <a:t>learning algorithm hyperparameters (e.g., learning rate, optimizer, </a:t>
            </a:r>
            <a:r>
              <a:rPr lang="pl-PL" sz="2000">
                <a:latin typeface="Arial Narrow" panose="020B0606020202030204" pitchFamily="34" charset="0"/>
              </a:rPr>
              <a:t>activation</a:t>
            </a:r>
            <a:r>
              <a:rPr lang="en-US" sz="2000">
                <a:latin typeface="Arial Narrow" panose="020B0606020202030204" pitchFamily="34" charset="0"/>
              </a:rPr>
              <a:t> function).</a:t>
            </a:r>
            <a:endParaRPr lang="pl-PL" sz="2000">
              <a:latin typeface="Arial Narrow" panose="020B0606020202030204" pitchFamily="34" charset="0"/>
            </a:endParaRPr>
          </a:p>
          <a:p>
            <a:endParaRPr lang="pl-PL" sz="2000">
              <a:latin typeface="Arial Narrow" panose="020B0606020202030204" pitchFamily="34" charset="0"/>
            </a:endParaRPr>
          </a:p>
          <a:p>
            <a:r>
              <a:rPr lang="en-US" sz="2000" b="1">
                <a:latin typeface="Arial Narrow" panose="020B0606020202030204" pitchFamily="34" charset="0"/>
              </a:rPr>
              <a:t>The weights (parameters) </a:t>
            </a:r>
            <a:r>
              <a:rPr lang="en-US" sz="2000">
                <a:latin typeface="Arial Narrow" panose="020B0606020202030204" pitchFamily="34" charset="0"/>
              </a:rPr>
              <a:t>are tuned automatically during the training process,</a:t>
            </a:r>
            <a:r>
              <a:rPr lang="en-US" sz="2000" b="1">
                <a:latin typeface="Arial Narrow" panose="020B0606020202030204" pitchFamily="34" charset="0"/>
              </a:rPr>
              <a:t> </a:t>
            </a:r>
            <a:endParaRPr lang="pl-PL" sz="2000" b="1">
              <a:latin typeface="Arial Narrow" panose="020B0606020202030204" pitchFamily="34" charset="0"/>
            </a:endParaRPr>
          </a:p>
          <a:p>
            <a:r>
              <a:rPr lang="en-US" sz="2000">
                <a:latin typeface="Arial Narrow" panose="020B0606020202030204" pitchFamily="34" charset="0"/>
              </a:rPr>
              <a:t>while the </a:t>
            </a:r>
            <a:r>
              <a:rPr lang="en-US" sz="2000" b="1">
                <a:latin typeface="Arial Narrow" panose="020B0606020202030204" pitchFamily="34" charset="0"/>
              </a:rPr>
              <a:t>hyperparameters </a:t>
            </a:r>
            <a:r>
              <a:rPr lang="en-US" sz="2000">
                <a:latin typeface="Arial Narrow" panose="020B0606020202030204" pitchFamily="34" charset="0"/>
              </a:rPr>
              <a:t>are set by experts or using various methods.</a:t>
            </a:r>
            <a:endParaRPr lang="pl-PL" sz="2000">
              <a:latin typeface="Arial Narrow" panose="020B0606020202030204" pitchFamily="34" charset="0"/>
            </a:endParaRPr>
          </a:p>
        </p:txBody>
      </p:sp>
      <p:sp>
        <p:nvSpPr>
          <p:cNvPr id="10" name="TextBox 9">
            <a:extLst>
              <a:ext uri="{FF2B5EF4-FFF2-40B4-BE49-F238E27FC236}">
                <a16:creationId xmlns:a16="http://schemas.microsoft.com/office/drawing/2014/main" id="{ECAF3781-9336-1D2B-6487-6D125807DDDB}"/>
              </a:ext>
            </a:extLst>
          </p:cNvPr>
          <p:cNvSpPr txBox="1"/>
          <p:nvPr/>
        </p:nvSpPr>
        <p:spPr>
          <a:xfrm>
            <a:off x="5334000" y="1727537"/>
            <a:ext cx="4648200" cy="1015663"/>
          </a:xfrm>
          <a:prstGeom prst="rect">
            <a:avLst/>
          </a:prstGeom>
          <a:noFill/>
        </p:spPr>
        <p:txBody>
          <a:bodyPr wrap="square">
            <a:spAutoFit/>
          </a:bodyPr>
          <a:lstStyle/>
          <a:p>
            <a:r>
              <a:rPr lang="en-US" sz="2000" dirty="0">
                <a:solidFill>
                  <a:srgbClr val="0070C0"/>
                </a:solidFill>
                <a:latin typeface="Arial Narrow" panose="020B0606020202030204" pitchFamily="34" charset="0"/>
              </a:rPr>
              <a:t>Each neuron in the hidden layer is assigned a weight. These weights are model parameters and contain the network</a:t>
            </a:r>
            <a:r>
              <a:rPr lang="pl-PL" sz="2000" dirty="0">
                <a:solidFill>
                  <a:srgbClr val="0070C0"/>
                </a:solidFill>
                <a:latin typeface="Arial Narrow" panose="020B0606020202030204" pitchFamily="34" charset="0"/>
              </a:rPr>
              <a:t>’</a:t>
            </a:r>
            <a:r>
              <a:rPr lang="en-US" sz="2000" dirty="0">
                <a:solidFill>
                  <a:srgbClr val="0070C0"/>
                </a:solidFill>
                <a:latin typeface="Arial Narrow" panose="020B0606020202030204" pitchFamily="34" charset="0"/>
              </a:rPr>
              <a:t>s knowledge</a:t>
            </a:r>
            <a:endParaRPr lang="pl-PL" sz="2000" dirty="0">
              <a:solidFill>
                <a:srgbClr val="0070C0"/>
              </a:solidFill>
              <a:latin typeface="Arial Narrow" panose="020B0606020202030204" pitchFamily="34" charset="0"/>
            </a:endParaRPr>
          </a:p>
        </p:txBody>
      </p:sp>
      <p:sp>
        <p:nvSpPr>
          <p:cNvPr id="11" name="Rectangle 10">
            <a:extLst>
              <a:ext uri="{FF2B5EF4-FFF2-40B4-BE49-F238E27FC236}">
                <a16:creationId xmlns:a16="http://schemas.microsoft.com/office/drawing/2014/main" id="{4DBAF69B-8CB0-338B-49FC-BDC472445352}"/>
              </a:ext>
            </a:extLst>
          </p:cNvPr>
          <p:cNvSpPr/>
          <p:nvPr/>
        </p:nvSpPr>
        <p:spPr>
          <a:xfrm>
            <a:off x="2133600" y="1371601"/>
            <a:ext cx="1828800" cy="2133600"/>
          </a:xfrm>
          <a:prstGeom prst="rect">
            <a:avLst/>
          </a:prstGeom>
          <a:noFill/>
          <a:ln w="3492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Tree>
    <p:extLst>
      <p:ext uri="{BB962C8B-B14F-4D97-AF65-F5344CB8AC3E}">
        <p14:creationId xmlns:p14="http://schemas.microsoft.com/office/powerpoint/2010/main" val="1520024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anim calcmode="lin" valueType="num">
                                      <p:cBhvr additive="base">
                                        <p:cTn id="11"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anim calcmode="lin" valueType="num">
                                      <p:cBhvr additive="base">
                                        <p:cTn id="15"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8">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 calcmode="lin" valueType="num">
                                      <p:cBhvr additive="base">
                                        <p:cTn id="19"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xEl>
                                              <p:pRg st="5" end="5"/>
                                            </p:txEl>
                                          </p:spTgt>
                                        </p:tgtEl>
                                        <p:attrNameLst>
                                          <p:attrName>style.visibility</p:attrName>
                                        </p:attrNameLst>
                                      </p:cBhvr>
                                      <p:to>
                                        <p:strVal val="visible"/>
                                      </p:to>
                                    </p:set>
                                    <p:anim calcmode="lin" valueType="num">
                                      <p:cBhvr additive="base">
                                        <p:cTn id="25"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8">
                                            <p:txEl>
                                              <p:pRg st="6" end="6"/>
                                            </p:txEl>
                                          </p:spTgt>
                                        </p:tgtEl>
                                        <p:attrNameLst>
                                          <p:attrName>style.visibility</p:attrName>
                                        </p:attrNameLst>
                                      </p:cBhvr>
                                      <p:to>
                                        <p:strVal val="visible"/>
                                      </p:to>
                                    </p:set>
                                    <p:anim calcmode="lin" valueType="num">
                                      <p:cBhvr additive="base">
                                        <p:cTn id="29"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8">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4763780-6177-6A43-70CE-985F2B4F2095}"/>
              </a:ext>
            </a:extLst>
          </p:cNvPr>
          <p:cNvSpPr>
            <a:spLocks noGrp="1"/>
          </p:cNvSpPr>
          <p:nvPr>
            <p:ph type="sldNum" sz="quarter" idx="12"/>
          </p:nvPr>
        </p:nvSpPr>
        <p:spPr/>
        <p:txBody>
          <a:bodyPr/>
          <a:lstStyle/>
          <a:p>
            <a:fld id="{20D4B2D9-DB10-4EB9-B7A6-032A6D4E75AC}" type="slidenum">
              <a:rPr lang="pl-PL" smtClean="0"/>
              <a:pPr/>
              <a:t>25</a:t>
            </a:fld>
            <a:endParaRPr lang="pl-PL" dirty="0"/>
          </a:p>
        </p:txBody>
      </p:sp>
      <p:sp>
        <p:nvSpPr>
          <p:cNvPr id="3" name="Rectangle 2">
            <a:extLst>
              <a:ext uri="{FF2B5EF4-FFF2-40B4-BE49-F238E27FC236}">
                <a16:creationId xmlns:a16="http://schemas.microsoft.com/office/drawing/2014/main" id="{7CA2B271-684C-928D-F27A-A77CA975879F}"/>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a:latin typeface="Arial" pitchFamily="34" charset="0"/>
                <a:ea typeface="+mj-lt"/>
                <a:cs typeface="Arial" pitchFamily="34" charset="0"/>
              </a:rPr>
              <a:t>Concepts</a:t>
            </a:r>
            <a:endParaRPr lang="en-GB" sz="4400" dirty="0">
              <a:latin typeface="Arial" pitchFamily="34" charset="0"/>
              <a:ea typeface="+mj-lt"/>
              <a:cs typeface="Arial" pitchFamily="34" charset="0"/>
            </a:endParaRPr>
          </a:p>
        </p:txBody>
      </p:sp>
      <p:pic>
        <p:nvPicPr>
          <p:cNvPr id="5" name="Picture 4">
            <a:extLst>
              <a:ext uri="{FF2B5EF4-FFF2-40B4-BE49-F238E27FC236}">
                <a16:creationId xmlns:a16="http://schemas.microsoft.com/office/drawing/2014/main" id="{F087E31A-E88E-8D5A-AD24-A9F466331FC5}"/>
              </a:ext>
            </a:extLst>
          </p:cNvPr>
          <p:cNvPicPr>
            <a:picLocks noChangeAspect="1"/>
          </p:cNvPicPr>
          <p:nvPr/>
        </p:nvPicPr>
        <p:blipFill>
          <a:blip r:embed="rId2"/>
          <a:stretch>
            <a:fillRect/>
          </a:stretch>
        </p:blipFill>
        <p:spPr>
          <a:xfrm>
            <a:off x="1375030" y="362522"/>
            <a:ext cx="9750170" cy="6495478"/>
          </a:xfrm>
          <a:prstGeom prst="rect">
            <a:avLst/>
          </a:prstGeom>
        </p:spPr>
      </p:pic>
    </p:spTree>
    <p:extLst>
      <p:ext uri="{BB962C8B-B14F-4D97-AF65-F5344CB8AC3E}">
        <p14:creationId xmlns:p14="http://schemas.microsoft.com/office/powerpoint/2010/main" val="12980048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2DB75BF-9A48-0F72-EB41-E95891756F1B}"/>
              </a:ext>
            </a:extLst>
          </p:cNvPr>
          <p:cNvSpPr>
            <a:spLocks noGrp="1"/>
          </p:cNvSpPr>
          <p:nvPr>
            <p:ph type="sldNum" sz="quarter" idx="12"/>
          </p:nvPr>
        </p:nvSpPr>
        <p:spPr/>
        <p:txBody>
          <a:bodyPr/>
          <a:lstStyle/>
          <a:p>
            <a:fld id="{20D4B2D9-DB10-4EB9-B7A6-032A6D4E75AC}" type="slidenum">
              <a:rPr lang="pl-PL" smtClean="0"/>
              <a:pPr/>
              <a:t>26</a:t>
            </a:fld>
            <a:endParaRPr lang="pl-PL" dirty="0"/>
          </a:p>
        </p:txBody>
      </p:sp>
      <p:sp>
        <p:nvSpPr>
          <p:cNvPr id="4" name="Rectangle 2">
            <a:extLst>
              <a:ext uri="{FF2B5EF4-FFF2-40B4-BE49-F238E27FC236}">
                <a16:creationId xmlns:a16="http://schemas.microsoft.com/office/drawing/2014/main" id="{D09EDE8D-154C-B144-3B65-8A596C7EBE3A}"/>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a:latin typeface="Arial" pitchFamily="34" charset="0"/>
                <a:ea typeface="+mj-lt"/>
                <a:cs typeface="Arial" pitchFamily="34" charset="0"/>
              </a:rPr>
              <a:t>Concepts</a:t>
            </a:r>
            <a:endParaRPr lang="en-GB" sz="4400" dirty="0">
              <a:latin typeface="Arial" pitchFamily="34" charset="0"/>
              <a:ea typeface="+mj-lt"/>
              <a:cs typeface="Arial" pitchFamily="34" charset="0"/>
            </a:endParaRPr>
          </a:p>
        </p:txBody>
      </p:sp>
      <p:pic>
        <p:nvPicPr>
          <p:cNvPr id="6" name="Picture 5">
            <a:extLst>
              <a:ext uri="{FF2B5EF4-FFF2-40B4-BE49-F238E27FC236}">
                <a16:creationId xmlns:a16="http://schemas.microsoft.com/office/drawing/2014/main" id="{463A1603-2A9D-7F40-7F03-C46CB793F13F}"/>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204210" y="762000"/>
            <a:ext cx="5783580" cy="3036380"/>
          </a:xfrm>
          <a:prstGeom prst="rect">
            <a:avLst/>
          </a:prstGeom>
        </p:spPr>
      </p:pic>
      <p:sp>
        <p:nvSpPr>
          <p:cNvPr id="8" name="Prostokąt 4">
            <a:extLst>
              <a:ext uri="{FF2B5EF4-FFF2-40B4-BE49-F238E27FC236}">
                <a16:creationId xmlns:a16="http://schemas.microsoft.com/office/drawing/2014/main" id="{212D6F3A-B753-90CE-1C71-2D7F36665DCB}"/>
              </a:ext>
            </a:extLst>
          </p:cNvPr>
          <p:cNvSpPr/>
          <p:nvPr/>
        </p:nvSpPr>
        <p:spPr>
          <a:xfrm>
            <a:off x="0" y="304800"/>
            <a:ext cx="8915400" cy="461665"/>
          </a:xfrm>
          <a:prstGeom prst="rect">
            <a:avLst/>
          </a:prstGeom>
        </p:spPr>
        <p:txBody>
          <a:bodyPr wrap="square">
            <a:spAutoFit/>
          </a:bodyPr>
          <a:lstStyle/>
          <a:p>
            <a:r>
              <a:rPr lang="pl-PL" sz="2400" b="1">
                <a:solidFill>
                  <a:srgbClr val="000000"/>
                </a:solidFill>
                <a:latin typeface="Arial Narrow" panose="020B0606020202030204" pitchFamily="34" charset="0"/>
                <a:cs typeface="Calibri" panose="020F0502020204030204" pitchFamily="34" charset="0"/>
              </a:rPr>
              <a:t>Datasets in ML:</a:t>
            </a:r>
            <a:endParaRPr lang="pl-PL" sz="2400" b="1" dirty="0">
              <a:solidFill>
                <a:srgbClr val="000000"/>
              </a:solidFill>
              <a:latin typeface="Arial Narrow" panose="020B0606020202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27209F7D-8318-75C6-853E-54004B3A10DF}"/>
              </a:ext>
            </a:extLst>
          </p:cNvPr>
          <p:cNvSpPr txBox="1"/>
          <p:nvPr/>
        </p:nvSpPr>
        <p:spPr>
          <a:xfrm>
            <a:off x="15240" y="3723144"/>
            <a:ext cx="12100560" cy="3416320"/>
          </a:xfrm>
          <a:prstGeom prst="rect">
            <a:avLst/>
          </a:prstGeom>
          <a:noFill/>
        </p:spPr>
        <p:txBody>
          <a:bodyPr wrap="square">
            <a:spAutoFit/>
          </a:bodyPr>
          <a:lstStyle/>
          <a:p>
            <a:pPr marL="263525" indent="-263525">
              <a:buFont typeface="Arial" panose="020B0604020202020204" pitchFamily="34" charset="0"/>
              <a:buChar char="•"/>
            </a:pPr>
            <a:r>
              <a:rPr lang="pl-PL" sz="2400" b="1">
                <a:latin typeface="Arial Narrow" panose="020B0606020202030204" pitchFamily="34" charset="0"/>
              </a:rPr>
              <a:t>training set</a:t>
            </a:r>
            <a:r>
              <a:rPr lang="pl-PL" sz="2400">
                <a:latin typeface="Arial Narrow" panose="020B0606020202030204" pitchFamily="34" charset="0"/>
              </a:rPr>
              <a:t> – used in the model training process</a:t>
            </a:r>
          </a:p>
          <a:p>
            <a:pPr marL="263525" indent="-263525">
              <a:buFont typeface="Arial" panose="020B0604020202020204" pitchFamily="34" charset="0"/>
              <a:buChar char="•"/>
            </a:pPr>
            <a:r>
              <a:rPr lang="pl-PL" sz="2400" b="1">
                <a:latin typeface="Arial Narrow" panose="020B0606020202030204" pitchFamily="34" charset="0"/>
              </a:rPr>
              <a:t>testing set</a:t>
            </a:r>
            <a:r>
              <a:rPr lang="pl-PL" sz="2400">
                <a:latin typeface="Arial Narrow" panose="020B0606020202030204" pitchFamily="34" charset="0"/>
              </a:rPr>
              <a:t> – used to verify the model’s accuracy; it is not involved in the training or validation processes; it must accurately reflect the underlying distribution from which the data originates (the frequency of occurrence of individual classes in the test set should match their expected frequency occurrence in reality)</a:t>
            </a:r>
          </a:p>
          <a:p>
            <a:pPr marL="263525" indent="-263525">
              <a:buFont typeface="Arial" panose="020B0604020202020204" pitchFamily="34" charset="0"/>
              <a:buChar char="•"/>
            </a:pPr>
            <a:r>
              <a:rPr lang="pl-PL" sz="2400" b="1">
                <a:latin typeface="Arial Narrow" panose="020B0606020202030204" pitchFamily="34" charset="0"/>
              </a:rPr>
              <a:t>validation set</a:t>
            </a:r>
            <a:r>
              <a:rPr lang="pl-PL" sz="2400">
                <a:latin typeface="Arial Narrow" panose="020B0606020202030204" pitchFamily="34" charset="0"/>
              </a:rPr>
              <a:t> (evaluation set, development set) – used to assess the model’s performance and fine-tune it during training process; it provides feedback based on an analysis of the model’s performance using validation data and is used to determine when training should end</a:t>
            </a:r>
          </a:p>
          <a:p>
            <a:pPr marL="263525" indent="-263525">
              <a:buFont typeface="Arial" panose="020B0604020202020204" pitchFamily="34" charset="0"/>
              <a:buChar char="•"/>
            </a:pPr>
            <a:endParaRPr lang="pl-PL" sz="2400">
              <a:latin typeface="Arial Narrow" panose="020B0606020202030204" pitchFamily="34" charset="0"/>
            </a:endParaRPr>
          </a:p>
        </p:txBody>
      </p:sp>
    </p:spTree>
    <p:extLst>
      <p:ext uri="{BB962C8B-B14F-4D97-AF65-F5344CB8AC3E}">
        <p14:creationId xmlns:p14="http://schemas.microsoft.com/office/powerpoint/2010/main" val="4284831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378C75-07D5-E3DD-9834-6AB947A07EC7}"/>
              </a:ext>
            </a:extLst>
          </p:cNvPr>
          <p:cNvSpPr>
            <a:spLocks noGrp="1"/>
          </p:cNvSpPr>
          <p:nvPr>
            <p:ph type="sldNum" sz="quarter" idx="12"/>
          </p:nvPr>
        </p:nvSpPr>
        <p:spPr/>
        <p:txBody>
          <a:bodyPr/>
          <a:lstStyle/>
          <a:p>
            <a:fld id="{20D4B2D9-DB10-4EB9-B7A6-032A6D4E75AC}" type="slidenum">
              <a:rPr lang="pl-PL" smtClean="0"/>
              <a:pPr/>
              <a:t>27</a:t>
            </a:fld>
            <a:endParaRPr lang="pl-PL" dirty="0"/>
          </a:p>
        </p:txBody>
      </p:sp>
      <p:sp>
        <p:nvSpPr>
          <p:cNvPr id="5" name="Prostokąt 4">
            <a:extLst>
              <a:ext uri="{FF2B5EF4-FFF2-40B4-BE49-F238E27FC236}">
                <a16:creationId xmlns:a16="http://schemas.microsoft.com/office/drawing/2014/main" id="{74E200EF-2344-0021-1D1F-B1E3A03FB7AD}"/>
              </a:ext>
            </a:extLst>
          </p:cNvPr>
          <p:cNvSpPr/>
          <p:nvPr/>
        </p:nvSpPr>
        <p:spPr>
          <a:xfrm>
            <a:off x="1534886" y="1267123"/>
            <a:ext cx="8915400" cy="3539430"/>
          </a:xfrm>
          <a:prstGeom prst="rect">
            <a:avLst/>
          </a:prstGeom>
        </p:spPr>
        <p:txBody>
          <a:bodyPr wrap="square">
            <a:spAutoFit/>
          </a:bodyPr>
          <a:lstStyle/>
          <a:p>
            <a:r>
              <a:rPr lang="pl-PL" sz="3200" b="1">
                <a:solidFill>
                  <a:srgbClr val="0000FF"/>
                </a:solidFill>
                <a:latin typeface="Arial Narrow" panose="020B0606020202030204" pitchFamily="34" charset="0"/>
                <a:cs typeface="Calibri" panose="020F0502020204030204" pitchFamily="34" charset="0"/>
              </a:rPr>
              <a:t>The t</a:t>
            </a:r>
            <a:r>
              <a:rPr lang="en-US" sz="3200" b="1">
                <a:solidFill>
                  <a:srgbClr val="0000FF"/>
                </a:solidFill>
                <a:latin typeface="Arial Narrow" panose="020B0606020202030204" pitchFamily="34" charset="0"/>
                <a:cs typeface="Calibri" panose="020F0502020204030204" pitchFamily="34" charset="0"/>
              </a:rPr>
              <a:t>ypes of </a:t>
            </a:r>
            <a:r>
              <a:rPr lang="pl-PL" sz="3200" b="1">
                <a:solidFill>
                  <a:srgbClr val="0000FF"/>
                </a:solidFill>
                <a:latin typeface="Arial Narrow" panose="020B0606020202030204" pitchFamily="34" charset="0"/>
                <a:cs typeface="Calibri" panose="020F0502020204030204" pitchFamily="34" charset="0"/>
              </a:rPr>
              <a:t>M</a:t>
            </a:r>
            <a:r>
              <a:rPr lang="en-US" sz="3200" b="1">
                <a:solidFill>
                  <a:srgbClr val="0000FF"/>
                </a:solidFill>
                <a:latin typeface="Arial Narrow" panose="020B0606020202030204" pitchFamily="34" charset="0"/>
                <a:cs typeface="Calibri" panose="020F0502020204030204" pitchFamily="34" charset="0"/>
              </a:rPr>
              <a:t>achine </a:t>
            </a:r>
            <a:r>
              <a:rPr lang="pl-PL" sz="3200" b="1">
                <a:solidFill>
                  <a:srgbClr val="0000FF"/>
                </a:solidFill>
                <a:latin typeface="Arial Narrow" panose="020B0606020202030204" pitchFamily="34" charset="0"/>
                <a:cs typeface="Calibri" panose="020F0502020204030204" pitchFamily="34" charset="0"/>
              </a:rPr>
              <a:t>L</a:t>
            </a:r>
            <a:r>
              <a:rPr lang="en-US" sz="3200" b="1">
                <a:solidFill>
                  <a:srgbClr val="0000FF"/>
                </a:solidFill>
                <a:latin typeface="Arial Narrow" panose="020B0606020202030204" pitchFamily="34" charset="0"/>
                <a:cs typeface="Calibri" panose="020F0502020204030204" pitchFamily="34" charset="0"/>
              </a:rPr>
              <a:t>earning tasks</a:t>
            </a:r>
            <a:r>
              <a:rPr lang="pl-PL" sz="3200" b="1">
                <a:solidFill>
                  <a:srgbClr val="0000FF"/>
                </a:solidFill>
                <a:latin typeface="Arial Narrow" panose="020B0606020202030204" pitchFamily="34" charset="0"/>
                <a:cs typeface="Calibri" panose="020F0502020204030204" pitchFamily="34" charset="0"/>
              </a:rPr>
              <a:t>:</a:t>
            </a:r>
          </a:p>
          <a:p>
            <a:pPr marL="355600" indent="-355600">
              <a:buFont typeface="+mj-lt"/>
              <a:buAutoNum type="arabicPeriod"/>
            </a:pPr>
            <a:r>
              <a:rPr lang="en-US" sz="3200">
                <a:solidFill>
                  <a:srgbClr val="0000FF"/>
                </a:solidFill>
                <a:latin typeface="Arial Narrow" panose="020B0606020202030204" pitchFamily="34" charset="0"/>
                <a:cs typeface="Calibri" panose="020F0502020204030204" pitchFamily="34" charset="0"/>
              </a:rPr>
              <a:t>Based on the type of </a:t>
            </a:r>
            <a:r>
              <a:rPr lang="pl-PL" sz="3200">
                <a:solidFill>
                  <a:srgbClr val="0000FF"/>
                </a:solidFill>
                <a:latin typeface="Arial Narrow" panose="020B0606020202030204" pitchFamily="34" charset="0"/>
                <a:cs typeface="Calibri" panose="020F0502020204030204" pitchFamily="34" charset="0"/>
              </a:rPr>
              <a:t>the </a:t>
            </a:r>
            <a:r>
              <a:rPr lang="en-US" sz="3200">
                <a:solidFill>
                  <a:srgbClr val="0000FF"/>
                </a:solidFill>
                <a:latin typeface="Arial Narrow" panose="020B0606020202030204" pitchFamily="34" charset="0"/>
                <a:cs typeface="Calibri" panose="020F0502020204030204" pitchFamily="34" charset="0"/>
              </a:rPr>
              <a:t>problem being solved</a:t>
            </a:r>
            <a:r>
              <a:rPr lang="pl-PL" sz="3200">
                <a:solidFill>
                  <a:srgbClr val="0000FF"/>
                </a:solidFill>
                <a:latin typeface="Arial Narrow" panose="020B0606020202030204" pitchFamily="34" charset="0"/>
                <a:cs typeface="Calibri" panose="020F0502020204030204" pitchFamily="34" charset="0"/>
              </a:rPr>
              <a:t>:</a:t>
            </a:r>
            <a:br>
              <a:rPr lang="pl-PL" sz="3200">
                <a:solidFill>
                  <a:srgbClr val="0000FF"/>
                </a:solidFill>
                <a:latin typeface="Arial Narrow" panose="020B0606020202030204" pitchFamily="34" charset="0"/>
                <a:cs typeface="Calibri" panose="020F0502020204030204" pitchFamily="34" charset="0"/>
              </a:rPr>
            </a:br>
            <a:r>
              <a:rPr lang="pl-PL" sz="3200">
                <a:solidFill>
                  <a:srgbClr val="0000FF"/>
                </a:solidFill>
                <a:latin typeface="Arial Narrow" panose="020B0606020202030204" pitchFamily="34" charset="0"/>
                <a:cs typeface="Calibri" panose="020F0502020204030204" pitchFamily="34" charset="0"/>
              </a:rPr>
              <a:t>classification</a:t>
            </a:r>
            <a:br>
              <a:rPr lang="pl-PL" sz="3200">
                <a:solidFill>
                  <a:srgbClr val="0000FF"/>
                </a:solidFill>
                <a:latin typeface="Arial Narrow" panose="020B0606020202030204" pitchFamily="34" charset="0"/>
                <a:cs typeface="Calibri" panose="020F0502020204030204" pitchFamily="34" charset="0"/>
              </a:rPr>
            </a:br>
            <a:r>
              <a:rPr lang="pl-PL" sz="3200">
                <a:solidFill>
                  <a:srgbClr val="0000FF"/>
                </a:solidFill>
                <a:latin typeface="Arial Narrow" panose="020B0606020202030204" pitchFamily="34" charset="0"/>
                <a:cs typeface="Calibri" panose="020F0502020204030204" pitchFamily="34" charset="0"/>
              </a:rPr>
              <a:t>regression</a:t>
            </a:r>
            <a:br>
              <a:rPr lang="pl-PL" sz="3200">
                <a:solidFill>
                  <a:srgbClr val="0000FF"/>
                </a:solidFill>
                <a:latin typeface="Arial Narrow" panose="020B0606020202030204" pitchFamily="34" charset="0"/>
                <a:cs typeface="Calibri" panose="020F0502020204030204" pitchFamily="34" charset="0"/>
              </a:rPr>
            </a:br>
            <a:r>
              <a:rPr lang="pl-PL" sz="3200">
                <a:solidFill>
                  <a:srgbClr val="0000FF"/>
                </a:solidFill>
                <a:latin typeface="Arial Narrow" panose="020B0606020202030204" pitchFamily="34" charset="0"/>
                <a:cs typeface="Calibri" panose="020F0502020204030204" pitchFamily="34" charset="0"/>
              </a:rPr>
              <a:t>clustering</a:t>
            </a:r>
          </a:p>
          <a:p>
            <a:pPr marL="355600" indent="-355600">
              <a:buFont typeface="+mj-lt"/>
              <a:buAutoNum type="arabicPeriod"/>
            </a:pPr>
            <a:r>
              <a:rPr lang="en-US" sz="3200">
                <a:latin typeface="Arial Narrow" panose="020B0606020202030204" pitchFamily="34" charset="0"/>
                <a:cs typeface="Calibri" panose="020F0502020204030204" pitchFamily="34" charset="0"/>
              </a:rPr>
              <a:t>Based on the learning method</a:t>
            </a:r>
            <a:endParaRPr lang="pl-PL" sz="3200">
              <a:latin typeface="Arial Narrow" panose="020B0606020202030204" pitchFamily="34" charset="0"/>
              <a:cs typeface="Calibri" panose="020F0502020204030204" pitchFamily="34" charset="0"/>
            </a:endParaRPr>
          </a:p>
          <a:p>
            <a:pPr marL="355600" indent="-355600">
              <a:buFont typeface="+mj-lt"/>
              <a:buAutoNum type="arabicPeriod"/>
            </a:pPr>
            <a:r>
              <a:rPr lang="en-US" sz="3200">
                <a:latin typeface="Arial Narrow" panose="020B0606020202030204" pitchFamily="34" charset="0"/>
                <a:cs typeface="Calibri" panose="020F0502020204030204" pitchFamily="34" charset="0"/>
              </a:rPr>
              <a:t>Based on the method of data streaming</a:t>
            </a:r>
            <a:endParaRPr lang="pl-PL" sz="2800" dirty="0">
              <a:latin typeface="Arial Narrow" panose="020B0606020202030204" pitchFamily="34" charset="0"/>
              <a:cs typeface="Calibri" panose="020F0502020204030204" pitchFamily="34" charset="0"/>
            </a:endParaRPr>
          </a:p>
        </p:txBody>
      </p:sp>
    </p:spTree>
    <p:extLst>
      <p:ext uri="{BB962C8B-B14F-4D97-AF65-F5344CB8AC3E}">
        <p14:creationId xmlns:p14="http://schemas.microsoft.com/office/powerpoint/2010/main" val="32078833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ECBB791-660A-40F1-3FF3-D8D82B919D12}"/>
              </a:ext>
            </a:extLst>
          </p:cNvPr>
          <p:cNvSpPr>
            <a:spLocks noGrp="1"/>
          </p:cNvSpPr>
          <p:nvPr>
            <p:ph type="sldNum" sz="quarter" idx="12"/>
          </p:nvPr>
        </p:nvSpPr>
        <p:spPr/>
        <p:txBody>
          <a:bodyPr/>
          <a:lstStyle/>
          <a:p>
            <a:fld id="{20D4B2D9-DB10-4EB9-B7A6-032A6D4E75AC}" type="slidenum">
              <a:rPr lang="pl-PL" smtClean="0"/>
              <a:pPr/>
              <a:t>28</a:t>
            </a:fld>
            <a:endParaRPr lang="pl-PL" dirty="0"/>
          </a:p>
        </p:txBody>
      </p:sp>
      <p:pic>
        <p:nvPicPr>
          <p:cNvPr id="7" name="Picture 6">
            <a:extLst>
              <a:ext uri="{FF2B5EF4-FFF2-40B4-BE49-F238E27FC236}">
                <a16:creationId xmlns:a16="http://schemas.microsoft.com/office/drawing/2014/main" id="{83F24B46-B90A-5FCA-4836-4A4038953392}"/>
              </a:ext>
            </a:extLst>
          </p:cNvPr>
          <p:cNvPicPr>
            <a:picLocks noChangeAspect="1"/>
          </p:cNvPicPr>
          <p:nvPr/>
        </p:nvPicPr>
        <p:blipFill>
          <a:blip r:embed="rId2"/>
          <a:stretch>
            <a:fillRect/>
          </a:stretch>
        </p:blipFill>
        <p:spPr>
          <a:xfrm>
            <a:off x="4267200" y="3107059"/>
            <a:ext cx="3195970" cy="3020688"/>
          </a:xfrm>
          <a:prstGeom prst="rect">
            <a:avLst/>
          </a:prstGeom>
        </p:spPr>
      </p:pic>
      <p:pic>
        <p:nvPicPr>
          <p:cNvPr id="9" name="Picture 8">
            <a:extLst>
              <a:ext uri="{FF2B5EF4-FFF2-40B4-BE49-F238E27FC236}">
                <a16:creationId xmlns:a16="http://schemas.microsoft.com/office/drawing/2014/main" id="{B51A697C-6E59-2CB0-C284-C5482ED459C5}"/>
              </a:ext>
            </a:extLst>
          </p:cNvPr>
          <p:cNvPicPr>
            <a:picLocks noChangeAspect="1"/>
          </p:cNvPicPr>
          <p:nvPr/>
        </p:nvPicPr>
        <p:blipFill>
          <a:blip r:embed="rId3"/>
          <a:stretch>
            <a:fillRect/>
          </a:stretch>
        </p:blipFill>
        <p:spPr>
          <a:xfrm>
            <a:off x="223520" y="3276600"/>
            <a:ext cx="2876550" cy="2711415"/>
          </a:xfrm>
          <a:prstGeom prst="rect">
            <a:avLst/>
          </a:prstGeom>
        </p:spPr>
      </p:pic>
      <p:pic>
        <p:nvPicPr>
          <p:cNvPr id="11" name="Picture 10">
            <a:extLst>
              <a:ext uri="{FF2B5EF4-FFF2-40B4-BE49-F238E27FC236}">
                <a16:creationId xmlns:a16="http://schemas.microsoft.com/office/drawing/2014/main" id="{45D9E7B9-DB7E-AD23-ACD7-F16C52EEF5D0}"/>
              </a:ext>
            </a:extLst>
          </p:cNvPr>
          <p:cNvPicPr>
            <a:picLocks noChangeAspect="1"/>
          </p:cNvPicPr>
          <p:nvPr/>
        </p:nvPicPr>
        <p:blipFill>
          <a:blip r:embed="rId4"/>
          <a:stretch>
            <a:fillRect/>
          </a:stretch>
        </p:blipFill>
        <p:spPr>
          <a:xfrm>
            <a:off x="8386430" y="3107059"/>
            <a:ext cx="3195970" cy="3048008"/>
          </a:xfrm>
          <a:prstGeom prst="rect">
            <a:avLst/>
          </a:prstGeom>
        </p:spPr>
      </p:pic>
      <p:sp>
        <p:nvSpPr>
          <p:cNvPr id="12" name="Prostokąt 4">
            <a:extLst>
              <a:ext uri="{FF2B5EF4-FFF2-40B4-BE49-F238E27FC236}">
                <a16:creationId xmlns:a16="http://schemas.microsoft.com/office/drawing/2014/main" id="{B7277015-3092-36FD-F193-3F3B474BEB7C}"/>
              </a:ext>
            </a:extLst>
          </p:cNvPr>
          <p:cNvSpPr/>
          <p:nvPr/>
        </p:nvSpPr>
        <p:spPr>
          <a:xfrm>
            <a:off x="1011646" y="3030859"/>
            <a:ext cx="2198914" cy="523220"/>
          </a:xfrm>
          <a:prstGeom prst="rect">
            <a:avLst/>
          </a:prstGeom>
        </p:spPr>
        <p:txBody>
          <a:bodyPr wrap="square">
            <a:spAutoFit/>
          </a:bodyPr>
          <a:lstStyle/>
          <a:p>
            <a:r>
              <a:rPr lang="pl-PL" sz="2800" b="1">
                <a:solidFill>
                  <a:srgbClr val="0000FF"/>
                </a:solidFill>
                <a:latin typeface="Arial Narrow" panose="020B0606020202030204" pitchFamily="34" charset="0"/>
                <a:cs typeface="Calibri" panose="020F0502020204030204" pitchFamily="34" charset="0"/>
              </a:rPr>
              <a:t>classification</a:t>
            </a:r>
          </a:p>
        </p:txBody>
      </p:sp>
      <p:sp>
        <p:nvSpPr>
          <p:cNvPr id="13" name="Prostokąt 4">
            <a:extLst>
              <a:ext uri="{FF2B5EF4-FFF2-40B4-BE49-F238E27FC236}">
                <a16:creationId xmlns:a16="http://schemas.microsoft.com/office/drawing/2014/main" id="{56AEB187-8CB0-ADBC-111E-6F26271E5B85}"/>
              </a:ext>
            </a:extLst>
          </p:cNvPr>
          <p:cNvSpPr/>
          <p:nvPr/>
        </p:nvSpPr>
        <p:spPr>
          <a:xfrm>
            <a:off x="4737501" y="3030859"/>
            <a:ext cx="1739499" cy="523220"/>
          </a:xfrm>
          <a:prstGeom prst="rect">
            <a:avLst/>
          </a:prstGeom>
        </p:spPr>
        <p:txBody>
          <a:bodyPr wrap="square">
            <a:spAutoFit/>
          </a:bodyPr>
          <a:lstStyle/>
          <a:p>
            <a:r>
              <a:rPr lang="pl-PL" sz="2800" b="1">
                <a:solidFill>
                  <a:srgbClr val="0000FF"/>
                </a:solidFill>
                <a:latin typeface="Arial Narrow" panose="020B0606020202030204" pitchFamily="34" charset="0"/>
                <a:cs typeface="Calibri" panose="020F0502020204030204" pitchFamily="34" charset="0"/>
              </a:rPr>
              <a:t>regression</a:t>
            </a:r>
          </a:p>
        </p:txBody>
      </p:sp>
      <p:sp>
        <p:nvSpPr>
          <p:cNvPr id="14" name="Prostokąt 4">
            <a:extLst>
              <a:ext uri="{FF2B5EF4-FFF2-40B4-BE49-F238E27FC236}">
                <a16:creationId xmlns:a16="http://schemas.microsoft.com/office/drawing/2014/main" id="{399A6D6E-AC74-60D0-7001-B7B6FF83D35A}"/>
              </a:ext>
            </a:extLst>
          </p:cNvPr>
          <p:cNvSpPr/>
          <p:nvPr/>
        </p:nvSpPr>
        <p:spPr>
          <a:xfrm>
            <a:off x="9128760" y="3030859"/>
            <a:ext cx="2133600" cy="523220"/>
          </a:xfrm>
          <a:prstGeom prst="rect">
            <a:avLst/>
          </a:prstGeom>
        </p:spPr>
        <p:txBody>
          <a:bodyPr wrap="square">
            <a:spAutoFit/>
          </a:bodyPr>
          <a:lstStyle/>
          <a:p>
            <a:r>
              <a:rPr lang="pl-PL" sz="2800" b="1">
                <a:solidFill>
                  <a:srgbClr val="0000FF"/>
                </a:solidFill>
                <a:latin typeface="Arial Narrow" panose="020B0606020202030204" pitchFamily="34" charset="0"/>
                <a:cs typeface="Calibri" panose="020F0502020204030204" pitchFamily="34" charset="0"/>
              </a:rPr>
              <a:t>clustering</a:t>
            </a:r>
          </a:p>
        </p:txBody>
      </p:sp>
      <p:sp>
        <p:nvSpPr>
          <p:cNvPr id="3" name="Prostokąt 4">
            <a:extLst>
              <a:ext uri="{FF2B5EF4-FFF2-40B4-BE49-F238E27FC236}">
                <a16:creationId xmlns:a16="http://schemas.microsoft.com/office/drawing/2014/main" id="{C718EEA3-F6CD-43C5-32FA-8F54420AAB1E}"/>
              </a:ext>
            </a:extLst>
          </p:cNvPr>
          <p:cNvSpPr/>
          <p:nvPr/>
        </p:nvSpPr>
        <p:spPr>
          <a:xfrm>
            <a:off x="76200" y="304800"/>
            <a:ext cx="11887200" cy="2246769"/>
          </a:xfrm>
          <a:prstGeom prst="rect">
            <a:avLst/>
          </a:prstGeom>
        </p:spPr>
        <p:txBody>
          <a:bodyPr wrap="square">
            <a:spAutoFit/>
          </a:bodyPr>
          <a:lstStyle/>
          <a:p>
            <a:r>
              <a:rPr lang="pl-PL" sz="2800" b="1">
                <a:latin typeface="Arial Narrow" panose="020B0606020202030204" pitchFamily="34" charset="0"/>
                <a:cs typeface="Calibri" panose="020F0502020204030204" pitchFamily="34" charset="0"/>
              </a:rPr>
              <a:t>The t</a:t>
            </a:r>
            <a:r>
              <a:rPr lang="en-US" sz="2800" b="1">
                <a:latin typeface="Arial Narrow" panose="020B0606020202030204" pitchFamily="34" charset="0"/>
                <a:cs typeface="Calibri" panose="020F0502020204030204" pitchFamily="34" charset="0"/>
              </a:rPr>
              <a:t>ypes of </a:t>
            </a:r>
            <a:r>
              <a:rPr lang="pl-PL" sz="2800" b="1">
                <a:latin typeface="Arial Narrow" panose="020B0606020202030204" pitchFamily="34" charset="0"/>
                <a:cs typeface="Calibri" panose="020F0502020204030204" pitchFamily="34" charset="0"/>
              </a:rPr>
              <a:t>M</a:t>
            </a:r>
            <a:r>
              <a:rPr lang="en-US" sz="2800" b="1">
                <a:latin typeface="Arial Narrow" panose="020B0606020202030204" pitchFamily="34" charset="0"/>
                <a:cs typeface="Calibri" panose="020F0502020204030204" pitchFamily="34" charset="0"/>
              </a:rPr>
              <a:t>achine </a:t>
            </a:r>
            <a:r>
              <a:rPr lang="pl-PL" sz="2800" b="1">
                <a:latin typeface="Arial Narrow" panose="020B0606020202030204" pitchFamily="34" charset="0"/>
                <a:cs typeface="Calibri" panose="020F0502020204030204" pitchFamily="34" charset="0"/>
              </a:rPr>
              <a:t>L</a:t>
            </a:r>
            <a:r>
              <a:rPr lang="en-US" sz="2800" b="1">
                <a:latin typeface="Arial Narrow" panose="020B0606020202030204" pitchFamily="34" charset="0"/>
                <a:cs typeface="Calibri" panose="020F0502020204030204" pitchFamily="34" charset="0"/>
              </a:rPr>
              <a:t>earning</a:t>
            </a:r>
            <a:r>
              <a:rPr lang="pl-PL" sz="2800" b="1">
                <a:latin typeface="Arial Narrow" panose="020B0606020202030204" pitchFamily="34" charset="0"/>
                <a:cs typeface="Calibri" panose="020F0502020204030204" pitchFamily="34" charset="0"/>
              </a:rPr>
              <a:t> tasks</a:t>
            </a:r>
            <a:br>
              <a:rPr lang="pl-PL" sz="2800" b="1">
                <a:latin typeface="Arial Narrow" panose="020B0606020202030204" pitchFamily="34" charset="0"/>
                <a:cs typeface="Calibri" panose="020F0502020204030204" pitchFamily="34" charset="0"/>
              </a:rPr>
            </a:br>
            <a:r>
              <a:rPr lang="en-US" sz="2800" b="1">
                <a:latin typeface="Arial Narrow" panose="020B0606020202030204" pitchFamily="34" charset="0"/>
                <a:cs typeface="Calibri" panose="020F0502020204030204" pitchFamily="34" charset="0"/>
              </a:rPr>
              <a:t>based on the type of </a:t>
            </a:r>
            <a:r>
              <a:rPr lang="pl-PL" sz="2800" b="1">
                <a:latin typeface="Arial Narrow" panose="020B0606020202030204" pitchFamily="34" charset="0"/>
                <a:cs typeface="Calibri" panose="020F0502020204030204" pitchFamily="34" charset="0"/>
              </a:rPr>
              <a:t>the </a:t>
            </a:r>
            <a:r>
              <a:rPr lang="en-US" sz="2800" b="1">
                <a:latin typeface="Arial Narrow" panose="020B0606020202030204" pitchFamily="34" charset="0"/>
                <a:cs typeface="Calibri" panose="020F0502020204030204" pitchFamily="34" charset="0"/>
              </a:rPr>
              <a:t>problem being solved:</a:t>
            </a:r>
            <a:endParaRPr lang="pl-PL" sz="2800" b="1">
              <a:latin typeface="Arial Narrow" panose="020B0606020202030204" pitchFamily="34" charset="0"/>
              <a:cs typeface="Calibri" panose="020F0502020204030204" pitchFamily="34" charset="0"/>
            </a:endParaRPr>
          </a:p>
          <a:p>
            <a:pPr marL="263525" indent="-263525">
              <a:buFont typeface="Arial" panose="020B0604020202020204" pitchFamily="34" charset="0"/>
              <a:buChar char="•"/>
            </a:pPr>
            <a:r>
              <a:rPr lang="pl-PL" sz="2800" b="1">
                <a:solidFill>
                  <a:srgbClr val="0000FF"/>
                </a:solidFill>
                <a:latin typeface="Arial Narrow" panose="020B0606020202030204" pitchFamily="34" charset="0"/>
                <a:cs typeface="Calibri" panose="020F0502020204030204" pitchFamily="34" charset="0"/>
              </a:rPr>
              <a:t>classification </a:t>
            </a:r>
            <a:r>
              <a:rPr lang="pl-PL" sz="2800" b="1">
                <a:latin typeface="Arial Narrow" panose="020B0606020202030204" pitchFamily="34" charset="0"/>
                <a:cs typeface="Calibri" panose="020F0502020204030204" pitchFamily="34" charset="0"/>
              </a:rPr>
              <a:t>– </a:t>
            </a:r>
            <a:r>
              <a:rPr lang="en-US" sz="2800" b="1">
                <a:latin typeface="Arial Narrow" panose="020B0606020202030204" pitchFamily="34" charset="0"/>
                <a:cs typeface="Calibri" panose="020F0502020204030204" pitchFamily="34" charset="0"/>
              </a:rPr>
              <a:t>a model predicts </a:t>
            </a:r>
            <a:r>
              <a:rPr lang="pl-PL" sz="2800" b="1">
                <a:latin typeface="Arial Narrow" panose="020B0606020202030204" pitchFamily="34" charset="0"/>
                <a:cs typeface="Calibri" panose="020F0502020204030204" pitchFamily="34" charset="0"/>
              </a:rPr>
              <a:t>a </a:t>
            </a:r>
            <a:r>
              <a:rPr lang="en-US" sz="2800" b="1">
                <a:solidFill>
                  <a:srgbClr val="FF0000"/>
                </a:solidFill>
                <a:latin typeface="Arial Narrow" panose="020B0606020202030204" pitchFamily="34" charset="0"/>
                <a:cs typeface="Calibri" panose="020F0502020204030204" pitchFamily="34" charset="0"/>
              </a:rPr>
              <a:t>class label</a:t>
            </a:r>
            <a:r>
              <a:rPr lang="en-US" sz="2800" b="1">
                <a:latin typeface="Arial Narrow" panose="020B0606020202030204" pitchFamily="34" charset="0"/>
                <a:cs typeface="Calibri" panose="020F0502020204030204" pitchFamily="34" charset="0"/>
              </a:rPr>
              <a:t> for given input data</a:t>
            </a:r>
            <a:endParaRPr lang="pl-PL" sz="2800" b="1">
              <a:latin typeface="Arial Narrow" panose="020B0606020202030204" pitchFamily="34" charset="0"/>
              <a:cs typeface="Calibri" panose="020F0502020204030204" pitchFamily="34" charset="0"/>
            </a:endParaRPr>
          </a:p>
          <a:p>
            <a:pPr marL="263525" indent="-263525">
              <a:buFont typeface="Arial" panose="020B0604020202020204" pitchFamily="34" charset="0"/>
              <a:buChar char="•"/>
            </a:pPr>
            <a:r>
              <a:rPr lang="pl-PL" sz="2800" b="1">
                <a:solidFill>
                  <a:srgbClr val="0000FF"/>
                </a:solidFill>
                <a:latin typeface="Arial Narrow" panose="020B0606020202030204" pitchFamily="34" charset="0"/>
                <a:cs typeface="Calibri" panose="020F0502020204030204" pitchFamily="34" charset="0"/>
              </a:rPr>
              <a:t>regression </a:t>
            </a:r>
            <a:r>
              <a:rPr lang="pl-PL" sz="2800" b="1">
                <a:latin typeface="Arial Narrow" panose="020B0606020202030204" pitchFamily="34" charset="0"/>
                <a:cs typeface="Calibri" panose="020F0502020204030204" pitchFamily="34" charset="0"/>
              </a:rPr>
              <a:t>– model predicts a </a:t>
            </a:r>
            <a:r>
              <a:rPr lang="pl-PL" sz="2800" b="1">
                <a:solidFill>
                  <a:srgbClr val="FF0000"/>
                </a:solidFill>
                <a:latin typeface="Arial Narrow" panose="020B0606020202030204" pitchFamily="34" charset="0"/>
                <a:cs typeface="Calibri" panose="020F0502020204030204" pitchFamily="34" charset="0"/>
              </a:rPr>
              <a:t>continuous numerical value</a:t>
            </a:r>
          </a:p>
          <a:p>
            <a:pPr marL="263525" indent="-263525">
              <a:buFont typeface="Arial" panose="020B0604020202020204" pitchFamily="34" charset="0"/>
              <a:buChar char="•"/>
            </a:pPr>
            <a:r>
              <a:rPr lang="pl-PL" sz="2800" b="1">
                <a:solidFill>
                  <a:srgbClr val="0000FF"/>
                </a:solidFill>
                <a:latin typeface="Arial Narrow" panose="020B0606020202030204" pitchFamily="34" charset="0"/>
                <a:cs typeface="Calibri" panose="020F0502020204030204" pitchFamily="34" charset="0"/>
              </a:rPr>
              <a:t>clustering</a:t>
            </a:r>
            <a:r>
              <a:rPr lang="pl-PL" sz="2800" b="1">
                <a:latin typeface="Arial Narrow" panose="020B0606020202030204" pitchFamily="34" charset="0"/>
                <a:cs typeface="Calibri" panose="020F0502020204030204" pitchFamily="34" charset="0"/>
              </a:rPr>
              <a:t> – </a:t>
            </a:r>
            <a:r>
              <a:rPr lang="en-US" sz="2800" b="1">
                <a:latin typeface="Arial Narrow" panose="020B0606020202030204" pitchFamily="34" charset="0"/>
                <a:cs typeface="Calibri" panose="020F0502020204030204" pitchFamily="34" charset="0"/>
              </a:rPr>
              <a:t>model </a:t>
            </a:r>
            <a:r>
              <a:rPr lang="en-US" sz="2800" b="1">
                <a:solidFill>
                  <a:srgbClr val="FF0000"/>
                </a:solidFill>
                <a:latin typeface="Arial Narrow" panose="020B0606020202030204" pitchFamily="34" charset="0"/>
                <a:cs typeface="Calibri" panose="020F0502020204030204" pitchFamily="34" charset="0"/>
              </a:rPr>
              <a:t>groups similar </a:t>
            </a:r>
            <a:r>
              <a:rPr lang="pl-PL" sz="2800" b="1">
                <a:solidFill>
                  <a:srgbClr val="FF0000"/>
                </a:solidFill>
                <a:latin typeface="Arial Narrow" panose="020B0606020202030204" pitchFamily="34" charset="0"/>
                <a:cs typeface="Calibri" panose="020F0502020204030204" pitchFamily="34" charset="0"/>
              </a:rPr>
              <a:t>samples</a:t>
            </a:r>
            <a:endParaRPr lang="pl-PL" sz="2800" dirty="0">
              <a:solidFill>
                <a:srgbClr val="FF0000"/>
              </a:solidFill>
              <a:latin typeface="Arial Narrow" panose="020B0606020202030204" pitchFamily="34" charset="0"/>
              <a:cs typeface="Calibri" panose="020F0502020204030204" pitchFamily="34" charset="0"/>
            </a:endParaRPr>
          </a:p>
        </p:txBody>
      </p:sp>
      <p:sp>
        <p:nvSpPr>
          <p:cNvPr id="2" name="Rectangle 2">
            <a:extLst>
              <a:ext uri="{FF2B5EF4-FFF2-40B4-BE49-F238E27FC236}">
                <a16:creationId xmlns:a16="http://schemas.microsoft.com/office/drawing/2014/main" id="{0508A9D5-ED8D-7994-1978-22E0C628CAAE}"/>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en-US" sz="1600">
                <a:latin typeface="Arial" pitchFamily="34" charset="0"/>
                <a:ea typeface="+mj-lt"/>
                <a:cs typeface="Arial" pitchFamily="34" charset="0"/>
              </a:rPr>
              <a:t>Types of </a:t>
            </a:r>
            <a:r>
              <a:rPr lang="pl-PL" sz="1600">
                <a:latin typeface="Arial" pitchFamily="34" charset="0"/>
                <a:ea typeface="+mj-lt"/>
                <a:cs typeface="Arial" pitchFamily="34" charset="0"/>
              </a:rPr>
              <a:t>ML</a:t>
            </a:r>
            <a:r>
              <a:rPr lang="en-US" sz="1600">
                <a:latin typeface="Arial" pitchFamily="34" charset="0"/>
                <a:ea typeface="+mj-lt"/>
                <a:cs typeface="Arial" pitchFamily="34" charset="0"/>
              </a:rPr>
              <a:t> tasks</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20636680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F07DE35-C508-236A-C48A-8608496B2261}"/>
              </a:ext>
            </a:extLst>
          </p:cNvPr>
          <p:cNvSpPr>
            <a:spLocks noGrp="1"/>
          </p:cNvSpPr>
          <p:nvPr>
            <p:ph type="sldNum" sz="quarter" idx="12"/>
          </p:nvPr>
        </p:nvSpPr>
        <p:spPr/>
        <p:txBody>
          <a:bodyPr/>
          <a:lstStyle/>
          <a:p>
            <a:fld id="{20D4B2D9-DB10-4EB9-B7A6-032A6D4E75AC}" type="slidenum">
              <a:rPr lang="pl-PL" smtClean="0"/>
              <a:pPr/>
              <a:t>29</a:t>
            </a:fld>
            <a:endParaRPr lang="pl-PL" dirty="0"/>
          </a:p>
        </p:txBody>
      </p:sp>
      <p:sp>
        <p:nvSpPr>
          <p:cNvPr id="8" name="Prostokąt 4">
            <a:extLst>
              <a:ext uri="{FF2B5EF4-FFF2-40B4-BE49-F238E27FC236}">
                <a16:creationId xmlns:a16="http://schemas.microsoft.com/office/drawing/2014/main" id="{8BA21C72-CFFA-3E48-7990-5C965F54CBDF}"/>
              </a:ext>
            </a:extLst>
          </p:cNvPr>
          <p:cNvSpPr/>
          <p:nvPr/>
        </p:nvSpPr>
        <p:spPr>
          <a:xfrm>
            <a:off x="56909" y="1371600"/>
            <a:ext cx="8661400" cy="1508105"/>
          </a:xfrm>
          <a:prstGeom prst="rect">
            <a:avLst/>
          </a:prstGeom>
        </p:spPr>
        <p:txBody>
          <a:bodyPr wrap="square">
            <a:spAutoFit/>
          </a:bodyPr>
          <a:lstStyle/>
          <a:p>
            <a:r>
              <a:rPr lang="pl-PL" sz="2800" b="1">
                <a:latin typeface="Arial Narrow" panose="020B0606020202030204" pitchFamily="34" charset="0"/>
                <a:cs typeface="Calibri" panose="020F0502020204030204" pitchFamily="34" charset="0"/>
              </a:rPr>
              <a:t>The t</a:t>
            </a:r>
            <a:r>
              <a:rPr lang="en-US" sz="2800" b="1">
                <a:latin typeface="Arial Narrow" panose="020B0606020202030204" pitchFamily="34" charset="0"/>
                <a:cs typeface="Calibri" panose="020F0502020204030204" pitchFamily="34" charset="0"/>
              </a:rPr>
              <a:t>ypes of </a:t>
            </a:r>
            <a:r>
              <a:rPr lang="pl-PL" sz="2800" b="1">
                <a:latin typeface="Arial Narrow" panose="020B0606020202030204" pitchFamily="34" charset="0"/>
                <a:cs typeface="Calibri" panose="020F0502020204030204" pitchFamily="34" charset="0"/>
              </a:rPr>
              <a:t>M</a:t>
            </a:r>
            <a:r>
              <a:rPr lang="en-US" sz="2800" b="1">
                <a:latin typeface="Arial Narrow" panose="020B0606020202030204" pitchFamily="34" charset="0"/>
                <a:cs typeface="Calibri" panose="020F0502020204030204" pitchFamily="34" charset="0"/>
              </a:rPr>
              <a:t>achine </a:t>
            </a:r>
            <a:r>
              <a:rPr lang="pl-PL" sz="2800" b="1">
                <a:latin typeface="Arial Narrow" panose="020B0606020202030204" pitchFamily="34" charset="0"/>
                <a:cs typeface="Calibri" panose="020F0502020204030204" pitchFamily="34" charset="0"/>
              </a:rPr>
              <a:t>L</a:t>
            </a:r>
            <a:r>
              <a:rPr lang="en-US" sz="2800" b="1">
                <a:latin typeface="Arial Narrow" panose="020B0606020202030204" pitchFamily="34" charset="0"/>
                <a:cs typeface="Calibri" panose="020F0502020204030204" pitchFamily="34" charset="0"/>
              </a:rPr>
              <a:t>earning</a:t>
            </a:r>
            <a:r>
              <a:rPr lang="pl-PL" sz="2800" b="1">
                <a:latin typeface="Arial Narrow" panose="020B0606020202030204" pitchFamily="34" charset="0"/>
                <a:cs typeface="Calibri" panose="020F0502020204030204" pitchFamily="34" charset="0"/>
              </a:rPr>
              <a:t> tasks </a:t>
            </a:r>
            <a:br>
              <a:rPr lang="pl-PL" sz="2800" b="1">
                <a:latin typeface="Arial Narrow" panose="020B0606020202030204" pitchFamily="34" charset="0"/>
                <a:cs typeface="Calibri" panose="020F0502020204030204" pitchFamily="34" charset="0"/>
              </a:rPr>
            </a:br>
            <a:r>
              <a:rPr lang="en-US" sz="2800" b="1">
                <a:latin typeface="Arial Narrow" panose="020B0606020202030204" pitchFamily="34" charset="0"/>
                <a:cs typeface="Calibri" panose="020F0502020204030204" pitchFamily="34" charset="0"/>
              </a:rPr>
              <a:t>based on the type of </a:t>
            </a:r>
            <a:r>
              <a:rPr lang="pl-PL" sz="2800" b="1">
                <a:latin typeface="Arial Narrow" panose="020B0606020202030204" pitchFamily="34" charset="0"/>
                <a:cs typeface="Calibri" panose="020F0502020204030204" pitchFamily="34" charset="0"/>
              </a:rPr>
              <a:t>the </a:t>
            </a:r>
            <a:r>
              <a:rPr lang="en-US" sz="2800" b="1">
                <a:latin typeface="Arial Narrow" panose="020B0606020202030204" pitchFamily="34" charset="0"/>
                <a:cs typeface="Calibri" panose="020F0502020204030204" pitchFamily="34" charset="0"/>
              </a:rPr>
              <a:t>problem being solved:</a:t>
            </a:r>
          </a:p>
          <a:p>
            <a:r>
              <a:rPr lang="pl-PL" sz="3600" b="1">
                <a:solidFill>
                  <a:srgbClr val="0000FF"/>
                </a:solidFill>
                <a:latin typeface="Arial Narrow" panose="020B0606020202030204" pitchFamily="34" charset="0"/>
                <a:cs typeface="Calibri" panose="020F0502020204030204" pitchFamily="34" charset="0"/>
              </a:rPr>
              <a:t>classification (binary, multiclass, multilabel)</a:t>
            </a:r>
            <a:endParaRPr lang="pl-PL" sz="2800" b="1">
              <a:solidFill>
                <a:srgbClr val="0000FF"/>
              </a:solidFill>
              <a:latin typeface="Arial Narrow" panose="020B0606020202030204" pitchFamily="34" charset="0"/>
              <a:cs typeface="Calibri" panose="020F0502020204030204" pitchFamily="34" charset="0"/>
            </a:endParaRPr>
          </a:p>
        </p:txBody>
      </p:sp>
    </p:spTree>
    <p:extLst>
      <p:ext uri="{BB962C8B-B14F-4D97-AF65-F5344CB8AC3E}">
        <p14:creationId xmlns:p14="http://schemas.microsoft.com/office/powerpoint/2010/main" val="23362919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F29F64-BB85-DD84-8475-18115C57E1BF}"/>
              </a:ext>
            </a:extLst>
          </p:cNvPr>
          <p:cNvSpPr>
            <a:spLocks noGrp="1"/>
          </p:cNvSpPr>
          <p:nvPr>
            <p:ph type="sldNum" sz="quarter" idx="12"/>
          </p:nvPr>
        </p:nvSpPr>
        <p:spPr/>
        <p:txBody>
          <a:bodyPr/>
          <a:lstStyle/>
          <a:p>
            <a:fld id="{20D4B2D9-DB10-4EB9-B7A6-032A6D4E75AC}" type="slidenum">
              <a:rPr lang="pl-PL" smtClean="0"/>
              <a:pPr/>
              <a:t>30</a:t>
            </a:fld>
            <a:endParaRPr lang="pl-PL" dirty="0"/>
          </a:p>
        </p:txBody>
      </p:sp>
      <p:sp>
        <p:nvSpPr>
          <p:cNvPr id="4" name="Rectangle 2">
            <a:extLst>
              <a:ext uri="{FF2B5EF4-FFF2-40B4-BE49-F238E27FC236}">
                <a16:creationId xmlns:a16="http://schemas.microsoft.com/office/drawing/2014/main" id="{201EC3A2-6DEC-EE45-4B4D-660D7031A3DE}"/>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a:latin typeface="Arial" pitchFamily="34" charset="0"/>
                <a:ea typeface="+mj-lt"/>
                <a:cs typeface="Arial" pitchFamily="34" charset="0"/>
              </a:rPr>
              <a:t>Concepts</a:t>
            </a:r>
            <a:endParaRPr lang="en-GB" sz="4400" dirty="0">
              <a:latin typeface="Arial" pitchFamily="34" charset="0"/>
              <a:ea typeface="+mj-lt"/>
              <a:cs typeface="Arial" pitchFamily="34" charset="0"/>
            </a:endParaRPr>
          </a:p>
        </p:txBody>
      </p:sp>
      <p:sp>
        <p:nvSpPr>
          <p:cNvPr id="5" name="TextBox 1">
            <a:extLst>
              <a:ext uri="{FF2B5EF4-FFF2-40B4-BE49-F238E27FC236}">
                <a16:creationId xmlns:a16="http://schemas.microsoft.com/office/drawing/2014/main" id="{4ADFE49C-B697-FC01-39D9-EEB42C2ADB9F}"/>
              </a:ext>
            </a:extLst>
          </p:cNvPr>
          <p:cNvSpPr txBox="1"/>
          <p:nvPr/>
        </p:nvSpPr>
        <p:spPr>
          <a:xfrm>
            <a:off x="0" y="304800"/>
            <a:ext cx="12039600" cy="2667000"/>
          </a:xfrm>
          <a:prstGeom prst="rect">
            <a:avLst/>
          </a:prstGeom>
          <a:noFill/>
        </p:spPr>
        <p:txBody>
          <a:bodyPr wrap="square" lIns="36000" tIns="36000" rIns="36000" bIns="36000" rtlCol="0">
            <a:noAutofit/>
          </a:bodyPr>
          <a:lstStyle/>
          <a:p>
            <a:r>
              <a:rPr lang="pl-PL" sz="2000" b="1">
                <a:solidFill>
                  <a:srgbClr val="00B050"/>
                </a:solidFill>
                <a:latin typeface="Arial Narrow" panose="020B0606020202030204" pitchFamily="34" charset="0"/>
              </a:rPr>
              <a:t>Class</a:t>
            </a:r>
            <a:r>
              <a:rPr lang="pl-PL" sz="2000" b="1">
                <a:latin typeface="Arial Narrow" panose="020B0606020202030204" pitchFamily="34" charset="0"/>
              </a:rPr>
              <a:t> </a:t>
            </a:r>
            <a:r>
              <a:rPr lang="pl-PL" sz="2000">
                <a:latin typeface="Arial Narrow" panose="020B0606020202030204" pitchFamily="34" charset="0"/>
              </a:rPr>
              <a:t>– </a:t>
            </a:r>
            <a:r>
              <a:rPr lang="en-US" sz="2000">
                <a:latin typeface="Arial Narrow" panose="020B0606020202030204" pitchFamily="34" charset="0"/>
              </a:rPr>
              <a:t>the set of all possible categories in a classification problem. For example, the classes “cat,” “dog,” and “pigeon” are all the possible categories that can be assigned to photos</a:t>
            </a:r>
            <a:r>
              <a:rPr lang="pl-PL" sz="2000">
                <a:latin typeface="Arial Narrow" panose="020B0606020202030204" pitchFamily="34" charset="0"/>
              </a:rPr>
              <a:t>.</a:t>
            </a:r>
            <a:endParaRPr lang="pl-PL" sz="2000" dirty="0">
              <a:latin typeface="Arial Narrow" panose="020B0606020202030204" pitchFamily="34" charset="0"/>
            </a:endParaRPr>
          </a:p>
          <a:p>
            <a:r>
              <a:rPr lang="pl-PL" sz="2000" b="1">
                <a:solidFill>
                  <a:srgbClr val="FF0000"/>
                </a:solidFill>
                <a:latin typeface="Arial Narrow" panose="020B0606020202030204" pitchFamily="34" charset="0"/>
              </a:rPr>
              <a:t>Label</a:t>
            </a:r>
            <a:r>
              <a:rPr lang="pl-PL" sz="2000">
                <a:latin typeface="Arial Narrow" panose="020B0606020202030204" pitchFamily="34" charset="0"/>
              </a:rPr>
              <a:t> – </a:t>
            </a:r>
            <a:r>
              <a:rPr lang="en-US" sz="2000">
                <a:latin typeface="Arial Narrow" panose="020B0606020202030204" pitchFamily="34" charset="0"/>
              </a:rPr>
              <a:t>a specific value (class) assigned to a given sample</a:t>
            </a:r>
            <a:r>
              <a:rPr lang="pl-PL" sz="2000">
                <a:latin typeface="Arial Narrow" panose="020B0606020202030204" pitchFamily="34" charset="0"/>
              </a:rPr>
              <a:t>. </a:t>
            </a:r>
            <a:br>
              <a:rPr lang="pl-PL" sz="2000">
                <a:latin typeface="Arial Narrow" panose="020B0606020202030204" pitchFamily="34" charset="0"/>
              </a:rPr>
            </a:br>
            <a:r>
              <a:rPr lang="en-US" sz="2000">
                <a:latin typeface="Arial Narrow" panose="020B0606020202030204" pitchFamily="34" charset="0"/>
              </a:rPr>
              <a:t>For example, in a task involving the classification of photos into those depicting dogs, cats, and pigeons, there are three classes: dog, cat, and pigeon</a:t>
            </a:r>
            <a:r>
              <a:rPr lang="pl-PL" sz="2000">
                <a:latin typeface="Arial Narrow" panose="020B0606020202030204" pitchFamily="34" charset="0"/>
              </a:rPr>
              <a:t>, whereas a</a:t>
            </a:r>
            <a:r>
              <a:rPr lang="en-US" sz="2000">
                <a:latin typeface="Arial Narrow" panose="020B0606020202030204" pitchFamily="34" charset="0"/>
              </a:rPr>
              <a:t> label is a specific value selected from the available classes and assigned to a sample (e.g., cat).</a:t>
            </a:r>
            <a:br>
              <a:rPr lang="pl-PL" sz="2000">
                <a:latin typeface="Arial Narrow" panose="020B0606020202030204" pitchFamily="34" charset="0"/>
              </a:rPr>
            </a:br>
            <a:endParaRPr lang="pl-PL" sz="2000">
              <a:latin typeface="Arial Narrow" panose="020B0606020202030204" pitchFamily="34" charset="0"/>
            </a:endParaRPr>
          </a:p>
          <a:p>
            <a:r>
              <a:rPr lang="en-US" sz="2000" b="1">
                <a:latin typeface="Arial Narrow" panose="020B0606020202030204" pitchFamily="34" charset="0"/>
              </a:rPr>
              <a:t>A </a:t>
            </a:r>
            <a:r>
              <a:rPr lang="en-US" sz="2000" b="1">
                <a:solidFill>
                  <a:srgbClr val="00B050"/>
                </a:solidFill>
                <a:latin typeface="Arial Narrow" panose="020B0606020202030204" pitchFamily="34" charset="0"/>
              </a:rPr>
              <a:t>class</a:t>
            </a:r>
            <a:r>
              <a:rPr lang="en-US" sz="2000" b="1">
                <a:latin typeface="Arial Narrow" panose="020B0606020202030204" pitchFamily="34" charset="0"/>
              </a:rPr>
              <a:t> refers to a general category within a set of possible responses, whereas a </a:t>
            </a:r>
            <a:r>
              <a:rPr lang="en-US" sz="2000" b="1">
                <a:solidFill>
                  <a:srgbClr val="FF0000"/>
                </a:solidFill>
                <a:latin typeface="Arial Narrow" panose="020B0606020202030204" pitchFamily="34" charset="0"/>
              </a:rPr>
              <a:t>label</a:t>
            </a:r>
            <a:r>
              <a:rPr lang="en-US" sz="2000" b="1">
                <a:latin typeface="Arial Narrow" panose="020B0606020202030204" pitchFamily="34" charset="0"/>
              </a:rPr>
              <a:t> is a specific class assigned to a single observation.</a:t>
            </a:r>
            <a:endParaRPr lang="pl-PL" sz="2000" dirty="0">
              <a:latin typeface="Arial Narrow" panose="020B0606020202030204" pitchFamily="34" charset="0"/>
            </a:endParaRPr>
          </a:p>
        </p:txBody>
      </p:sp>
      <p:pic>
        <p:nvPicPr>
          <p:cNvPr id="7" name="Picture 6" descr="Sample of dataset images. ">
            <a:extLst>
              <a:ext uri="{FF2B5EF4-FFF2-40B4-BE49-F238E27FC236}">
                <a16:creationId xmlns:a16="http://schemas.microsoft.com/office/drawing/2014/main" id="{D74D073E-D590-AB87-B315-7D6A6791C49D}"/>
              </a:ext>
            </a:extLst>
          </p:cNvPr>
          <p:cNvPicPr>
            <a:picLocks noChangeAspect="1"/>
          </p:cNvPicPr>
          <p:nvPr/>
        </p:nvPicPr>
        <p:blipFill>
          <a:blip r:embed="rId2"/>
          <a:stretch>
            <a:fillRect/>
          </a:stretch>
        </p:blipFill>
        <p:spPr>
          <a:xfrm>
            <a:off x="401648" y="3200400"/>
            <a:ext cx="4703752" cy="3085754"/>
          </a:xfrm>
          <a:prstGeom prst="rect">
            <a:avLst/>
          </a:prstGeom>
        </p:spPr>
      </p:pic>
      <p:sp>
        <p:nvSpPr>
          <p:cNvPr id="8" name="TextBox 7">
            <a:extLst>
              <a:ext uri="{FF2B5EF4-FFF2-40B4-BE49-F238E27FC236}">
                <a16:creationId xmlns:a16="http://schemas.microsoft.com/office/drawing/2014/main" id="{7A65B497-F9DE-5CAA-42B4-A983B74D584A}"/>
              </a:ext>
            </a:extLst>
          </p:cNvPr>
          <p:cNvSpPr txBox="1"/>
          <p:nvPr/>
        </p:nvSpPr>
        <p:spPr>
          <a:xfrm>
            <a:off x="5294400" y="4062959"/>
            <a:ext cx="4878130" cy="1384995"/>
          </a:xfrm>
          <a:prstGeom prst="rect">
            <a:avLst/>
          </a:prstGeom>
          <a:noFill/>
        </p:spPr>
        <p:txBody>
          <a:bodyPr wrap="none" rtlCol="0">
            <a:spAutoFit/>
          </a:bodyPr>
          <a:lstStyle/>
          <a:p>
            <a:r>
              <a:rPr lang="pl-PL" sz="2800" b="1">
                <a:solidFill>
                  <a:srgbClr val="00B050"/>
                </a:solidFill>
                <a:latin typeface="Arial Narrow" panose="020B0606020202030204" pitchFamily="34" charset="0"/>
              </a:rPr>
              <a:t>Class</a:t>
            </a:r>
            <a:r>
              <a:rPr lang="pl-PL" sz="2800">
                <a:latin typeface="Arial Narrow" panose="020B0606020202030204" pitchFamily="34" charset="0"/>
              </a:rPr>
              <a:t>: {lion, elephant, deer, cougar}</a:t>
            </a:r>
          </a:p>
          <a:p>
            <a:endParaRPr lang="pl-PL" sz="2800">
              <a:latin typeface="Arial Narrow" panose="020B0606020202030204" pitchFamily="34" charset="0"/>
            </a:endParaRPr>
          </a:p>
          <a:p>
            <a:r>
              <a:rPr lang="pl-PL" sz="2800" b="1">
                <a:solidFill>
                  <a:srgbClr val="FF0000"/>
                </a:solidFill>
                <a:latin typeface="Arial Narrow" panose="020B0606020202030204" pitchFamily="34" charset="0"/>
              </a:rPr>
              <a:t>Label</a:t>
            </a:r>
            <a:r>
              <a:rPr lang="pl-PL" sz="2800">
                <a:latin typeface="Arial Narrow" panose="020B0606020202030204" pitchFamily="34" charset="0"/>
              </a:rPr>
              <a:t>: elephant</a:t>
            </a:r>
          </a:p>
        </p:txBody>
      </p:sp>
      <p:sp>
        <p:nvSpPr>
          <p:cNvPr id="9" name="Oval 8">
            <a:extLst>
              <a:ext uri="{FF2B5EF4-FFF2-40B4-BE49-F238E27FC236}">
                <a16:creationId xmlns:a16="http://schemas.microsoft.com/office/drawing/2014/main" id="{3CF688CA-B8D2-0DA3-5494-A36E5475193C}"/>
              </a:ext>
            </a:extLst>
          </p:cNvPr>
          <p:cNvSpPr/>
          <p:nvPr/>
        </p:nvSpPr>
        <p:spPr>
          <a:xfrm>
            <a:off x="1600200" y="4685954"/>
            <a:ext cx="1295400" cy="838200"/>
          </a:xfrm>
          <a:prstGeom prst="ellipse">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Tree>
    <p:extLst>
      <p:ext uri="{BB962C8B-B14F-4D97-AF65-F5344CB8AC3E}">
        <p14:creationId xmlns:p14="http://schemas.microsoft.com/office/powerpoint/2010/main" val="1111124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additive="base">
                                        <p:cTn id="11"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 calcmode="lin" valueType="num">
                                      <p:cBhvr additive="base">
                                        <p:cTn id="15"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p:cNvSpPr>
            <a:spLocks noGrp="1"/>
          </p:cNvSpPr>
          <p:nvPr>
            <p:ph type="sldNum" sz="quarter" idx="12"/>
          </p:nvPr>
        </p:nvSpPr>
        <p:spPr/>
        <p:txBody>
          <a:bodyPr/>
          <a:lstStyle/>
          <a:p>
            <a:fld id="{20D4B2D9-DB10-4EB9-B7A6-032A6D4E75AC}" type="slidenum">
              <a:rPr lang="pl-PL" smtClean="0"/>
              <a:pPr/>
              <a:t>31</a:t>
            </a:fld>
            <a:endParaRPr lang="pl-PL" dirty="0"/>
          </a:p>
        </p:txBody>
      </p:sp>
      <p:sp>
        <p:nvSpPr>
          <p:cNvPr id="4" name="TextBox 1"/>
          <p:cNvSpPr txBox="1"/>
          <p:nvPr/>
        </p:nvSpPr>
        <p:spPr>
          <a:xfrm>
            <a:off x="0" y="304800"/>
            <a:ext cx="12039600" cy="2971800"/>
          </a:xfrm>
          <a:prstGeom prst="rect">
            <a:avLst/>
          </a:prstGeom>
          <a:noFill/>
        </p:spPr>
        <p:txBody>
          <a:bodyPr wrap="square" lIns="36000" tIns="36000" rIns="36000" bIns="36000" rtlCol="0">
            <a:noAutofit/>
          </a:bodyPr>
          <a:lstStyle/>
          <a:p>
            <a:r>
              <a:rPr lang="en-US" sz="2400" b="1">
                <a:solidFill>
                  <a:srgbClr val="0000FF"/>
                </a:solidFill>
                <a:latin typeface="Arial Narrow" panose="020B0606020202030204" pitchFamily="34" charset="0"/>
              </a:rPr>
              <a:t>Binary classification</a:t>
            </a:r>
            <a:br>
              <a:rPr lang="pl-PL" sz="2400" b="1">
                <a:solidFill>
                  <a:srgbClr val="0000FF"/>
                </a:solidFill>
                <a:latin typeface="Arial Narrow" panose="020B0606020202030204" pitchFamily="34" charset="0"/>
              </a:rPr>
            </a:br>
            <a:r>
              <a:rPr lang="en-US" sz="2400">
                <a:latin typeface="Arial Narrow" panose="020B0606020202030204" pitchFamily="34" charset="0"/>
              </a:rPr>
              <a:t>A classification task in which each sample is assigned to </a:t>
            </a:r>
            <a:r>
              <a:rPr lang="en-US" sz="2400" b="1">
                <a:latin typeface="Arial Narrow" panose="020B0606020202030204" pitchFamily="34" charset="0"/>
              </a:rPr>
              <a:t>one of two categories</a:t>
            </a:r>
            <a:r>
              <a:rPr lang="en-US" sz="2400">
                <a:latin typeface="Arial Narrow" panose="020B0606020202030204" pitchFamily="34" charset="0"/>
              </a:rPr>
              <a:t>.</a:t>
            </a:r>
            <a:br>
              <a:rPr lang="pl-PL" sz="2400">
                <a:latin typeface="Arial Narrow" panose="020B0606020202030204" pitchFamily="34" charset="0"/>
              </a:rPr>
            </a:br>
            <a:r>
              <a:rPr lang="en-US" sz="2400">
                <a:latin typeface="Arial Narrow" panose="020B0606020202030204" pitchFamily="34" charset="0"/>
              </a:rPr>
              <a:t>Example:</a:t>
            </a:r>
            <a:br>
              <a:rPr lang="pl-PL" sz="2400">
                <a:latin typeface="Arial Narrow" panose="020B0606020202030204" pitchFamily="34" charset="0"/>
              </a:rPr>
            </a:br>
            <a:r>
              <a:rPr lang="en-US" sz="2400">
                <a:latin typeface="Arial Narrow" panose="020B0606020202030204" pitchFamily="34" charset="0"/>
              </a:rPr>
              <a:t>Determining whether a photo shows a </a:t>
            </a:r>
            <a:r>
              <a:rPr lang="pl-PL" sz="2400">
                <a:latin typeface="Arial Narrow" panose="020B0606020202030204" pitchFamily="34" charset="0"/>
              </a:rPr>
              <a:t>lion</a:t>
            </a:r>
            <a:r>
              <a:rPr lang="en-US" sz="2400">
                <a:latin typeface="Arial Narrow" panose="020B0606020202030204" pitchFamily="34" charset="0"/>
              </a:rPr>
              <a:t> or a</a:t>
            </a:r>
            <a:r>
              <a:rPr lang="pl-PL" sz="2400">
                <a:latin typeface="Arial Narrow" panose="020B0606020202030204" pitchFamily="34" charset="0"/>
              </a:rPr>
              <a:t>n</a:t>
            </a:r>
            <a:r>
              <a:rPr lang="en-US" sz="2400">
                <a:latin typeface="Arial Narrow" panose="020B0606020202030204" pitchFamily="34" charset="0"/>
              </a:rPr>
              <a:t> </a:t>
            </a:r>
            <a:r>
              <a:rPr lang="pl-PL" sz="2400">
                <a:latin typeface="Arial Narrow" panose="020B0606020202030204" pitchFamily="34" charset="0"/>
              </a:rPr>
              <a:t>elephant</a:t>
            </a:r>
            <a:r>
              <a:rPr lang="en-US" sz="2400">
                <a:latin typeface="Arial Narrow" panose="020B0606020202030204" pitchFamily="34" charset="0"/>
              </a:rPr>
              <a:t>.</a:t>
            </a:r>
            <a:br>
              <a:rPr lang="pl-PL" sz="2400">
                <a:latin typeface="Arial Narrow" panose="020B0606020202030204" pitchFamily="34" charset="0"/>
              </a:rPr>
            </a:br>
            <a:endParaRPr lang="pl-PL" sz="2400">
              <a:latin typeface="Arial Narrow" panose="020B0606020202030204" pitchFamily="34" charset="0"/>
            </a:endParaRPr>
          </a:p>
          <a:p>
            <a:pPr>
              <a:spcBef>
                <a:spcPts val="600"/>
              </a:spcBef>
            </a:pPr>
            <a:r>
              <a:rPr lang="en-US" sz="2400">
                <a:latin typeface="Arial Narrow" panose="020B0606020202030204" pitchFamily="34" charset="0"/>
              </a:rPr>
              <a:t>Binary classification: a class is a two-element set (the labels are “</a:t>
            </a:r>
            <a:r>
              <a:rPr lang="pl-PL" sz="2400">
                <a:latin typeface="Arial Narrow" panose="020B0606020202030204" pitchFamily="34" charset="0"/>
              </a:rPr>
              <a:t>lion</a:t>
            </a:r>
            <a:r>
              <a:rPr lang="en-US" sz="2400">
                <a:latin typeface="Arial Narrow" panose="020B0606020202030204" pitchFamily="34" charset="0"/>
              </a:rPr>
              <a:t>” and “</a:t>
            </a:r>
            <a:r>
              <a:rPr lang="pl-PL" sz="2400">
                <a:latin typeface="Arial Narrow" panose="020B0606020202030204" pitchFamily="34" charset="0"/>
              </a:rPr>
              <a:t>elephant</a:t>
            </a:r>
            <a:r>
              <a:rPr lang="en-US" sz="2400">
                <a:latin typeface="Arial Narrow" panose="020B0606020202030204" pitchFamily="34" charset="0"/>
              </a:rPr>
              <a:t>”). </a:t>
            </a:r>
            <a:br>
              <a:rPr lang="pl-PL" sz="2400">
                <a:latin typeface="Arial Narrow" panose="020B0606020202030204" pitchFamily="34" charset="0"/>
              </a:rPr>
            </a:br>
            <a:r>
              <a:rPr lang="pl-PL" sz="2400">
                <a:latin typeface="Arial Narrow" panose="020B0606020202030204" pitchFamily="34" charset="0"/>
              </a:rPr>
              <a:t>T</a:t>
            </a:r>
            <a:r>
              <a:rPr lang="en-US" sz="2400">
                <a:latin typeface="Arial Narrow" panose="020B0606020202030204" pitchFamily="34" charset="0"/>
              </a:rPr>
              <a:t>he result of the classification is assignment to one of the categories</a:t>
            </a:r>
            <a:r>
              <a:rPr lang="pl-PL" sz="2400">
                <a:latin typeface="Arial Narrow" panose="020B0606020202030204" pitchFamily="34" charset="0"/>
              </a:rPr>
              <a:t> – </a:t>
            </a:r>
            <a:r>
              <a:rPr lang="en-US" sz="2400">
                <a:latin typeface="Arial Narrow" panose="020B0606020202030204" pitchFamily="34" charset="0"/>
              </a:rPr>
              <a:t>the photo shows either a </a:t>
            </a:r>
            <a:r>
              <a:rPr lang="pl-PL" sz="2400">
                <a:latin typeface="Arial Narrow" panose="020B0606020202030204" pitchFamily="34" charset="0"/>
              </a:rPr>
              <a:t>lion</a:t>
            </a:r>
            <a:r>
              <a:rPr lang="en-US" sz="2400">
                <a:latin typeface="Arial Narrow" panose="020B0606020202030204" pitchFamily="34" charset="0"/>
              </a:rPr>
              <a:t> or a</a:t>
            </a:r>
            <a:r>
              <a:rPr lang="pl-PL" sz="2400">
                <a:latin typeface="Arial Narrow" panose="020B0606020202030204" pitchFamily="34" charset="0"/>
              </a:rPr>
              <a:t>n</a:t>
            </a:r>
            <a:r>
              <a:rPr lang="en-US" sz="2400">
                <a:latin typeface="Arial Narrow" panose="020B0606020202030204" pitchFamily="34" charset="0"/>
              </a:rPr>
              <a:t> </a:t>
            </a:r>
            <a:r>
              <a:rPr lang="pl-PL" sz="2400">
                <a:latin typeface="Arial Narrow" panose="020B0606020202030204" pitchFamily="34" charset="0"/>
              </a:rPr>
              <a:t>elephant</a:t>
            </a:r>
            <a:r>
              <a:rPr lang="en-US" sz="2400">
                <a:latin typeface="Arial Narrow" panose="020B0606020202030204" pitchFamily="34" charset="0"/>
              </a:rPr>
              <a:t>.</a:t>
            </a:r>
            <a:endParaRPr lang="pl-PL" sz="2400">
              <a:latin typeface="Arial Narrow" panose="020B0606020202030204" pitchFamily="34" charset="0"/>
            </a:endParaRPr>
          </a:p>
          <a:p>
            <a:pPr>
              <a:spcBef>
                <a:spcPts val="600"/>
              </a:spcBef>
            </a:pPr>
            <a:endParaRPr lang="pl-PL" sz="2000" dirty="0">
              <a:latin typeface="Arial Narrow" panose="020B0606020202030204" pitchFamily="34" charset="0"/>
            </a:endParaRPr>
          </a:p>
        </p:txBody>
      </p:sp>
      <p:sp>
        <p:nvSpPr>
          <p:cNvPr id="5" name="Rectangle 2">
            <a:extLst>
              <a:ext uri="{FF2B5EF4-FFF2-40B4-BE49-F238E27FC236}">
                <a16:creationId xmlns:a16="http://schemas.microsoft.com/office/drawing/2014/main" id="{15707C07-5466-8945-60AE-717C8088C28C}"/>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en-US" sz="1600">
                <a:latin typeface="Arial" pitchFamily="34" charset="0"/>
                <a:ea typeface="+mj-lt"/>
                <a:cs typeface="Arial" pitchFamily="34" charset="0"/>
              </a:rPr>
              <a:t>Types of </a:t>
            </a:r>
            <a:r>
              <a:rPr lang="pl-PL" sz="1600">
                <a:latin typeface="Arial" pitchFamily="34" charset="0"/>
                <a:ea typeface="+mj-lt"/>
                <a:cs typeface="Arial" pitchFamily="34" charset="0"/>
              </a:rPr>
              <a:t>ML</a:t>
            </a:r>
            <a:r>
              <a:rPr lang="en-US" sz="1600">
                <a:latin typeface="Arial" pitchFamily="34" charset="0"/>
                <a:ea typeface="+mj-lt"/>
                <a:cs typeface="Arial" pitchFamily="34" charset="0"/>
              </a:rPr>
              <a:t> tasks</a:t>
            </a:r>
            <a:endParaRPr lang="en-GB" sz="4400" dirty="0">
              <a:latin typeface="Arial" pitchFamily="34" charset="0"/>
              <a:ea typeface="+mj-lt"/>
              <a:cs typeface="Arial" pitchFamily="34" charset="0"/>
            </a:endParaRPr>
          </a:p>
        </p:txBody>
      </p:sp>
      <p:pic>
        <p:nvPicPr>
          <p:cNvPr id="8" name="Picture 7">
            <a:extLst>
              <a:ext uri="{FF2B5EF4-FFF2-40B4-BE49-F238E27FC236}">
                <a16:creationId xmlns:a16="http://schemas.microsoft.com/office/drawing/2014/main" id="{4B50C2EF-E7CD-5394-7AE3-2A5B4DACE714}"/>
              </a:ext>
            </a:extLst>
          </p:cNvPr>
          <p:cNvPicPr>
            <a:picLocks noChangeAspect="1"/>
          </p:cNvPicPr>
          <p:nvPr/>
        </p:nvPicPr>
        <p:blipFill>
          <a:blip r:embed="rId2"/>
          <a:stretch>
            <a:fillRect/>
          </a:stretch>
        </p:blipFill>
        <p:spPr>
          <a:xfrm>
            <a:off x="212523" y="4191000"/>
            <a:ext cx="5883477" cy="1909445"/>
          </a:xfrm>
          <a:prstGeom prst="rect">
            <a:avLst/>
          </a:prstGeom>
        </p:spPr>
      </p:pic>
      <p:sp>
        <p:nvSpPr>
          <p:cNvPr id="9" name="TextBox 8">
            <a:extLst>
              <a:ext uri="{FF2B5EF4-FFF2-40B4-BE49-F238E27FC236}">
                <a16:creationId xmlns:a16="http://schemas.microsoft.com/office/drawing/2014/main" id="{C3A38826-88A1-19B1-2787-E88723D009D2}"/>
              </a:ext>
            </a:extLst>
          </p:cNvPr>
          <p:cNvSpPr txBox="1"/>
          <p:nvPr/>
        </p:nvSpPr>
        <p:spPr>
          <a:xfrm>
            <a:off x="6400800" y="4731603"/>
            <a:ext cx="4721164" cy="830997"/>
          </a:xfrm>
          <a:prstGeom prst="rect">
            <a:avLst/>
          </a:prstGeom>
          <a:noFill/>
        </p:spPr>
        <p:txBody>
          <a:bodyPr wrap="none" rtlCol="0">
            <a:spAutoFit/>
          </a:bodyPr>
          <a:lstStyle/>
          <a:p>
            <a:r>
              <a:rPr lang="pl-PL" sz="2400" b="1">
                <a:solidFill>
                  <a:srgbClr val="0000FF"/>
                </a:solidFill>
                <a:latin typeface="Arial Narrow" panose="020B0606020202030204" pitchFamily="34" charset="0"/>
              </a:rPr>
              <a:t>Only two possibilities (lion, elephant).</a:t>
            </a:r>
          </a:p>
          <a:p>
            <a:r>
              <a:rPr lang="pl-PL" sz="2400" b="1">
                <a:solidFill>
                  <a:srgbClr val="0000FF"/>
                </a:solidFill>
                <a:latin typeface="Arial Narrow" panose="020B0606020202030204" pitchFamily="34" charset="0"/>
              </a:rPr>
              <a:t>Exactly one animal in the picture.</a:t>
            </a:r>
          </a:p>
        </p:txBody>
      </p:sp>
    </p:spTree>
    <p:extLst>
      <p:ext uri="{BB962C8B-B14F-4D97-AF65-F5344CB8AC3E}">
        <p14:creationId xmlns:p14="http://schemas.microsoft.com/office/powerpoint/2010/main" val="19758638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p:cNvSpPr>
            <a:spLocks noGrp="1"/>
          </p:cNvSpPr>
          <p:nvPr>
            <p:ph type="sldNum" sz="quarter" idx="12"/>
          </p:nvPr>
        </p:nvSpPr>
        <p:spPr/>
        <p:txBody>
          <a:bodyPr/>
          <a:lstStyle/>
          <a:p>
            <a:fld id="{20D4B2D9-DB10-4EB9-B7A6-032A6D4E75AC}" type="slidenum">
              <a:rPr lang="pl-PL" smtClean="0"/>
              <a:pPr/>
              <a:t>32</a:t>
            </a:fld>
            <a:endParaRPr lang="pl-PL" dirty="0"/>
          </a:p>
        </p:txBody>
      </p:sp>
      <p:sp>
        <p:nvSpPr>
          <p:cNvPr id="4" name="TextBox 1"/>
          <p:cNvSpPr txBox="1"/>
          <p:nvPr/>
        </p:nvSpPr>
        <p:spPr>
          <a:xfrm>
            <a:off x="0" y="304800"/>
            <a:ext cx="10668000" cy="2286000"/>
          </a:xfrm>
          <a:prstGeom prst="rect">
            <a:avLst/>
          </a:prstGeom>
          <a:noFill/>
        </p:spPr>
        <p:txBody>
          <a:bodyPr wrap="square" lIns="36000" tIns="36000" rIns="36000" bIns="36000" rtlCol="0">
            <a:noAutofit/>
          </a:bodyPr>
          <a:lstStyle/>
          <a:p>
            <a:pPr>
              <a:spcBef>
                <a:spcPts val="600"/>
              </a:spcBef>
            </a:pPr>
            <a:r>
              <a:rPr lang="pl-PL" sz="2400" b="1">
                <a:solidFill>
                  <a:srgbClr val="0000FF"/>
                </a:solidFill>
                <a:latin typeface="Arial Narrow" panose="020B0606020202030204" pitchFamily="34" charset="0"/>
              </a:rPr>
              <a:t>Multiclass classification</a:t>
            </a:r>
            <a:endParaRPr lang="pl-PL" sz="2000" dirty="0">
              <a:latin typeface="Arial Narrow" panose="020B0606020202030204" pitchFamily="34" charset="0"/>
            </a:endParaRPr>
          </a:p>
          <a:p>
            <a:r>
              <a:rPr lang="pl-PL" sz="2400">
                <a:latin typeface="Arial Narrow" panose="020B0606020202030204" pitchFamily="34" charset="0"/>
              </a:rPr>
              <a:t>E</a:t>
            </a:r>
            <a:r>
              <a:rPr lang="en-US" sz="2400">
                <a:latin typeface="Arial Narrow" panose="020B0606020202030204" pitchFamily="34" charset="0"/>
              </a:rPr>
              <a:t>ach sample is assigned to a </a:t>
            </a:r>
            <a:r>
              <a:rPr lang="en-US" sz="2400" b="1">
                <a:latin typeface="Arial Narrow" panose="020B0606020202030204" pitchFamily="34" charset="0"/>
              </a:rPr>
              <a:t>single category from</a:t>
            </a:r>
            <a:r>
              <a:rPr lang="en-US" sz="2400">
                <a:latin typeface="Arial Narrow" panose="020B0606020202030204" pitchFamily="34" charset="0"/>
              </a:rPr>
              <a:t> a set containing </a:t>
            </a:r>
            <a:r>
              <a:rPr lang="en-US" sz="2400" b="1">
                <a:latin typeface="Arial Narrow" panose="020B0606020202030204" pitchFamily="34" charset="0"/>
              </a:rPr>
              <a:t>more than two categories</a:t>
            </a:r>
            <a:r>
              <a:rPr lang="en-US" sz="2400">
                <a:latin typeface="Arial Narrow" panose="020B0606020202030204" pitchFamily="34" charset="0"/>
              </a:rPr>
              <a:t>.</a:t>
            </a:r>
            <a:endParaRPr lang="pl-PL" sz="2400">
              <a:latin typeface="Arial Narrow" panose="020B0606020202030204" pitchFamily="34" charset="0"/>
            </a:endParaRPr>
          </a:p>
          <a:p>
            <a:r>
              <a:rPr lang="en-US" sz="2400">
                <a:latin typeface="Arial Narrow" panose="020B0606020202030204" pitchFamily="34" charset="0"/>
              </a:rPr>
              <a:t>Example:</a:t>
            </a:r>
            <a:endParaRPr lang="pl-PL" sz="2400">
              <a:latin typeface="Arial Narrow" panose="020B0606020202030204" pitchFamily="34" charset="0"/>
            </a:endParaRPr>
          </a:p>
          <a:p>
            <a:r>
              <a:rPr lang="en-US" sz="2400">
                <a:latin typeface="Arial Narrow" panose="020B0606020202030204" pitchFamily="34" charset="0"/>
              </a:rPr>
              <a:t>Identifying </a:t>
            </a:r>
            <a:r>
              <a:rPr lang="pl-PL" sz="2400">
                <a:latin typeface="Arial Narrow" panose="020B0606020202030204" pitchFamily="34" charset="0"/>
              </a:rPr>
              <a:t>one animal from </a:t>
            </a:r>
            <a:r>
              <a:rPr lang="en-US" sz="2400">
                <a:latin typeface="Arial Narrow" panose="020B0606020202030204" pitchFamily="34" charset="0"/>
              </a:rPr>
              <a:t>among more than two options.</a:t>
            </a:r>
            <a:endParaRPr lang="pl-PL" sz="2400">
              <a:latin typeface="Arial Narrow" panose="020B0606020202030204" pitchFamily="34" charset="0"/>
            </a:endParaRPr>
          </a:p>
        </p:txBody>
      </p:sp>
      <p:sp>
        <p:nvSpPr>
          <p:cNvPr id="5" name="Rectangle 2">
            <a:extLst>
              <a:ext uri="{FF2B5EF4-FFF2-40B4-BE49-F238E27FC236}">
                <a16:creationId xmlns:a16="http://schemas.microsoft.com/office/drawing/2014/main" id="{FE309C41-7235-C560-4FC7-DA6C6AE82148}"/>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en-US" sz="1600">
                <a:latin typeface="Arial" pitchFamily="34" charset="0"/>
                <a:ea typeface="+mj-lt"/>
                <a:cs typeface="Arial" pitchFamily="34" charset="0"/>
              </a:rPr>
              <a:t>Types of </a:t>
            </a:r>
            <a:r>
              <a:rPr lang="pl-PL" sz="1600">
                <a:latin typeface="Arial" pitchFamily="34" charset="0"/>
                <a:ea typeface="+mj-lt"/>
                <a:cs typeface="Arial" pitchFamily="34" charset="0"/>
              </a:rPr>
              <a:t>ML</a:t>
            </a:r>
            <a:r>
              <a:rPr lang="en-US" sz="1600">
                <a:latin typeface="Arial" pitchFamily="34" charset="0"/>
                <a:ea typeface="+mj-lt"/>
                <a:cs typeface="Arial" pitchFamily="34" charset="0"/>
              </a:rPr>
              <a:t> tasks</a:t>
            </a:r>
            <a:endParaRPr lang="en-GB" sz="4400" dirty="0">
              <a:latin typeface="Arial" pitchFamily="34" charset="0"/>
              <a:ea typeface="+mj-lt"/>
              <a:cs typeface="Arial" pitchFamily="34" charset="0"/>
            </a:endParaRPr>
          </a:p>
        </p:txBody>
      </p:sp>
      <p:pic>
        <p:nvPicPr>
          <p:cNvPr id="6" name="Picture 5" descr="Sample of dataset images. ">
            <a:extLst>
              <a:ext uri="{FF2B5EF4-FFF2-40B4-BE49-F238E27FC236}">
                <a16:creationId xmlns:a16="http://schemas.microsoft.com/office/drawing/2014/main" id="{1A27B5A3-D298-6E50-A429-FCCB5E520C55}"/>
              </a:ext>
            </a:extLst>
          </p:cNvPr>
          <p:cNvPicPr>
            <a:picLocks noChangeAspect="1"/>
          </p:cNvPicPr>
          <p:nvPr/>
        </p:nvPicPr>
        <p:blipFill>
          <a:blip r:embed="rId2"/>
          <a:stretch>
            <a:fillRect/>
          </a:stretch>
        </p:blipFill>
        <p:spPr>
          <a:xfrm>
            <a:off x="23650" y="2895600"/>
            <a:ext cx="5168372" cy="3390554"/>
          </a:xfrm>
          <a:prstGeom prst="rect">
            <a:avLst/>
          </a:prstGeom>
        </p:spPr>
      </p:pic>
      <p:sp>
        <p:nvSpPr>
          <p:cNvPr id="8" name="TextBox 7">
            <a:extLst>
              <a:ext uri="{FF2B5EF4-FFF2-40B4-BE49-F238E27FC236}">
                <a16:creationId xmlns:a16="http://schemas.microsoft.com/office/drawing/2014/main" id="{33BA8410-6979-FE12-8F29-5EB18BED3C9E}"/>
              </a:ext>
            </a:extLst>
          </p:cNvPr>
          <p:cNvSpPr txBox="1"/>
          <p:nvPr/>
        </p:nvSpPr>
        <p:spPr>
          <a:xfrm>
            <a:off x="5181600" y="4070351"/>
            <a:ext cx="7010400" cy="830997"/>
          </a:xfrm>
          <a:prstGeom prst="rect">
            <a:avLst/>
          </a:prstGeom>
          <a:noFill/>
        </p:spPr>
        <p:txBody>
          <a:bodyPr wrap="square" rtlCol="0">
            <a:spAutoFit/>
          </a:bodyPr>
          <a:lstStyle/>
          <a:p>
            <a:r>
              <a:rPr lang="pl-PL" sz="2400" b="1">
                <a:solidFill>
                  <a:srgbClr val="0000FF"/>
                </a:solidFill>
                <a:latin typeface="Arial Narrow" panose="020B0606020202030204" pitchFamily="34" charset="0"/>
              </a:rPr>
              <a:t>More than two possibilities (lion, elephant, deer, cougar).</a:t>
            </a:r>
          </a:p>
          <a:p>
            <a:r>
              <a:rPr lang="pl-PL" sz="2400" b="1">
                <a:solidFill>
                  <a:srgbClr val="0000FF"/>
                </a:solidFill>
                <a:latin typeface="Arial Narrow" panose="020B0606020202030204" pitchFamily="34" charset="0"/>
              </a:rPr>
              <a:t>Exactly one animal in the picture.</a:t>
            </a:r>
          </a:p>
        </p:txBody>
      </p:sp>
    </p:spTree>
    <p:extLst>
      <p:ext uri="{BB962C8B-B14F-4D97-AF65-F5344CB8AC3E}">
        <p14:creationId xmlns:p14="http://schemas.microsoft.com/office/powerpoint/2010/main" val="25320210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p:cNvSpPr>
            <a:spLocks noGrp="1"/>
          </p:cNvSpPr>
          <p:nvPr>
            <p:ph type="sldNum" sz="quarter" idx="12"/>
          </p:nvPr>
        </p:nvSpPr>
        <p:spPr/>
        <p:txBody>
          <a:bodyPr/>
          <a:lstStyle/>
          <a:p>
            <a:fld id="{20D4B2D9-DB10-4EB9-B7A6-032A6D4E75AC}" type="slidenum">
              <a:rPr lang="pl-PL" smtClean="0"/>
              <a:pPr/>
              <a:t>33</a:t>
            </a:fld>
            <a:endParaRPr lang="pl-PL" dirty="0"/>
          </a:p>
        </p:txBody>
      </p:sp>
      <p:sp>
        <p:nvSpPr>
          <p:cNvPr id="6" name="TextBox 1"/>
          <p:cNvSpPr txBox="1"/>
          <p:nvPr/>
        </p:nvSpPr>
        <p:spPr>
          <a:xfrm>
            <a:off x="0" y="304800"/>
            <a:ext cx="10668000" cy="1828800"/>
          </a:xfrm>
          <a:prstGeom prst="rect">
            <a:avLst/>
          </a:prstGeom>
          <a:noFill/>
        </p:spPr>
        <p:txBody>
          <a:bodyPr wrap="square" lIns="36000" tIns="36000" rIns="36000" bIns="36000" rtlCol="0">
            <a:noAutofit/>
          </a:bodyPr>
          <a:lstStyle/>
          <a:p>
            <a:pPr>
              <a:spcBef>
                <a:spcPts val="600"/>
              </a:spcBef>
            </a:pPr>
            <a:r>
              <a:rPr lang="pl-PL" sz="2400" b="1">
                <a:solidFill>
                  <a:srgbClr val="0000FF"/>
                </a:solidFill>
                <a:latin typeface="Arial Narrow" panose="020B0606020202030204" pitchFamily="34" charset="0"/>
              </a:rPr>
              <a:t>Multilabel classification</a:t>
            </a:r>
            <a:endParaRPr lang="pl-PL" sz="2000" dirty="0">
              <a:latin typeface="Arial Narrow" panose="020B0606020202030204" pitchFamily="34" charset="0"/>
            </a:endParaRPr>
          </a:p>
          <a:p>
            <a:r>
              <a:rPr lang="en-US" sz="2400">
                <a:latin typeface="Arial Narrow" panose="020B0606020202030204" pitchFamily="34" charset="0"/>
              </a:rPr>
              <a:t>Multiple classes can be assigned to each sample</a:t>
            </a:r>
            <a:r>
              <a:rPr lang="pl-PL" sz="2400">
                <a:latin typeface="Arial Narrow" panose="020B0606020202030204" pitchFamily="34" charset="0"/>
              </a:rPr>
              <a:t>.</a:t>
            </a:r>
            <a:endParaRPr lang="pl-PL" sz="2400" dirty="0">
              <a:latin typeface="Arial Narrow" panose="020B0606020202030204" pitchFamily="34" charset="0"/>
            </a:endParaRPr>
          </a:p>
          <a:p>
            <a:endParaRPr lang="pl-PL" sz="2400">
              <a:latin typeface="Arial Narrow" panose="020B0606020202030204" pitchFamily="34" charset="0"/>
            </a:endParaRPr>
          </a:p>
          <a:p>
            <a:r>
              <a:rPr lang="pl-PL" sz="2400">
                <a:latin typeface="Arial Narrow" panose="020B0606020202030204" pitchFamily="34" charset="0"/>
              </a:rPr>
              <a:t>Example:</a:t>
            </a:r>
            <a:endParaRPr lang="pl-PL" sz="2400" dirty="0">
              <a:latin typeface="Arial Narrow" panose="020B0606020202030204" pitchFamily="34" charset="0"/>
            </a:endParaRPr>
          </a:p>
          <a:p>
            <a:r>
              <a:rPr lang="en-US" sz="2400">
                <a:latin typeface="Arial Narrow" panose="020B0606020202030204" pitchFamily="34" charset="0"/>
              </a:rPr>
              <a:t>There are several animals in the photo, so multiple categories can be assigned to each photo</a:t>
            </a:r>
            <a:r>
              <a:rPr lang="pl-PL" sz="2400">
                <a:latin typeface="Arial Narrow" panose="020B0606020202030204" pitchFamily="34" charset="0"/>
              </a:rPr>
              <a:t>.</a:t>
            </a:r>
            <a:endParaRPr lang="pl-PL" sz="2400" dirty="0">
              <a:latin typeface="Arial Narrow" panose="020B0606020202030204" pitchFamily="34" charset="0"/>
            </a:endParaRPr>
          </a:p>
        </p:txBody>
      </p:sp>
      <p:sp>
        <p:nvSpPr>
          <p:cNvPr id="4" name="Rectangle 2">
            <a:extLst>
              <a:ext uri="{FF2B5EF4-FFF2-40B4-BE49-F238E27FC236}">
                <a16:creationId xmlns:a16="http://schemas.microsoft.com/office/drawing/2014/main" id="{BAEF7930-64EF-859D-90ED-CF8ABDFD4FD9}"/>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en-US" sz="1600">
                <a:latin typeface="Arial" pitchFamily="34" charset="0"/>
                <a:ea typeface="+mj-lt"/>
                <a:cs typeface="Arial" pitchFamily="34" charset="0"/>
              </a:rPr>
              <a:t>Types of </a:t>
            </a:r>
            <a:r>
              <a:rPr lang="pl-PL" sz="1600">
                <a:latin typeface="Arial" pitchFamily="34" charset="0"/>
                <a:ea typeface="+mj-lt"/>
                <a:cs typeface="Arial" pitchFamily="34" charset="0"/>
              </a:rPr>
              <a:t>ML</a:t>
            </a:r>
            <a:r>
              <a:rPr lang="en-US" sz="1600">
                <a:latin typeface="Arial" pitchFamily="34" charset="0"/>
                <a:ea typeface="+mj-lt"/>
                <a:cs typeface="Arial" pitchFamily="34" charset="0"/>
              </a:rPr>
              <a:t> tasks</a:t>
            </a:r>
            <a:endParaRPr lang="en-GB" sz="4400" dirty="0">
              <a:latin typeface="Arial" pitchFamily="34" charset="0"/>
              <a:ea typeface="+mj-lt"/>
              <a:cs typeface="Arial" pitchFamily="34" charset="0"/>
            </a:endParaRPr>
          </a:p>
        </p:txBody>
      </p:sp>
      <p:pic>
        <p:nvPicPr>
          <p:cNvPr id="5" name="Picture 4">
            <a:extLst>
              <a:ext uri="{FF2B5EF4-FFF2-40B4-BE49-F238E27FC236}">
                <a16:creationId xmlns:a16="http://schemas.microsoft.com/office/drawing/2014/main" id="{3BEA80D6-45DD-955D-7191-13C5759FA48A}"/>
              </a:ext>
            </a:extLst>
          </p:cNvPr>
          <p:cNvPicPr>
            <a:picLocks noChangeAspect="1"/>
          </p:cNvPicPr>
          <p:nvPr/>
        </p:nvPicPr>
        <p:blipFill>
          <a:blip r:embed="rId2"/>
          <a:stretch>
            <a:fillRect/>
          </a:stretch>
        </p:blipFill>
        <p:spPr>
          <a:xfrm>
            <a:off x="381000" y="2880042"/>
            <a:ext cx="3829050" cy="3869569"/>
          </a:xfrm>
          <a:prstGeom prst="rect">
            <a:avLst/>
          </a:prstGeom>
        </p:spPr>
      </p:pic>
      <p:sp>
        <p:nvSpPr>
          <p:cNvPr id="8" name="TextBox 7">
            <a:extLst>
              <a:ext uri="{FF2B5EF4-FFF2-40B4-BE49-F238E27FC236}">
                <a16:creationId xmlns:a16="http://schemas.microsoft.com/office/drawing/2014/main" id="{6A64129C-98C2-EEEF-A083-63618C2B5DF7}"/>
              </a:ext>
            </a:extLst>
          </p:cNvPr>
          <p:cNvSpPr txBox="1"/>
          <p:nvPr/>
        </p:nvSpPr>
        <p:spPr>
          <a:xfrm>
            <a:off x="4495800" y="4038600"/>
            <a:ext cx="5285421" cy="830997"/>
          </a:xfrm>
          <a:prstGeom prst="rect">
            <a:avLst/>
          </a:prstGeom>
          <a:noFill/>
        </p:spPr>
        <p:txBody>
          <a:bodyPr wrap="none" rtlCol="0">
            <a:spAutoFit/>
          </a:bodyPr>
          <a:lstStyle/>
          <a:p>
            <a:r>
              <a:rPr lang="pl-PL" sz="2400" b="1">
                <a:solidFill>
                  <a:srgbClr val="0000FF"/>
                </a:solidFill>
                <a:latin typeface="Arial Narrow" panose="020B0606020202030204" pitchFamily="34" charset="0"/>
              </a:rPr>
              <a:t>Two or more possibilities.</a:t>
            </a:r>
          </a:p>
          <a:p>
            <a:r>
              <a:rPr lang="en-US" sz="2400" b="1">
                <a:solidFill>
                  <a:srgbClr val="0000FF"/>
                </a:solidFill>
                <a:latin typeface="Arial Narrow" panose="020B0606020202030204" pitchFamily="34" charset="0"/>
              </a:rPr>
              <a:t>There may be many animals in the picture</a:t>
            </a:r>
            <a:r>
              <a:rPr lang="pl-PL" sz="2400" b="1">
                <a:solidFill>
                  <a:srgbClr val="0000FF"/>
                </a:solidFill>
                <a:latin typeface="Arial Narrow" panose="020B0606020202030204" pitchFamily="34" charset="0"/>
              </a:rPr>
              <a:t>.</a:t>
            </a:r>
          </a:p>
        </p:txBody>
      </p:sp>
    </p:spTree>
    <p:extLst>
      <p:ext uri="{BB962C8B-B14F-4D97-AF65-F5344CB8AC3E}">
        <p14:creationId xmlns:p14="http://schemas.microsoft.com/office/powerpoint/2010/main" val="16266831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98E5178-3C32-745E-11D3-1BD0736A963D}"/>
              </a:ext>
            </a:extLst>
          </p:cNvPr>
          <p:cNvSpPr>
            <a:spLocks noGrp="1"/>
          </p:cNvSpPr>
          <p:nvPr>
            <p:ph type="sldNum" sz="quarter" idx="12"/>
          </p:nvPr>
        </p:nvSpPr>
        <p:spPr/>
        <p:txBody>
          <a:bodyPr/>
          <a:lstStyle/>
          <a:p>
            <a:fld id="{20D4B2D9-DB10-4EB9-B7A6-032A6D4E75AC}" type="slidenum">
              <a:rPr lang="pl-PL" smtClean="0"/>
              <a:pPr/>
              <a:t>34</a:t>
            </a:fld>
            <a:endParaRPr lang="pl-PL" dirty="0"/>
          </a:p>
        </p:txBody>
      </p:sp>
      <p:pic>
        <p:nvPicPr>
          <p:cNvPr id="4" name="Picture 3">
            <a:extLst>
              <a:ext uri="{FF2B5EF4-FFF2-40B4-BE49-F238E27FC236}">
                <a16:creationId xmlns:a16="http://schemas.microsoft.com/office/drawing/2014/main" id="{C914C903-2D3A-C881-48CC-2DB7874E973C}"/>
              </a:ext>
            </a:extLst>
          </p:cNvPr>
          <p:cNvPicPr>
            <a:picLocks noChangeAspect="1"/>
          </p:cNvPicPr>
          <p:nvPr/>
        </p:nvPicPr>
        <p:blipFill>
          <a:blip r:embed="rId2"/>
          <a:stretch>
            <a:fillRect/>
          </a:stretch>
        </p:blipFill>
        <p:spPr>
          <a:xfrm>
            <a:off x="152400" y="501649"/>
            <a:ext cx="11595842" cy="5854702"/>
          </a:xfrm>
          <a:prstGeom prst="rect">
            <a:avLst/>
          </a:prstGeom>
        </p:spPr>
      </p:pic>
      <p:sp>
        <p:nvSpPr>
          <p:cNvPr id="5" name="Rectangle 2">
            <a:extLst>
              <a:ext uri="{FF2B5EF4-FFF2-40B4-BE49-F238E27FC236}">
                <a16:creationId xmlns:a16="http://schemas.microsoft.com/office/drawing/2014/main" id="{CA7D240F-0529-0E42-CFC8-0BDD8712069B}"/>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en-US" sz="1600">
                <a:latin typeface="Arial" pitchFamily="34" charset="0"/>
                <a:ea typeface="+mj-lt"/>
                <a:cs typeface="Arial" pitchFamily="34" charset="0"/>
              </a:rPr>
              <a:t>Types of </a:t>
            </a:r>
            <a:r>
              <a:rPr lang="pl-PL" sz="1600">
                <a:latin typeface="Arial" pitchFamily="34" charset="0"/>
                <a:ea typeface="+mj-lt"/>
                <a:cs typeface="Arial" pitchFamily="34" charset="0"/>
              </a:rPr>
              <a:t>ML</a:t>
            </a:r>
            <a:r>
              <a:rPr lang="en-US" sz="1600">
                <a:latin typeface="Arial" pitchFamily="34" charset="0"/>
                <a:ea typeface="+mj-lt"/>
                <a:cs typeface="Arial" pitchFamily="34" charset="0"/>
              </a:rPr>
              <a:t> tasks</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22327236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3723CC7-C6E2-868B-B9AC-415878AB7783}"/>
              </a:ext>
            </a:extLst>
          </p:cNvPr>
          <p:cNvSpPr>
            <a:spLocks noGrp="1"/>
          </p:cNvSpPr>
          <p:nvPr>
            <p:ph type="sldNum" sz="quarter" idx="12"/>
          </p:nvPr>
        </p:nvSpPr>
        <p:spPr/>
        <p:txBody>
          <a:bodyPr/>
          <a:lstStyle/>
          <a:p>
            <a:fld id="{20D4B2D9-DB10-4EB9-B7A6-032A6D4E75AC}" type="slidenum">
              <a:rPr lang="pl-PL" smtClean="0"/>
              <a:pPr/>
              <a:t>35</a:t>
            </a:fld>
            <a:endParaRPr lang="pl-PL" dirty="0"/>
          </a:p>
        </p:txBody>
      </p:sp>
      <p:sp>
        <p:nvSpPr>
          <p:cNvPr id="4" name="Prostokąt 4">
            <a:extLst>
              <a:ext uri="{FF2B5EF4-FFF2-40B4-BE49-F238E27FC236}">
                <a16:creationId xmlns:a16="http://schemas.microsoft.com/office/drawing/2014/main" id="{A884C1A0-9B71-2168-C90F-C3BA633DCF53}"/>
              </a:ext>
            </a:extLst>
          </p:cNvPr>
          <p:cNvSpPr/>
          <p:nvPr/>
        </p:nvSpPr>
        <p:spPr>
          <a:xfrm>
            <a:off x="56908" y="1371600"/>
            <a:ext cx="11525491" cy="2492990"/>
          </a:xfrm>
          <a:prstGeom prst="rect">
            <a:avLst/>
          </a:prstGeom>
        </p:spPr>
        <p:txBody>
          <a:bodyPr wrap="square">
            <a:spAutoFit/>
          </a:bodyPr>
          <a:lstStyle/>
          <a:p>
            <a:r>
              <a:rPr lang="pl-PL" sz="2800" b="1">
                <a:latin typeface="Arial Narrow" panose="020B0606020202030204" pitchFamily="34" charset="0"/>
                <a:cs typeface="Calibri" panose="020F0502020204030204" pitchFamily="34" charset="0"/>
              </a:rPr>
              <a:t>The t</a:t>
            </a:r>
            <a:r>
              <a:rPr lang="en-US" sz="2800" b="1">
                <a:latin typeface="Arial Narrow" panose="020B0606020202030204" pitchFamily="34" charset="0"/>
                <a:cs typeface="Calibri" panose="020F0502020204030204" pitchFamily="34" charset="0"/>
              </a:rPr>
              <a:t>ypes of </a:t>
            </a:r>
            <a:r>
              <a:rPr lang="pl-PL" sz="2800" b="1">
                <a:latin typeface="Arial Narrow" panose="020B0606020202030204" pitchFamily="34" charset="0"/>
                <a:cs typeface="Calibri" panose="020F0502020204030204" pitchFamily="34" charset="0"/>
              </a:rPr>
              <a:t>M</a:t>
            </a:r>
            <a:r>
              <a:rPr lang="en-US" sz="2800" b="1">
                <a:latin typeface="Arial Narrow" panose="020B0606020202030204" pitchFamily="34" charset="0"/>
                <a:cs typeface="Calibri" panose="020F0502020204030204" pitchFamily="34" charset="0"/>
              </a:rPr>
              <a:t>achine </a:t>
            </a:r>
            <a:r>
              <a:rPr lang="pl-PL" sz="2800" b="1">
                <a:latin typeface="Arial Narrow" panose="020B0606020202030204" pitchFamily="34" charset="0"/>
                <a:cs typeface="Calibri" panose="020F0502020204030204" pitchFamily="34" charset="0"/>
              </a:rPr>
              <a:t>L</a:t>
            </a:r>
            <a:r>
              <a:rPr lang="en-US" sz="2800" b="1">
                <a:latin typeface="Arial Narrow" panose="020B0606020202030204" pitchFamily="34" charset="0"/>
                <a:cs typeface="Calibri" panose="020F0502020204030204" pitchFamily="34" charset="0"/>
              </a:rPr>
              <a:t>earning</a:t>
            </a:r>
            <a:r>
              <a:rPr lang="pl-PL" sz="2800" b="1">
                <a:latin typeface="Arial Narrow" panose="020B0606020202030204" pitchFamily="34" charset="0"/>
                <a:cs typeface="Calibri" panose="020F0502020204030204" pitchFamily="34" charset="0"/>
              </a:rPr>
              <a:t> tasks </a:t>
            </a:r>
            <a:br>
              <a:rPr lang="pl-PL" sz="2800" b="1">
                <a:latin typeface="Arial Narrow" panose="020B0606020202030204" pitchFamily="34" charset="0"/>
                <a:cs typeface="Calibri" panose="020F0502020204030204" pitchFamily="34" charset="0"/>
              </a:rPr>
            </a:br>
            <a:r>
              <a:rPr lang="en-US" sz="2800" b="1">
                <a:latin typeface="Arial Narrow" panose="020B0606020202030204" pitchFamily="34" charset="0"/>
                <a:cs typeface="Calibri" panose="020F0502020204030204" pitchFamily="34" charset="0"/>
              </a:rPr>
              <a:t>based on the type of </a:t>
            </a:r>
            <a:r>
              <a:rPr lang="pl-PL" sz="2800" b="1">
                <a:latin typeface="Arial Narrow" panose="020B0606020202030204" pitchFamily="34" charset="0"/>
                <a:cs typeface="Calibri" panose="020F0502020204030204" pitchFamily="34" charset="0"/>
              </a:rPr>
              <a:t>the </a:t>
            </a:r>
            <a:r>
              <a:rPr lang="en-US" sz="2800" b="1">
                <a:latin typeface="Arial Narrow" panose="020B0606020202030204" pitchFamily="34" charset="0"/>
                <a:cs typeface="Calibri" panose="020F0502020204030204" pitchFamily="34" charset="0"/>
              </a:rPr>
              <a:t>problem being solved:</a:t>
            </a:r>
          </a:p>
          <a:p>
            <a:r>
              <a:rPr lang="pl-PL" sz="3600" b="1">
                <a:solidFill>
                  <a:srgbClr val="0000FF"/>
                </a:solidFill>
                <a:latin typeface="Arial Narrow" panose="020B0606020202030204" pitchFamily="34" charset="0"/>
                <a:cs typeface="Calibri" panose="020F0502020204030204" pitchFamily="34" charset="0"/>
              </a:rPr>
              <a:t>regression (scalar, vector, single-factor, multiple-factor)</a:t>
            </a:r>
          </a:p>
          <a:p>
            <a:endParaRPr lang="pl-PL" sz="3600" b="1">
              <a:solidFill>
                <a:srgbClr val="0000FF"/>
              </a:solidFill>
              <a:latin typeface="Arial Narrow" panose="020B0606020202030204" pitchFamily="34" charset="0"/>
              <a:cs typeface="Calibri" panose="020F0502020204030204" pitchFamily="34" charset="0"/>
            </a:endParaRPr>
          </a:p>
          <a:p>
            <a:r>
              <a:rPr lang="pl-PL" sz="2800">
                <a:latin typeface="Arial Narrow" panose="020B0606020202030204" pitchFamily="34" charset="0"/>
              </a:rPr>
              <a:t>– a model predicts a continuous numerical value (values)</a:t>
            </a:r>
            <a:endParaRPr lang="pl-PL" sz="2800" b="1">
              <a:solidFill>
                <a:srgbClr val="0000FF"/>
              </a:solidFill>
              <a:latin typeface="Arial Narrow" panose="020B0606020202030204" pitchFamily="34" charset="0"/>
              <a:cs typeface="Calibri" panose="020F0502020204030204" pitchFamily="34" charset="0"/>
            </a:endParaRPr>
          </a:p>
        </p:txBody>
      </p:sp>
    </p:spTree>
    <p:extLst>
      <p:ext uri="{BB962C8B-B14F-4D97-AF65-F5344CB8AC3E}">
        <p14:creationId xmlns:p14="http://schemas.microsoft.com/office/powerpoint/2010/main" val="1865364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5E7F995-28EE-3D51-64BC-A50AE7416AD2}"/>
              </a:ext>
            </a:extLst>
          </p:cNvPr>
          <p:cNvSpPr>
            <a:spLocks noGrp="1"/>
          </p:cNvSpPr>
          <p:nvPr>
            <p:ph type="sldNum" sz="quarter" idx="12"/>
          </p:nvPr>
        </p:nvSpPr>
        <p:spPr/>
        <p:txBody>
          <a:bodyPr/>
          <a:lstStyle/>
          <a:p>
            <a:fld id="{20D4B2D9-DB10-4EB9-B7A6-032A6D4E75AC}" type="slidenum">
              <a:rPr lang="pl-PL" smtClean="0"/>
              <a:pPr/>
              <a:t>36</a:t>
            </a:fld>
            <a:endParaRPr lang="pl-PL" dirty="0"/>
          </a:p>
        </p:txBody>
      </p:sp>
      <p:sp>
        <p:nvSpPr>
          <p:cNvPr id="4" name="Rectangle 2">
            <a:extLst>
              <a:ext uri="{FF2B5EF4-FFF2-40B4-BE49-F238E27FC236}">
                <a16:creationId xmlns:a16="http://schemas.microsoft.com/office/drawing/2014/main" id="{8203ED36-0F65-715F-7EBB-DA631A79BE1E}"/>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a:latin typeface="Arial" pitchFamily="34" charset="0"/>
                <a:ea typeface="+mj-lt"/>
                <a:cs typeface="Arial" pitchFamily="34" charset="0"/>
              </a:rPr>
              <a:t>Concepts</a:t>
            </a:r>
            <a:endParaRPr lang="en-GB" sz="4400" dirty="0">
              <a:latin typeface="Arial" pitchFamily="34" charset="0"/>
              <a:ea typeface="+mj-lt"/>
              <a:cs typeface="Arial" pitchFamily="34" charset="0"/>
            </a:endParaRPr>
          </a:p>
        </p:txBody>
      </p:sp>
      <p:sp>
        <p:nvSpPr>
          <p:cNvPr id="6" name="TextBox 1">
            <a:extLst>
              <a:ext uri="{FF2B5EF4-FFF2-40B4-BE49-F238E27FC236}">
                <a16:creationId xmlns:a16="http://schemas.microsoft.com/office/drawing/2014/main" id="{0635C612-733C-CD43-8267-22094C52108D}"/>
              </a:ext>
            </a:extLst>
          </p:cNvPr>
          <p:cNvSpPr txBox="1"/>
          <p:nvPr/>
        </p:nvSpPr>
        <p:spPr>
          <a:xfrm>
            <a:off x="0" y="304800"/>
            <a:ext cx="11582400" cy="1981200"/>
          </a:xfrm>
          <a:prstGeom prst="rect">
            <a:avLst/>
          </a:prstGeom>
          <a:noFill/>
        </p:spPr>
        <p:txBody>
          <a:bodyPr wrap="square" lIns="36000" tIns="36000" rIns="36000" bIns="36000" rtlCol="0">
            <a:noAutofit/>
          </a:bodyPr>
          <a:lstStyle/>
          <a:p>
            <a:pPr>
              <a:spcBef>
                <a:spcPts val="0"/>
              </a:spcBef>
            </a:pPr>
            <a:r>
              <a:rPr lang="pl-PL" sz="2400" b="1">
                <a:solidFill>
                  <a:srgbClr val="0000FF"/>
                </a:solidFill>
                <a:latin typeface="Arial Narrow" panose="020B0606020202030204" pitchFamily="34" charset="0"/>
              </a:rPr>
              <a:t>Independent variable</a:t>
            </a:r>
            <a:endParaRPr lang="pl-PL" sz="2400" dirty="0">
              <a:latin typeface="Arial Narrow" panose="020B0606020202030204" pitchFamily="34" charset="0"/>
            </a:endParaRPr>
          </a:p>
          <a:p>
            <a:pPr>
              <a:spcBef>
                <a:spcPts val="0"/>
              </a:spcBef>
            </a:pPr>
            <a:r>
              <a:rPr lang="en-US" sz="2400" b="1">
                <a:latin typeface="Arial Narrow" panose="020B0606020202030204" pitchFamily="34" charset="0"/>
              </a:rPr>
              <a:t>input</a:t>
            </a:r>
            <a:r>
              <a:rPr lang="en-US" sz="2400">
                <a:latin typeface="Arial Narrow" panose="020B0606020202030204" pitchFamily="34" charset="0"/>
              </a:rPr>
              <a:t> or factor used to explain or predict something</a:t>
            </a:r>
            <a:r>
              <a:rPr lang="pl-PL" sz="2400">
                <a:latin typeface="Arial Narrow" panose="020B0606020202030204" pitchFamily="34" charset="0"/>
              </a:rPr>
              <a:t> (e.g. car age, colour, mileage, make, model)</a:t>
            </a:r>
            <a:r>
              <a:rPr lang="en-US" sz="2400">
                <a:latin typeface="Arial Narrow" panose="020B0606020202030204" pitchFamily="34" charset="0"/>
              </a:rPr>
              <a:t>. </a:t>
            </a:r>
            <a:br>
              <a:rPr lang="pl-PL" sz="2400">
                <a:latin typeface="Arial Narrow" panose="020B0606020202030204" pitchFamily="34" charset="0"/>
              </a:rPr>
            </a:br>
            <a:r>
              <a:rPr lang="en-US" sz="2400">
                <a:latin typeface="Arial Narrow" panose="020B0606020202030204" pitchFamily="34" charset="0"/>
              </a:rPr>
              <a:t>It is usually written as </a:t>
            </a:r>
            <a:r>
              <a:rPr lang="en-US" sz="2400" b="1">
                <a:latin typeface="Arial Narrow" panose="020B0606020202030204" pitchFamily="34" charset="0"/>
              </a:rPr>
              <a:t>X</a:t>
            </a:r>
            <a:r>
              <a:rPr lang="en-US" sz="2400">
                <a:latin typeface="Arial Narrow" panose="020B0606020202030204" pitchFamily="34" charset="0"/>
              </a:rPr>
              <a:t>.</a:t>
            </a:r>
            <a:endParaRPr lang="pl-PL" sz="2400">
              <a:latin typeface="Arial Narrow" panose="020B0606020202030204" pitchFamily="34" charset="0"/>
            </a:endParaRPr>
          </a:p>
          <a:p>
            <a:pPr>
              <a:spcBef>
                <a:spcPts val="0"/>
              </a:spcBef>
            </a:pPr>
            <a:r>
              <a:rPr lang="pl-PL" sz="2400" b="1">
                <a:solidFill>
                  <a:srgbClr val="0000FF"/>
                </a:solidFill>
                <a:latin typeface="Arial Narrow" panose="020B0606020202030204" pitchFamily="34" charset="0"/>
              </a:rPr>
              <a:t>Dependent variable</a:t>
            </a:r>
            <a:endParaRPr lang="pl-PL" sz="2400" dirty="0">
              <a:solidFill>
                <a:srgbClr val="0000FF"/>
              </a:solidFill>
              <a:latin typeface="Arial Narrow" panose="020B0606020202030204" pitchFamily="34" charset="0"/>
            </a:endParaRPr>
          </a:p>
          <a:p>
            <a:pPr>
              <a:spcBef>
                <a:spcPts val="0"/>
              </a:spcBef>
            </a:pPr>
            <a:r>
              <a:rPr lang="en-US" sz="2400" b="1">
                <a:latin typeface="Arial Narrow" panose="020B0606020202030204" pitchFamily="34" charset="0"/>
              </a:rPr>
              <a:t>output</a:t>
            </a:r>
            <a:r>
              <a:rPr lang="en-US" sz="2400">
                <a:latin typeface="Arial Narrow" panose="020B0606020202030204" pitchFamily="34" charset="0"/>
              </a:rPr>
              <a:t> or result that depends on the independent variable</a:t>
            </a:r>
            <a:r>
              <a:rPr lang="pl-PL" sz="2400">
                <a:latin typeface="Arial Narrow" panose="020B0606020202030204" pitchFamily="34" charset="0"/>
              </a:rPr>
              <a:t> (e.g. car price)</a:t>
            </a:r>
            <a:r>
              <a:rPr lang="en-US" sz="2400">
                <a:latin typeface="Arial Narrow" panose="020B0606020202030204" pitchFamily="34" charset="0"/>
              </a:rPr>
              <a:t>. It is usually written as </a:t>
            </a:r>
            <a:r>
              <a:rPr lang="en-US" sz="2400" b="1">
                <a:latin typeface="Arial Narrow" panose="020B0606020202030204" pitchFamily="34" charset="0"/>
              </a:rPr>
              <a:t>Y</a:t>
            </a:r>
            <a:r>
              <a:rPr lang="pl-PL" sz="2400">
                <a:latin typeface="Arial Narrow" panose="020B0606020202030204" pitchFamily="34" charset="0"/>
              </a:rPr>
              <a:t>.</a:t>
            </a:r>
          </a:p>
        </p:txBody>
      </p:sp>
      <p:pic>
        <p:nvPicPr>
          <p:cNvPr id="10" name="Picture 9">
            <a:extLst>
              <a:ext uri="{FF2B5EF4-FFF2-40B4-BE49-F238E27FC236}">
                <a16:creationId xmlns:a16="http://schemas.microsoft.com/office/drawing/2014/main" id="{5312C170-04EA-C13E-F170-3B374966877A}"/>
              </a:ext>
            </a:extLst>
          </p:cNvPr>
          <p:cNvPicPr>
            <a:picLocks noChangeAspect="1"/>
          </p:cNvPicPr>
          <p:nvPr/>
        </p:nvPicPr>
        <p:blipFill>
          <a:blip r:embed="rId2"/>
          <a:stretch>
            <a:fillRect/>
          </a:stretch>
        </p:blipFill>
        <p:spPr>
          <a:xfrm>
            <a:off x="2526728" y="2717808"/>
            <a:ext cx="7602406" cy="3845038"/>
          </a:xfrm>
          <a:prstGeom prst="rect">
            <a:avLst/>
          </a:prstGeom>
        </p:spPr>
      </p:pic>
    </p:spTree>
    <p:extLst>
      <p:ext uri="{BB962C8B-B14F-4D97-AF65-F5344CB8AC3E}">
        <p14:creationId xmlns:p14="http://schemas.microsoft.com/office/powerpoint/2010/main" val="12524893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p:cNvSpPr>
            <a:spLocks noGrp="1"/>
          </p:cNvSpPr>
          <p:nvPr>
            <p:ph type="sldNum" sz="quarter" idx="12"/>
          </p:nvPr>
        </p:nvSpPr>
        <p:spPr/>
        <p:txBody>
          <a:bodyPr/>
          <a:lstStyle/>
          <a:p>
            <a:fld id="{20D4B2D9-DB10-4EB9-B7A6-032A6D4E75AC}" type="slidenum">
              <a:rPr lang="pl-PL" smtClean="0"/>
              <a:pPr/>
              <a:t>37</a:t>
            </a:fld>
            <a:endParaRPr lang="pl-PL" dirty="0"/>
          </a:p>
        </p:txBody>
      </p:sp>
      <p:sp>
        <p:nvSpPr>
          <p:cNvPr id="4" name="TextBox 1"/>
          <p:cNvSpPr txBox="1"/>
          <p:nvPr/>
        </p:nvSpPr>
        <p:spPr>
          <a:xfrm>
            <a:off x="0" y="304800"/>
            <a:ext cx="11582400" cy="3505200"/>
          </a:xfrm>
          <a:prstGeom prst="rect">
            <a:avLst/>
          </a:prstGeom>
          <a:noFill/>
        </p:spPr>
        <p:txBody>
          <a:bodyPr wrap="square" lIns="36000" tIns="36000" rIns="36000" bIns="36000" rtlCol="0">
            <a:noAutofit/>
          </a:bodyPr>
          <a:lstStyle/>
          <a:p>
            <a:pPr>
              <a:spcBef>
                <a:spcPts val="0"/>
              </a:spcBef>
            </a:pPr>
            <a:r>
              <a:rPr lang="pl-PL" sz="2400" b="1">
                <a:solidFill>
                  <a:srgbClr val="0000FF"/>
                </a:solidFill>
                <a:latin typeface="Arial Narrow" panose="020B0606020202030204" pitchFamily="34" charset="0"/>
              </a:rPr>
              <a:t>Scalar regression</a:t>
            </a:r>
            <a:endParaRPr lang="pl-PL" sz="2400" dirty="0">
              <a:latin typeface="Arial Narrow" panose="020B0606020202030204" pitchFamily="34" charset="0"/>
            </a:endParaRPr>
          </a:p>
          <a:p>
            <a:pPr>
              <a:spcBef>
                <a:spcPts val="0"/>
              </a:spcBef>
            </a:pPr>
            <a:r>
              <a:rPr lang="en-US" sz="2400">
                <a:latin typeface="Arial Narrow" panose="020B0606020202030204" pitchFamily="34" charset="0"/>
              </a:rPr>
              <a:t>Target values are continuous </a:t>
            </a:r>
            <a:r>
              <a:rPr lang="en-US" sz="2400" b="1">
                <a:solidFill>
                  <a:srgbClr val="FF0000"/>
                </a:solidFill>
                <a:latin typeface="Arial Narrow" panose="020B0606020202030204" pitchFamily="34" charset="0"/>
              </a:rPr>
              <a:t>scalar</a:t>
            </a:r>
            <a:r>
              <a:rPr lang="en-US" sz="2400" b="1">
                <a:latin typeface="Arial Narrow" panose="020B0606020202030204" pitchFamily="34" charset="0"/>
              </a:rPr>
              <a:t> </a:t>
            </a:r>
            <a:r>
              <a:rPr lang="en-US" sz="2400">
                <a:latin typeface="Arial Narrow" panose="020B0606020202030204" pitchFamily="34" charset="0"/>
              </a:rPr>
              <a:t>values.</a:t>
            </a:r>
            <a:endParaRPr lang="pl-PL" sz="2400">
              <a:latin typeface="Arial Narrow" panose="020B0606020202030204" pitchFamily="34" charset="0"/>
            </a:endParaRPr>
          </a:p>
          <a:p>
            <a:pPr>
              <a:spcBef>
                <a:spcPts val="0"/>
              </a:spcBef>
            </a:pPr>
            <a:r>
              <a:rPr lang="en-US" sz="2400">
                <a:latin typeface="Arial Narrow" panose="020B0606020202030204" pitchFamily="34" charset="0"/>
              </a:rPr>
              <a:t>Example: </a:t>
            </a:r>
            <a:endParaRPr lang="pl-PL" sz="2400">
              <a:latin typeface="Arial Narrow" panose="020B0606020202030204" pitchFamily="34" charset="0"/>
            </a:endParaRPr>
          </a:p>
          <a:p>
            <a:pPr>
              <a:spcBef>
                <a:spcPts val="0"/>
              </a:spcBef>
            </a:pPr>
            <a:r>
              <a:rPr lang="en-US" sz="2400">
                <a:latin typeface="Arial Narrow" panose="020B0606020202030204" pitchFamily="34" charset="0"/>
              </a:rPr>
              <a:t>predicting the price of </a:t>
            </a:r>
            <a:r>
              <a:rPr lang="pl-PL" sz="2400" b="1">
                <a:solidFill>
                  <a:srgbClr val="FF0000"/>
                </a:solidFill>
                <a:latin typeface="Arial Narrow" panose="020B0606020202030204" pitchFamily="34" charset="0"/>
              </a:rPr>
              <a:t>one</a:t>
            </a:r>
            <a:r>
              <a:rPr lang="en-US" sz="2400" b="1">
                <a:solidFill>
                  <a:srgbClr val="FF0000"/>
                </a:solidFill>
                <a:latin typeface="Arial Narrow" panose="020B0606020202030204" pitchFamily="34" charset="0"/>
              </a:rPr>
              <a:t> commodity</a:t>
            </a:r>
            <a:r>
              <a:rPr lang="pl-PL" sz="2400">
                <a:latin typeface="Arial Narrow" panose="020B0606020202030204" pitchFamily="34" charset="0"/>
              </a:rPr>
              <a:t> (based on one or many factors, e.g.: age, shape, colour)</a:t>
            </a:r>
            <a:r>
              <a:rPr lang="en-US" sz="2400">
                <a:latin typeface="Arial Narrow" panose="020B0606020202030204" pitchFamily="34" charset="0"/>
              </a:rPr>
              <a:t>.</a:t>
            </a:r>
            <a:endParaRPr lang="pl-PL" sz="2400">
              <a:latin typeface="Arial Narrow" panose="020B0606020202030204" pitchFamily="34" charset="0"/>
            </a:endParaRPr>
          </a:p>
          <a:p>
            <a:pPr>
              <a:spcBef>
                <a:spcPts val="0"/>
              </a:spcBef>
            </a:pPr>
            <a:endParaRPr lang="pl-PL" sz="2400" b="1">
              <a:latin typeface="Arial Narrow" panose="020B0606020202030204" pitchFamily="34" charset="0"/>
            </a:endParaRPr>
          </a:p>
          <a:p>
            <a:pPr>
              <a:spcBef>
                <a:spcPts val="0"/>
              </a:spcBef>
            </a:pPr>
            <a:endParaRPr lang="pl-PL" sz="2400" b="1">
              <a:latin typeface="Arial Narrow" panose="020B0606020202030204" pitchFamily="34" charset="0"/>
            </a:endParaRPr>
          </a:p>
          <a:p>
            <a:pPr>
              <a:spcBef>
                <a:spcPts val="0"/>
              </a:spcBef>
            </a:pPr>
            <a:r>
              <a:rPr lang="pl-PL" sz="2400" b="1">
                <a:solidFill>
                  <a:srgbClr val="0000FF"/>
                </a:solidFill>
                <a:latin typeface="Arial Narrow" panose="020B0606020202030204" pitchFamily="34" charset="0"/>
              </a:rPr>
              <a:t>Vector regression</a:t>
            </a:r>
            <a:endParaRPr lang="pl-PL" sz="2400" dirty="0">
              <a:solidFill>
                <a:srgbClr val="0000FF"/>
              </a:solidFill>
              <a:latin typeface="Arial Narrow" panose="020B0606020202030204" pitchFamily="34" charset="0"/>
            </a:endParaRPr>
          </a:p>
          <a:p>
            <a:pPr>
              <a:spcBef>
                <a:spcPts val="0"/>
              </a:spcBef>
            </a:pPr>
            <a:r>
              <a:rPr lang="pl-PL" sz="2400">
                <a:latin typeface="Arial Narrow" panose="020B0606020202030204" pitchFamily="34" charset="0"/>
              </a:rPr>
              <a:t>T</a:t>
            </a:r>
            <a:r>
              <a:rPr lang="en-US" sz="2400">
                <a:latin typeface="Arial Narrow" panose="020B0606020202030204" pitchFamily="34" charset="0"/>
              </a:rPr>
              <a:t>arget values are a </a:t>
            </a:r>
            <a:r>
              <a:rPr lang="en-US" sz="2400" b="1">
                <a:solidFill>
                  <a:srgbClr val="00B050"/>
                </a:solidFill>
                <a:latin typeface="Arial Narrow" panose="020B0606020202030204" pitchFamily="34" charset="0"/>
              </a:rPr>
              <a:t>vector</a:t>
            </a:r>
            <a:r>
              <a:rPr lang="en-US" sz="2400" b="1">
                <a:latin typeface="Arial Narrow" panose="020B0606020202030204" pitchFamily="34" charset="0"/>
              </a:rPr>
              <a:t> </a:t>
            </a:r>
            <a:r>
              <a:rPr lang="en-US" sz="2400">
                <a:latin typeface="Arial Narrow" panose="020B0606020202030204" pitchFamily="34" charset="0"/>
              </a:rPr>
              <a:t>of continuous values</a:t>
            </a:r>
            <a:r>
              <a:rPr lang="pl-PL" sz="2400">
                <a:latin typeface="Arial Narrow" panose="020B0606020202030204" pitchFamily="34" charset="0"/>
              </a:rPr>
              <a:t>.</a:t>
            </a:r>
            <a:endParaRPr lang="pl-PL" sz="2400" dirty="0">
              <a:latin typeface="Arial Narrow" panose="020B0606020202030204" pitchFamily="34" charset="0"/>
            </a:endParaRPr>
          </a:p>
          <a:p>
            <a:pPr>
              <a:spcBef>
                <a:spcPts val="0"/>
              </a:spcBef>
            </a:pPr>
            <a:r>
              <a:rPr lang="pl-PL" sz="2400">
                <a:latin typeface="Arial Narrow" panose="020B0606020202030204" pitchFamily="34" charset="0"/>
              </a:rPr>
              <a:t>Example: </a:t>
            </a:r>
          </a:p>
          <a:p>
            <a:pPr>
              <a:spcBef>
                <a:spcPts val="0"/>
              </a:spcBef>
            </a:pPr>
            <a:r>
              <a:rPr lang="en-US" sz="2400">
                <a:latin typeface="Arial Narrow" panose="020B0606020202030204" pitchFamily="34" charset="0"/>
              </a:rPr>
              <a:t>predicting the price of a </a:t>
            </a:r>
            <a:r>
              <a:rPr lang="en-US" sz="2400" b="1">
                <a:solidFill>
                  <a:srgbClr val="00B050"/>
                </a:solidFill>
                <a:latin typeface="Arial Narrow" panose="020B0606020202030204" pitchFamily="34" charset="0"/>
              </a:rPr>
              <a:t>basket of goods</a:t>
            </a:r>
            <a:r>
              <a:rPr lang="pl-PL" sz="2400">
                <a:latin typeface="Arial Narrow" panose="020B0606020202030204" pitchFamily="34" charset="0"/>
              </a:rPr>
              <a:t> (based on one or many factors, e.g.: age, shape, colour).</a:t>
            </a:r>
          </a:p>
        </p:txBody>
      </p:sp>
      <p:sp>
        <p:nvSpPr>
          <p:cNvPr id="5" name="Rectangle 2">
            <a:extLst>
              <a:ext uri="{FF2B5EF4-FFF2-40B4-BE49-F238E27FC236}">
                <a16:creationId xmlns:a16="http://schemas.microsoft.com/office/drawing/2014/main" id="{1F5624A9-5F7A-9708-AFF1-BD2D5D945A7A}"/>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en-US" sz="1600">
                <a:latin typeface="Arial" pitchFamily="34" charset="0"/>
                <a:ea typeface="+mj-lt"/>
                <a:cs typeface="Arial" pitchFamily="34" charset="0"/>
              </a:rPr>
              <a:t>Types of </a:t>
            </a:r>
            <a:r>
              <a:rPr lang="pl-PL" sz="1600">
                <a:latin typeface="Arial" pitchFamily="34" charset="0"/>
                <a:ea typeface="+mj-lt"/>
                <a:cs typeface="Arial" pitchFamily="34" charset="0"/>
              </a:rPr>
              <a:t>ML</a:t>
            </a:r>
            <a:r>
              <a:rPr lang="en-US" sz="1600">
                <a:latin typeface="Arial" pitchFamily="34" charset="0"/>
                <a:ea typeface="+mj-lt"/>
                <a:cs typeface="Arial" pitchFamily="34" charset="0"/>
              </a:rPr>
              <a:t> tasks</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38833505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5BBA7CB-EEEC-82EC-64A2-DD6EC870230B}"/>
              </a:ext>
            </a:extLst>
          </p:cNvPr>
          <p:cNvSpPr>
            <a:spLocks noGrp="1"/>
          </p:cNvSpPr>
          <p:nvPr>
            <p:ph type="sldNum" sz="quarter" idx="12"/>
          </p:nvPr>
        </p:nvSpPr>
        <p:spPr/>
        <p:txBody>
          <a:bodyPr/>
          <a:lstStyle/>
          <a:p>
            <a:fld id="{20D4B2D9-DB10-4EB9-B7A6-032A6D4E75AC}" type="slidenum">
              <a:rPr lang="pl-PL" smtClean="0"/>
              <a:pPr/>
              <a:t>38</a:t>
            </a:fld>
            <a:endParaRPr lang="pl-PL" dirty="0"/>
          </a:p>
        </p:txBody>
      </p:sp>
      <p:sp>
        <p:nvSpPr>
          <p:cNvPr id="4" name="Rectangle 2">
            <a:extLst>
              <a:ext uri="{FF2B5EF4-FFF2-40B4-BE49-F238E27FC236}">
                <a16:creationId xmlns:a16="http://schemas.microsoft.com/office/drawing/2014/main" id="{904D381D-46D5-11B0-F188-2802521EE64B}"/>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en-US" sz="1600">
                <a:latin typeface="Arial" pitchFamily="34" charset="0"/>
                <a:ea typeface="+mj-lt"/>
                <a:cs typeface="Arial" pitchFamily="34" charset="0"/>
              </a:rPr>
              <a:t>Types of </a:t>
            </a:r>
            <a:r>
              <a:rPr lang="pl-PL" sz="1600">
                <a:latin typeface="Arial" pitchFamily="34" charset="0"/>
                <a:ea typeface="+mj-lt"/>
                <a:cs typeface="Arial" pitchFamily="34" charset="0"/>
              </a:rPr>
              <a:t>ML</a:t>
            </a:r>
            <a:r>
              <a:rPr lang="en-US" sz="1600">
                <a:latin typeface="Arial" pitchFamily="34" charset="0"/>
                <a:ea typeface="+mj-lt"/>
                <a:cs typeface="Arial" pitchFamily="34" charset="0"/>
              </a:rPr>
              <a:t> tasks</a:t>
            </a:r>
            <a:endParaRPr lang="en-GB" sz="4400" dirty="0">
              <a:latin typeface="Arial" pitchFamily="34" charset="0"/>
              <a:ea typeface="+mj-lt"/>
              <a:cs typeface="Arial" pitchFamily="34" charset="0"/>
            </a:endParaRPr>
          </a:p>
        </p:txBody>
      </p:sp>
      <p:sp>
        <p:nvSpPr>
          <p:cNvPr id="6" name="TextBox 1">
            <a:extLst>
              <a:ext uri="{FF2B5EF4-FFF2-40B4-BE49-F238E27FC236}">
                <a16:creationId xmlns:a16="http://schemas.microsoft.com/office/drawing/2014/main" id="{5297D13D-1DE6-CBD1-B8A4-D98ED0076903}"/>
              </a:ext>
            </a:extLst>
          </p:cNvPr>
          <p:cNvSpPr txBox="1"/>
          <p:nvPr/>
        </p:nvSpPr>
        <p:spPr>
          <a:xfrm>
            <a:off x="0" y="304800"/>
            <a:ext cx="12192000" cy="1981200"/>
          </a:xfrm>
          <a:prstGeom prst="rect">
            <a:avLst/>
          </a:prstGeom>
          <a:noFill/>
        </p:spPr>
        <p:txBody>
          <a:bodyPr wrap="square" lIns="36000" tIns="36000" rIns="36000" bIns="36000" rtlCol="0">
            <a:noAutofit/>
          </a:bodyPr>
          <a:lstStyle/>
          <a:p>
            <a:pPr>
              <a:spcBef>
                <a:spcPts val="0"/>
              </a:spcBef>
            </a:pPr>
            <a:r>
              <a:rPr lang="pl-PL" sz="2400" b="1">
                <a:solidFill>
                  <a:srgbClr val="0000FF"/>
                </a:solidFill>
                <a:latin typeface="Arial Narrow" panose="020B0606020202030204" pitchFamily="34" charset="0"/>
              </a:rPr>
              <a:t>Single-factor regression</a:t>
            </a:r>
          </a:p>
          <a:p>
            <a:pPr>
              <a:spcBef>
                <a:spcPts val="0"/>
              </a:spcBef>
            </a:pPr>
            <a:r>
              <a:rPr lang="en-US" sz="2400">
                <a:latin typeface="Arial Narrow" panose="020B0606020202030204" pitchFamily="34" charset="0"/>
              </a:rPr>
              <a:t>We examine the relationship between the dependent variable and a </a:t>
            </a:r>
            <a:r>
              <a:rPr lang="en-US" sz="2400" b="1">
                <a:latin typeface="Arial Narrow" panose="020B0606020202030204" pitchFamily="34" charset="0"/>
              </a:rPr>
              <a:t>single independent variable</a:t>
            </a:r>
            <a:r>
              <a:rPr lang="pl-PL" sz="2400">
                <a:latin typeface="Arial Narrow" panose="020B0606020202030204" pitchFamily="34" charset="0"/>
              </a:rPr>
              <a:t> (rarely used).</a:t>
            </a:r>
          </a:p>
          <a:p>
            <a:pPr>
              <a:spcBef>
                <a:spcPts val="0"/>
              </a:spcBef>
            </a:pPr>
            <a:r>
              <a:rPr lang="pl-PL" sz="2400">
                <a:latin typeface="Arial Narrow" panose="020B0606020202030204" pitchFamily="34" charset="0"/>
              </a:rPr>
              <a:t>Example:</a:t>
            </a:r>
          </a:p>
          <a:p>
            <a:pPr>
              <a:spcBef>
                <a:spcPts val="0"/>
              </a:spcBef>
            </a:pPr>
            <a:r>
              <a:rPr lang="en-US" sz="2400">
                <a:latin typeface="Arial Narrow" panose="020B0606020202030204" pitchFamily="34" charset="0"/>
              </a:rPr>
              <a:t>estimating the price of a house </a:t>
            </a:r>
            <a:r>
              <a:rPr lang="en-US" sz="2400" b="1">
                <a:latin typeface="Arial Narrow" panose="020B0606020202030204" pitchFamily="34" charset="0"/>
              </a:rPr>
              <a:t>based solely on its </a:t>
            </a:r>
            <a:r>
              <a:rPr lang="pl-PL" sz="2400" b="1">
                <a:latin typeface="Arial Narrow" panose="020B0606020202030204" pitchFamily="34" charset="0"/>
              </a:rPr>
              <a:t>size</a:t>
            </a:r>
            <a:r>
              <a:rPr lang="pl-PL" sz="2400">
                <a:latin typeface="Arial Narrow" panose="020B0606020202030204" pitchFamily="34" charset="0"/>
              </a:rPr>
              <a:t>.</a:t>
            </a:r>
            <a:endParaRPr lang="pl-PL" sz="2400" b="1">
              <a:latin typeface="Arial Narrow" panose="020B0606020202030204" pitchFamily="34" charset="0"/>
            </a:endParaRPr>
          </a:p>
        </p:txBody>
      </p:sp>
    </p:spTree>
    <p:extLst>
      <p:ext uri="{BB962C8B-B14F-4D97-AF65-F5344CB8AC3E}">
        <p14:creationId xmlns:p14="http://schemas.microsoft.com/office/powerpoint/2010/main" val="19492759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a:extLst>
              <a:ext uri="{FF2B5EF4-FFF2-40B4-BE49-F238E27FC236}">
                <a16:creationId xmlns:a16="http://schemas.microsoft.com/office/drawing/2014/main" id="{E5E1D2C9-D290-42ED-A575-DC04B0375CC0}"/>
              </a:ext>
            </a:extLst>
          </p:cNvPr>
          <p:cNvSpPr>
            <a:spLocks noGrp="1"/>
          </p:cNvSpPr>
          <p:nvPr>
            <p:ph type="sldNum" sz="quarter" idx="12"/>
          </p:nvPr>
        </p:nvSpPr>
        <p:spPr/>
        <p:txBody>
          <a:bodyPr/>
          <a:lstStyle/>
          <a:p>
            <a:fld id="{83D82602-3ACC-4341-B614-755528165B64}" type="slidenum">
              <a:rPr lang="pl-PL" smtClean="0"/>
              <a:pPr/>
              <a:t>39</a:t>
            </a:fld>
            <a:endParaRPr lang="pl-PL" dirty="0"/>
          </a:p>
        </p:txBody>
      </p:sp>
      <p:sp>
        <p:nvSpPr>
          <p:cNvPr id="5" name="Rectangle 2">
            <a:extLst>
              <a:ext uri="{FF2B5EF4-FFF2-40B4-BE49-F238E27FC236}">
                <a16:creationId xmlns:a16="http://schemas.microsoft.com/office/drawing/2014/main" id="{636E0535-6859-7CBA-9AD6-5A70D7795985}"/>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en-US" sz="1600">
                <a:latin typeface="Arial" pitchFamily="34" charset="0"/>
                <a:ea typeface="+mj-lt"/>
                <a:cs typeface="Arial" pitchFamily="34" charset="0"/>
              </a:rPr>
              <a:t>Types of </a:t>
            </a:r>
            <a:r>
              <a:rPr lang="pl-PL" sz="1600">
                <a:latin typeface="Arial" pitchFamily="34" charset="0"/>
                <a:ea typeface="+mj-lt"/>
                <a:cs typeface="Arial" pitchFamily="34" charset="0"/>
              </a:rPr>
              <a:t>ML</a:t>
            </a:r>
            <a:r>
              <a:rPr lang="en-US" sz="1600">
                <a:latin typeface="Arial" pitchFamily="34" charset="0"/>
                <a:ea typeface="+mj-lt"/>
                <a:cs typeface="Arial" pitchFamily="34" charset="0"/>
              </a:rPr>
              <a:t> tasks</a:t>
            </a:r>
            <a:endParaRPr lang="en-GB" sz="4400" dirty="0">
              <a:latin typeface="Arial" pitchFamily="34" charset="0"/>
              <a:ea typeface="+mj-lt"/>
              <a:cs typeface="Arial" pitchFamily="34" charset="0"/>
            </a:endParaRPr>
          </a:p>
        </p:txBody>
      </p:sp>
      <p:sp>
        <p:nvSpPr>
          <p:cNvPr id="6" name="TextBox 1">
            <a:extLst>
              <a:ext uri="{FF2B5EF4-FFF2-40B4-BE49-F238E27FC236}">
                <a16:creationId xmlns:a16="http://schemas.microsoft.com/office/drawing/2014/main" id="{7596D841-7E4F-1279-ED03-16E077550F44}"/>
              </a:ext>
            </a:extLst>
          </p:cNvPr>
          <p:cNvSpPr txBox="1"/>
          <p:nvPr/>
        </p:nvSpPr>
        <p:spPr>
          <a:xfrm>
            <a:off x="0" y="304800"/>
            <a:ext cx="12192000" cy="5562600"/>
          </a:xfrm>
          <a:prstGeom prst="rect">
            <a:avLst/>
          </a:prstGeom>
          <a:noFill/>
        </p:spPr>
        <p:txBody>
          <a:bodyPr wrap="square" lIns="36000" tIns="36000" rIns="36000" bIns="36000" rtlCol="0">
            <a:noAutofit/>
          </a:bodyPr>
          <a:lstStyle/>
          <a:p>
            <a:pPr>
              <a:spcBef>
                <a:spcPts val="0"/>
              </a:spcBef>
            </a:pPr>
            <a:r>
              <a:rPr lang="pl-PL" sz="2400" b="1">
                <a:solidFill>
                  <a:srgbClr val="0000FF"/>
                </a:solidFill>
                <a:latin typeface="Arial Narrow" panose="020B0606020202030204" pitchFamily="34" charset="0"/>
              </a:rPr>
              <a:t>Multi-factor (multiple) regression</a:t>
            </a:r>
            <a:r>
              <a:rPr lang="pl-PL" sz="2400">
                <a:latin typeface="Arial Narrow" panose="020B0606020202030204" pitchFamily="34" charset="0"/>
              </a:rPr>
              <a:t>:</a:t>
            </a:r>
          </a:p>
          <a:p>
            <a:pPr>
              <a:spcBef>
                <a:spcPts val="0"/>
              </a:spcBef>
            </a:pPr>
            <a:r>
              <a:rPr lang="en-US" sz="2400">
                <a:latin typeface="Arial Narrow" panose="020B0606020202030204" pitchFamily="34" charset="0"/>
              </a:rPr>
              <a:t>We use many features (independent variables) to predict the outcome</a:t>
            </a:r>
            <a:r>
              <a:rPr lang="pl-PL" sz="2400">
                <a:latin typeface="Arial Narrow" panose="020B0606020202030204" pitchFamily="34" charset="0"/>
              </a:rPr>
              <a:t>.</a:t>
            </a:r>
          </a:p>
          <a:p>
            <a:pPr>
              <a:spcBef>
                <a:spcPts val="0"/>
              </a:spcBef>
            </a:pPr>
            <a:endParaRPr lang="pl-PL" sz="2400">
              <a:latin typeface="Arial Narrow" panose="020B0606020202030204" pitchFamily="34" charset="0"/>
            </a:endParaRPr>
          </a:p>
          <a:p>
            <a:pPr>
              <a:spcBef>
                <a:spcPts val="0"/>
              </a:spcBef>
            </a:pPr>
            <a:r>
              <a:rPr lang="pl-PL" sz="2400">
                <a:latin typeface="Arial Narrow" panose="020B0606020202030204" pitchFamily="34" charset="0"/>
              </a:rPr>
              <a:t>Example:</a:t>
            </a:r>
          </a:p>
          <a:p>
            <a:pPr>
              <a:spcBef>
                <a:spcPts val="0"/>
              </a:spcBef>
            </a:pPr>
            <a:r>
              <a:rPr lang="en-US" sz="2400">
                <a:latin typeface="Arial Narrow" panose="020B0606020202030204" pitchFamily="34" charset="0"/>
              </a:rPr>
              <a:t>Estimating the price of a house </a:t>
            </a:r>
            <a:r>
              <a:rPr lang="pl-PL" sz="2400">
                <a:latin typeface="Arial Narrow" panose="020B0606020202030204" pitchFamily="34" charset="0"/>
              </a:rPr>
              <a:t>(dependent variable) </a:t>
            </a:r>
            <a:r>
              <a:rPr lang="en-US" sz="2400">
                <a:latin typeface="Arial Narrow" panose="020B0606020202030204" pitchFamily="34" charset="0"/>
              </a:rPr>
              <a:t>based on </a:t>
            </a:r>
            <a:r>
              <a:rPr lang="pl-PL" sz="2400">
                <a:latin typeface="Arial Narrow" panose="020B0606020202030204" pitchFamily="34" charset="0"/>
              </a:rPr>
              <a:t>its</a:t>
            </a:r>
            <a:r>
              <a:rPr lang="en-US" sz="2400">
                <a:latin typeface="Arial Narrow" panose="020B0606020202030204" pitchFamily="34" charset="0"/>
              </a:rPr>
              <a:t> characteristics</a:t>
            </a:r>
            <a:r>
              <a:rPr lang="pl-PL" sz="2400">
                <a:latin typeface="Arial Narrow" panose="020B0606020202030204" pitchFamily="34" charset="0"/>
              </a:rPr>
              <a:t> (independent variables)</a:t>
            </a:r>
            <a:r>
              <a:rPr lang="en-US" sz="2400">
                <a:latin typeface="Arial Narrow" panose="020B0606020202030204" pitchFamily="34" charset="0"/>
              </a:rPr>
              <a:t>.</a:t>
            </a:r>
            <a:endParaRPr lang="pl-PL" sz="2400">
              <a:latin typeface="Arial Narrow" panose="020B0606020202030204" pitchFamily="34" charset="0"/>
            </a:endParaRPr>
          </a:p>
          <a:p>
            <a:pPr>
              <a:spcBef>
                <a:spcPts val="0"/>
              </a:spcBef>
            </a:pPr>
            <a:r>
              <a:rPr lang="en-US" sz="2400">
                <a:latin typeface="Arial Narrow" panose="020B0606020202030204" pitchFamily="34" charset="0"/>
              </a:rPr>
              <a:t>We have a two-story, 25-year-old house with an area of 100 square meters and three bathrooms. </a:t>
            </a:r>
            <a:endParaRPr lang="pl-PL" sz="2400">
              <a:latin typeface="Arial Narrow" panose="020B0606020202030204" pitchFamily="34" charset="0"/>
            </a:endParaRPr>
          </a:p>
          <a:p>
            <a:pPr>
              <a:spcBef>
                <a:spcPts val="0"/>
              </a:spcBef>
            </a:pPr>
            <a:r>
              <a:rPr lang="pl-PL" sz="2400">
                <a:latin typeface="Arial Narrow" panose="020B0606020202030204" pitchFamily="34" charset="0"/>
              </a:rPr>
              <a:t>W</a:t>
            </a:r>
            <a:r>
              <a:rPr lang="en-US" sz="2400">
                <a:latin typeface="Arial Narrow" panose="020B0606020202030204" pitchFamily="34" charset="0"/>
              </a:rPr>
              <a:t>e divide the city into 10 areas (districts), and our house is located in the area labeled with the number 7. We can therefore describe the house using a five-dimensional vector:</a:t>
            </a:r>
            <a:endParaRPr lang="pl-PL" sz="2400">
              <a:latin typeface="Arial Narrow" panose="020B0606020202030204" pitchFamily="34" charset="0"/>
            </a:endParaRPr>
          </a:p>
          <a:p>
            <a:pPr>
              <a:spcBef>
                <a:spcPts val="0"/>
              </a:spcBef>
            </a:pPr>
            <a:r>
              <a:rPr lang="en-US" sz="2400">
                <a:latin typeface="Arial Narrow" panose="020B0606020202030204" pitchFamily="34" charset="0"/>
              </a:rPr>
              <a:t>x = [100, 25, 3, 2, 7].</a:t>
            </a:r>
            <a:endParaRPr lang="pl-PL" sz="2400">
              <a:latin typeface="Arial Narrow" panose="020B0606020202030204" pitchFamily="34" charset="0"/>
            </a:endParaRPr>
          </a:p>
          <a:p>
            <a:pPr>
              <a:spcBef>
                <a:spcPts val="0"/>
              </a:spcBef>
            </a:pPr>
            <a:r>
              <a:rPr lang="en-US" sz="2400">
                <a:latin typeface="Arial Narrow" panose="020B0606020202030204" pitchFamily="34" charset="0"/>
              </a:rPr>
              <a:t>Let’s assume that the approximate value of the house is $200,000. </a:t>
            </a:r>
            <a:endParaRPr lang="pl-PL" sz="2400">
              <a:latin typeface="Arial Narrow" panose="020B0606020202030204" pitchFamily="34" charset="0"/>
            </a:endParaRPr>
          </a:p>
          <a:p>
            <a:pPr>
              <a:spcBef>
                <a:spcPts val="0"/>
              </a:spcBef>
            </a:pPr>
            <a:r>
              <a:rPr lang="pl-PL" sz="2400">
                <a:latin typeface="Arial Narrow" panose="020B0606020202030204" pitchFamily="34" charset="0"/>
              </a:rPr>
              <a:t>T</a:t>
            </a:r>
            <a:r>
              <a:rPr lang="en-US" sz="2400">
                <a:latin typeface="Arial Narrow" panose="020B0606020202030204" pitchFamily="34" charset="0"/>
              </a:rPr>
              <a:t>he goal is to find a vector </a:t>
            </a:r>
            <a:endParaRPr lang="pl-PL" sz="2400">
              <a:latin typeface="Arial Narrow" panose="020B0606020202030204" pitchFamily="34" charset="0"/>
            </a:endParaRPr>
          </a:p>
          <a:p>
            <a:pPr>
              <a:spcBef>
                <a:spcPts val="0"/>
              </a:spcBef>
            </a:pPr>
            <a:r>
              <a:rPr lang="en-US" sz="2400">
                <a:latin typeface="Arial Narrow" panose="020B0606020202030204" pitchFamily="34" charset="0"/>
              </a:rPr>
              <a:t>w = [w1, w2, w3, w4, w5] </a:t>
            </a:r>
            <a:endParaRPr lang="pl-PL" sz="2400">
              <a:latin typeface="Arial Narrow" panose="020B0606020202030204" pitchFamily="34" charset="0"/>
            </a:endParaRPr>
          </a:p>
          <a:p>
            <a:pPr>
              <a:spcBef>
                <a:spcPts val="0"/>
              </a:spcBef>
            </a:pPr>
            <a:r>
              <a:rPr lang="en-US" sz="2400">
                <a:latin typeface="Arial Narrow" panose="020B0606020202030204" pitchFamily="34" charset="0"/>
              </a:rPr>
              <a:t>such that 100*w1 + 25*w2 + 3*w3 + 2*w4 + 7*w5 = 200,000.</a:t>
            </a:r>
            <a:endParaRPr lang="pl-PL" sz="2400">
              <a:latin typeface="Arial Narrow" panose="020B0606020202030204" pitchFamily="34" charset="0"/>
            </a:endParaRPr>
          </a:p>
          <a:p>
            <a:pPr>
              <a:spcBef>
                <a:spcPts val="0"/>
              </a:spcBef>
            </a:pPr>
            <a:r>
              <a:rPr lang="en-US" sz="2400">
                <a:latin typeface="Arial Narrow" panose="020B0606020202030204" pitchFamily="34" charset="0"/>
              </a:rPr>
              <a:t>When dealing with a large dataset of houses and their prices, the learning algorithm can find a vector </a:t>
            </a:r>
            <a:r>
              <a:rPr lang="en-US" sz="2400" b="1">
                <a:latin typeface="Arial Narrow" panose="020B0606020202030204" pitchFamily="34" charset="0"/>
              </a:rPr>
              <a:t>w</a:t>
            </a:r>
            <a:r>
              <a:rPr lang="en-US" sz="2400">
                <a:latin typeface="Arial Narrow" panose="020B0606020202030204" pitchFamily="34" charset="0"/>
              </a:rPr>
              <a:t> such that the difference between the estimated price and the </a:t>
            </a:r>
            <a:r>
              <a:rPr lang="pl-PL" sz="2400">
                <a:latin typeface="Arial Narrow" panose="020B0606020202030204" pitchFamily="34" charset="0"/>
              </a:rPr>
              <a:t>real</a:t>
            </a:r>
            <a:r>
              <a:rPr lang="en-US" sz="2400">
                <a:latin typeface="Arial Narrow" panose="020B0606020202030204" pitchFamily="34" charset="0"/>
              </a:rPr>
              <a:t> price is minimized.</a:t>
            </a:r>
            <a:endParaRPr lang="pl-PL" sz="2400">
              <a:latin typeface="Arial Narrow" panose="020B0606020202030204" pitchFamily="34" charset="0"/>
            </a:endParaRPr>
          </a:p>
        </p:txBody>
      </p:sp>
    </p:spTree>
    <p:extLst>
      <p:ext uri="{BB962C8B-B14F-4D97-AF65-F5344CB8AC3E}">
        <p14:creationId xmlns:p14="http://schemas.microsoft.com/office/powerpoint/2010/main" val="39111000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03A090A-E1E5-5935-2BA7-B627CF8D22DD}"/>
              </a:ext>
            </a:extLst>
          </p:cNvPr>
          <p:cNvSpPr>
            <a:spLocks noGrp="1"/>
          </p:cNvSpPr>
          <p:nvPr>
            <p:ph type="sldNum" sz="quarter" idx="12"/>
          </p:nvPr>
        </p:nvSpPr>
        <p:spPr/>
        <p:txBody>
          <a:bodyPr/>
          <a:lstStyle/>
          <a:p>
            <a:fld id="{20D4B2D9-DB10-4EB9-B7A6-032A6D4E75AC}" type="slidenum">
              <a:rPr lang="pl-PL" smtClean="0"/>
              <a:pPr/>
              <a:t>40</a:t>
            </a:fld>
            <a:endParaRPr lang="pl-PL" dirty="0"/>
          </a:p>
        </p:txBody>
      </p:sp>
      <p:sp>
        <p:nvSpPr>
          <p:cNvPr id="6" name="Prostokąt 4">
            <a:extLst>
              <a:ext uri="{FF2B5EF4-FFF2-40B4-BE49-F238E27FC236}">
                <a16:creationId xmlns:a16="http://schemas.microsoft.com/office/drawing/2014/main" id="{F3347175-596A-AC7A-CAA0-554874770317}"/>
              </a:ext>
            </a:extLst>
          </p:cNvPr>
          <p:cNvSpPr/>
          <p:nvPr/>
        </p:nvSpPr>
        <p:spPr>
          <a:xfrm>
            <a:off x="56908" y="1371600"/>
            <a:ext cx="11525491" cy="1508105"/>
          </a:xfrm>
          <a:prstGeom prst="rect">
            <a:avLst/>
          </a:prstGeom>
        </p:spPr>
        <p:txBody>
          <a:bodyPr wrap="square">
            <a:spAutoFit/>
          </a:bodyPr>
          <a:lstStyle/>
          <a:p>
            <a:r>
              <a:rPr lang="en-US" sz="2800" b="1">
                <a:latin typeface="Arial Narrow" panose="020B0606020202030204" pitchFamily="34" charset="0"/>
                <a:cs typeface="Calibri" panose="020F0502020204030204" pitchFamily="34" charset="0"/>
              </a:rPr>
              <a:t>Types of tasks in </a:t>
            </a:r>
            <a:r>
              <a:rPr lang="pl-PL" sz="2800" b="1">
                <a:latin typeface="Arial Narrow" panose="020B0606020202030204" pitchFamily="34" charset="0"/>
                <a:cs typeface="Calibri" panose="020F0502020204030204" pitchFamily="34" charset="0"/>
              </a:rPr>
              <a:t>M</a:t>
            </a:r>
            <a:r>
              <a:rPr lang="en-US" sz="2800" b="1">
                <a:latin typeface="Arial Narrow" panose="020B0606020202030204" pitchFamily="34" charset="0"/>
                <a:cs typeface="Calibri" panose="020F0502020204030204" pitchFamily="34" charset="0"/>
              </a:rPr>
              <a:t>achine </a:t>
            </a:r>
            <a:r>
              <a:rPr lang="pl-PL" sz="2800" b="1">
                <a:latin typeface="Arial Narrow" panose="020B0606020202030204" pitchFamily="34" charset="0"/>
                <a:cs typeface="Calibri" panose="020F0502020204030204" pitchFamily="34" charset="0"/>
              </a:rPr>
              <a:t>L</a:t>
            </a:r>
            <a:r>
              <a:rPr lang="en-US" sz="2800" b="1">
                <a:latin typeface="Arial Narrow" panose="020B0606020202030204" pitchFamily="34" charset="0"/>
                <a:cs typeface="Calibri" panose="020F0502020204030204" pitchFamily="34" charset="0"/>
              </a:rPr>
              <a:t>earning</a:t>
            </a:r>
            <a:r>
              <a:rPr lang="pl-PL" sz="2800" b="1">
                <a:latin typeface="Arial Narrow" panose="020B0606020202030204" pitchFamily="34" charset="0"/>
                <a:cs typeface="Calibri" panose="020F0502020204030204" pitchFamily="34" charset="0"/>
              </a:rPr>
              <a:t> </a:t>
            </a:r>
            <a:br>
              <a:rPr lang="pl-PL" sz="2800" b="1">
                <a:latin typeface="Arial Narrow" panose="020B0606020202030204" pitchFamily="34" charset="0"/>
                <a:cs typeface="Calibri" panose="020F0502020204030204" pitchFamily="34" charset="0"/>
              </a:rPr>
            </a:br>
            <a:r>
              <a:rPr lang="en-US" sz="2800" b="1">
                <a:latin typeface="Arial Narrow" panose="020B0606020202030204" pitchFamily="34" charset="0"/>
                <a:cs typeface="Calibri" panose="020F0502020204030204" pitchFamily="34" charset="0"/>
              </a:rPr>
              <a:t>based on the type of </a:t>
            </a:r>
            <a:r>
              <a:rPr lang="pl-PL" sz="2800" b="1">
                <a:latin typeface="Arial Narrow" panose="020B0606020202030204" pitchFamily="34" charset="0"/>
                <a:cs typeface="Calibri" panose="020F0502020204030204" pitchFamily="34" charset="0"/>
              </a:rPr>
              <a:t>the </a:t>
            </a:r>
            <a:r>
              <a:rPr lang="en-US" sz="2800" b="1">
                <a:latin typeface="Arial Narrow" panose="020B0606020202030204" pitchFamily="34" charset="0"/>
                <a:cs typeface="Calibri" panose="020F0502020204030204" pitchFamily="34" charset="0"/>
              </a:rPr>
              <a:t>problem being solved:</a:t>
            </a:r>
          </a:p>
          <a:p>
            <a:r>
              <a:rPr lang="pl-PL" sz="3600" b="1">
                <a:solidFill>
                  <a:srgbClr val="0000FF"/>
                </a:solidFill>
                <a:latin typeface="Arial Narrow" panose="020B0606020202030204" pitchFamily="34" charset="0"/>
                <a:cs typeface="Calibri" panose="020F0502020204030204" pitchFamily="34" charset="0"/>
              </a:rPr>
              <a:t>clustering</a:t>
            </a:r>
            <a:endParaRPr lang="pl-PL" sz="2800" b="1">
              <a:solidFill>
                <a:srgbClr val="0000FF"/>
              </a:solidFill>
              <a:latin typeface="Arial Narrow" panose="020B0606020202030204" pitchFamily="34" charset="0"/>
              <a:cs typeface="Calibri" panose="020F0502020204030204" pitchFamily="34" charset="0"/>
            </a:endParaRPr>
          </a:p>
        </p:txBody>
      </p:sp>
    </p:spTree>
    <p:extLst>
      <p:ext uri="{BB962C8B-B14F-4D97-AF65-F5344CB8AC3E}">
        <p14:creationId xmlns:p14="http://schemas.microsoft.com/office/powerpoint/2010/main" val="42901004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52D79FA-F7C9-DBBE-377E-E30E11D5B77F}"/>
              </a:ext>
            </a:extLst>
          </p:cNvPr>
          <p:cNvSpPr>
            <a:spLocks noGrp="1"/>
          </p:cNvSpPr>
          <p:nvPr>
            <p:ph type="sldNum" sz="quarter" idx="12"/>
          </p:nvPr>
        </p:nvSpPr>
        <p:spPr/>
        <p:txBody>
          <a:bodyPr/>
          <a:lstStyle/>
          <a:p>
            <a:fld id="{20D4B2D9-DB10-4EB9-B7A6-032A6D4E75AC}" type="slidenum">
              <a:rPr lang="pl-PL" smtClean="0"/>
              <a:pPr/>
              <a:t>41</a:t>
            </a:fld>
            <a:endParaRPr lang="pl-PL" dirty="0"/>
          </a:p>
        </p:txBody>
      </p:sp>
      <p:sp>
        <p:nvSpPr>
          <p:cNvPr id="5" name="TextBox 1">
            <a:extLst>
              <a:ext uri="{FF2B5EF4-FFF2-40B4-BE49-F238E27FC236}">
                <a16:creationId xmlns:a16="http://schemas.microsoft.com/office/drawing/2014/main" id="{0F478A01-2E54-711F-0576-6F268D996F61}"/>
              </a:ext>
            </a:extLst>
          </p:cNvPr>
          <p:cNvSpPr txBox="1"/>
          <p:nvPr/>
        </p:nvSpPr>
        <p:spPr>
          <a:xfrm>
            <a:off x="0" y="304800"/>
            <a:ext cx="11887200" cy="1447800"/>
          </a:xfrm>
          <a:prstGeom prst="rect">
            <a:avLst/>
          </a:prstGeom>
          <a:noFill/>
        </p:spPr>
        <p:txBody>
          <a:bodyPr wrap="square" lIns="36000" tIns="36000" rIns="36000" bIns="36000" rtlCol="0">
            <a:noAutofit/>
          </a:bodyPr>
          <a:lstStyle/>
          <a:p>
            <a:pPr>
              <a:spcBef>
                <a:spcPts val="0"/>
              </a:spcBef>
            </a:pPr>
            <a:r>
              <a:rPr lang="pl-PL" sz="2400" b="1">
                <a:solidFill>
                  <a:srgbClr val="0000FF"/>
                </a:solidFill>
                <a:latin typeface="Arial Narrow" panose="020B0606020202030204" pitchFamily="34" charset="0"/>
              </a:rPr>
              <a:t>Clustering</a:t>
            </a:r>
            <a:r>
              <a:rPr lang="pl-PL" sz="2000" b="1">
                <a:latin typeface="Arial Narrow" panose="020B0606020202030204" pitchFamily="34" charset="0"/>
              </a:rPr>
              <a:t> </a:t>
            </a:r>
            <a:br>
              <a:rPr lang="pl-PL" sz="2000" b="1">
                <a:latin typeface="Arial Narrow" panose="020B0606020202030204" pitchFamily="34" charset="0"/>
              </a:rPr>
            </a:br>
            <a:r>
              <a:rPr lang="en-US" sz="2400">
                <a:latin typeface="Arial Narrow" panose="020B0606020202030204" pitchFamily="34" charset="0"/>
              </a:rPr>
              <a:t>involves grouping data into clusters (groups) based on their similarity, without any prior human-defined categories.  </a:t>
            </a:r>
            <a:endParaRPr lang="pl-PL" sz="2400">
              <a:latin typeface="Arial Narrow" panose="020B0606020202030204" pitchFamily="34" charset="0"/>
            </a:endParaRPr>
          </a:p>
          <a:p>
            <a:pPr>
              <a:spcBef>
                <a:spcPts val="0"/>
              </a:spcBef>
            </a:pPr>
            <a:r>
              <a:rPr lang="en-US" sz="2400">
                <a:latin typeface="Arial Narrow" panose="020B0606020202030204" pitchFamily="34" charset="0"/>
              </a:rPr>
              <a:t>The goal of clustering is to discover hidden structures in the data.</a:t>
            </a:r>
            <a:endParaRPr lang="pl-PL" sz="2400">
              <a:latin typeface="Arial Narrow" panose="020B0606020202030204" pitchFamily="34" charset="0"/>
            </a:endParaRPr>
          </a:p>
        </p:txBody>
      </p:sp>
      <p:sp>
        <p:nvSpPr>
          <p:cNvPr id="3" name="Rectangle 2">
            <a:extLst>
              <a:ext uri="{FF2B5EF4-FFF2-40B4-BE49-F238E27FC236}">
                <a16:creationId xmlns:a16="http://schemas.microsoft.com/office/drawing/2014/main" id="{063C9FB4-F369-D917-89AB-44D604A1E174}"/>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en-US" sz="1600">
                <a:latin typeface="Arial" pitchFamily="34" charset="0"/>
                <a:ea typeface="+mj-lt"/>
                <a:cs typeface="Arial" pitchFamily="34" charset="0"/>
              </a:rPr>
              <a:t>Types of </a:t>
            </a:r>
            <a:r>
              <a:rPr lang="pl-PL" sz="1600">
                <a:latin typeface="Arial" pitchFamily="34" charset="0"/>
                <a:ea typeface="+mj-lt"/>
                <a:cs typeface="Arial" pitchFamily="34" charset="0"/>
              </a:rPr>
              <a:t>ML</a:t>
            </a:r>
            <a:r>
              <a:rPr lang="en-US" sz="1600">
                <a:latin typeface="Arial" pitchFamily="34" charset="0"/>
                <a:ea typeface="+mj-lt"/>
                <a:cs typeface="Arial" pitchFamily="34" charset="0"/>
              </a:rPr>
              <a:t> tasks</a:t>
            </a:r>
            <a:endParaRPr lang="en-GB" sz="4400" dirty="0">
              <a:latin typeface="Arial" pitchFamily="34" charset="0"/>
              <a:ea typeface="+mj-lt"/>
              <a:cs typeface="Arial" pitchFamily="34" charset="0"/>
            </a:endParaRPr>
          </a:p>
        </p:txBody>
      </p:sp>
      <p:pic>
        <p:nvPicPr>
          <p:cNvPr id="11" name="Picture 10">
            <a:extLst>
              <a:ext uri="{FF2B5EF4-FFF2-40B4-BE49-F238E27FC236}">
                <a16:creationId xmlns:a16="http://schemas.microsoft.com/office/drawing/2014/main" id="{5622D176-12FD-9D71-F78A-8A68E27610DE}"/>
              </a:ext>
            </a:extLst>
          </p:cNvPr>
          <p:cNvPicPr>
            <a:picLocks noChangeAspect="1"/>
          </p:cNvPicPr>
          <p:nvPr/>
        </p:nvPicPr>
        <p:blipFill>
          <a:blip r:embed="rId2"/>
          <a:stretch>
            <a:fillRect/>
          </a:stretch>
        </p:blipFill>
        <p:spPr>
          <a:xfrm>
            <a:off x="685800" y="1981200"/>
            <a:ext cx="10785833" cy="3865552"/>
          </a:xfrm>
          <a:prstGeom prst="rect">
            <a:avLst/>
          </a:prstGeom>
        </p:spPr>
      </p:pic>
    </p:spTree>
    <p:extLst>
      <p:ext uri="{BB962C8B-B14F-4D97-AF65-F5344CB8AC3E}">
        <p14:creationId xmlns:p14="http://schemas.microsoft.com/office/powerpoint/2010/main" val="3548228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6805527-8D9C-5C03-E2F9-3FC0734AB4CC}"/>
              </a:ext>
            </a:extLst>
          </p:cNvPr>
          <p:cNvSpPr>
            <a:spLocks noGrp="1"/>
          </p:cNvSpPr>
          <p:nvPr>
            <p:ph type="sldNum" sz="quarter" idx="12"/>
          </p:nvPr>
        </p:nvSpPr>
        <p:spPr/>
        <p:txBody>
          <a:bodyPr/>
          <a:lstStyle/>
          <a:p>
            <a:fld id="{20D4B2D9-DB10-4EB9-B7A6-032A6D4E75AC}" type="slidenum">
              <a:rPr lang="pl-PL" smtClean="0"/>
              <a:pPr/>
              <a:t>42</a:t>
            </a:fld>
            <a:endParaRPr lang="pl-PL" dirty="0"/>
          </a:p>
        </p:txBody>
      </p:sp>
      <p:pic>
        <p:nvPicPr>
          <p:cNvPr id="9" name="Picture 8">
            <a:extLst>
              <a:ext uri="{FF2B5EF4-FFF2-40B4-BE49-F238E27FC236}">
                <a16:creationId xmlns:a16="http://schemas.microsoft.com/office/drawing/2014/main" id="{0BAD2C15-D8FC-8156-688C-8605F4025E2C}"/>
              </a:ext>
            </a:extLst>
          </p:cNvPr>
          <p:cNvPicPr>
            <a:picLocks noChangeAspect="1"/>
          </p:cNvPicPr>
          <p:nvPr/>
        </p:nvPicPr>
        <p:blipFill>
          <a:blip r:embed="rId2"/>
          <a:stretch>
            <a:fillRect/>
          </a:stretch>
        </p:blipFill>
        <p:spPr>
          <a:xfrm>
            <a:off x="1139406" y="381000"/>
            <a:ext cx="9757193" cy="6421932"/>
          </a:xfrm>
          <a:prstGeom prst="rect">
            <a:avLst/>
          </a:prstGeom>
        </p:spPr>
      </p:pic>
      <p:sp>
        <p:nvSpPr>
          <p:cNvPr id="3" name="Rectangle 2">
            <a:extLst>
              <a:ext uri="{FF2B5EF4-FFF2-40B4-BE49-F238E27FC236}">
                <a16:creationId xmlns:a16="http://schemas.microsoft.com/office/drawing/2014/main" id="{58B5655C-AF72-C6D3-28FD-338D4A15002D}"/>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en-US" sz="1600">
                <a:latin typeface="Arial" pitchFamily="34" charset="0"/>
                <a:ea typeface="+mj-lt"/>
                <a:cs typeface="Arial" pitchFamily="34" charset="0"/>
              </a:rPr>
              <a:t>Types of </a:t>
            </a:r>
            <a:r>
              <a:rPr lang="pl-PL" sz="1600">
                <a:latin typeface="Arial" pitchFamily="34" charset="0"/>
                <a:ea typeface="+mj-lt"/>
                <a:cs typeface="Arial" pitchFamily="34" charset="0"/>
              </a:rPr>
              <a:t>ML</a:t>
            </a:r>
            <a:r>
              <a:rPr lang="en-US" sz="1600">
                <a:latin typeface="Arial" pitchFamily="34" charset="0"/>
                <a:ea typeface="+mj-lt"/>
                <a:cs typeface="Arial" pitchFamily="34" charset="0"/>
              </a:rPr>
              <a:t> tasks</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7131847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3A1E8ED-BEA8-068E-A783-6A710CA9844D}"/>
              </a:ext>
            </a:extLst>
          </p:cNvPr>
          <p:cNvSpPr>
            <a:spLocks noGrp="1"/>
          </p:cNvSpPr>
          <p:nvPr>
            <p:ph type="sldNum" sz="quarter" idx="12"/>
          </p:nvPr>
        </p:nvSpPr>
        <p:spPr/>
        <p:txBody>
          <a:bodyPr/>
          <a:lstStyle/>
          <a:p>
            <a:fld id="{20D4B2D9-DB10-4EB9-B7A6-032A6D4E75AC}" type="slidenum">
              <a:rPr lang="pl-PL" smtClean="0"/>
              <a:pPr/>
              <a:t>43</a:t>
            </a:fld>
            <a:endParaRPr lang="pl-PL" dirty="0"/>
          </a:p>
        </p:txBody>
      </p:sp>
      <p:sp>
        <p:nvSpPr>
          <p:cNvPr id="3" name="Prostokąt 4">
            <a:extLst>
              <a:ext uri="{FF2B5EF4-FFF2-40B4-BE49-F238E27FC236}">
                <a16:creationId xmlns:a16="http://schemas.microsoft.com/office/drawing/2014/main" id="{A35B0AD5-3833-8672-1931-C33199670CDD}"/>
              </a:ext>
            </a:extLst>
          </p:cNvPr>
          <p:cNvSpPr/>
          <p:nvPr/>
        </p:nvSpPr>
        <p:spPr>
          <a:xfrm>
            <a:off x="1534886" y="472857"/>
            <a:ext cx="8915400" cy="4893647"/>
          </a:xfrm>
          <a:prstGeom prst="rect">
            <a:avLst/>
          </a:prstGeom>
        </p:spPr>
        <p:txBody>
          <a:bodyPr wrap="square">
            <a:spAutoFit/>
          </a:bodyPr>
          <a:lstStyle/>
          <a:p>
            <a:r>
              <a:rPr lang="pl-PL" sz="3200" b="1">
                <a:solidFill>
                  <a:srgbClr val="0000FF"/>
                </a:solidFill>
                <a:latin typeface="Arial Narrow" panose="020B0606020202030204" pitchFamily="34" charset="0"/>
                <a:cs typeface="Calibri" panose="020F0502020204030204" pitchFamily="34" charset="0"/>
              </a:rPr>
              <a:t>The t</a:t>
            </a:r>
            <a:r>
              <a:rPr lang="en-US" sz="3200" b="1">
                <a:solidFill>
                  <a:srgbClr val="0000FF"/>
                </a:solidFill>
                <a:latin typeface="Arial Narrow" panose="020B0606020202030204" pitchFamily="34" charset="0"/>
                <a:cs typeface="Calibri" panose="020F0502020204030204" pitchFamily="34" charset="0"/>
              </a:rPr>
              <a:t>ypes of </a:t>
            </a:r>
            <a:r>
              <a:rPr lang="pl-PL" sz="3200" b="1">
                <a:solidFill>
                  <a:srgbClr val="0000FF"/>
                </a:solidFill>
                <a:latin typeface="Arial Narrow" panose="020B0606020202030204" pitchFamily="34" charset="0"/>
                <a:cs typeface="Calibri" panose="020F0502020204030204" pitchFamily="34" charset="0"/>
              </a:rPr>
              <a:t>M</a:t>
            </a:r>
            <a:r>
              <a:rPr lang="en-US" sz="3200" b="1">
                <a:solidFill>
                  <a:srgbClr val="0000FF"/>
                </a:solidFill>
                <a:latin typeface="Arial Narrow" panose="020B0606020202030204" pitchFamily="34" charset="0"/>
                <a:cs typeface="Calibri" panose="020F0502020204030204" pitchFamily="34" charset="0"/>
              </a:rPr>
              <a:t>achine </a:t>
            </a:r>
            <a:r>
              <a:rPr lang="pl-PL" sz="3200" b="1">
                <a:solidFill>
                  <a:srgbClr val="0000FF"/>
                </a:solidFill>
                <a:latin typeface="Arial Narrow" panose="020B0606020202030204" pitchFamily="34" charset="0"/>
                <a:cs typeface="Calibri" panose="020F0502020204030204" pitchFamily="34" charset="0"/>
              </a:rPr>
              <a:t>L</a:t>
            </a:r>
            <a:r>
              <a:rPr lang="en-US" sz="3200" b="1">
                <a:solidFill>
                  <a:srgbClr val="0000FF"/>
                </a:solidFill>
                <a:latin typeface="Arial Narrow" panose="020B0606020202030204" pitchFamily="34" charset="0"/>
                <a:cs typeface="Calibri" panose="020F0502020204030204" pitchFamily="34" charset="0"/>
              </a:rPr>
              <a:t>earning tasks</a:t>
            </a:r>
            <a:r>
              <a:rPr lang="pl-PL" sz="3200" b="1">
                <a:solidFill>
                  <a:srgbClr val="0000FF"/>
                </a:solidFill>
                <a:latin typeface="Arial Narrow" panose="020B0606020202030204" pitchFamily="34" charset="0"/>
                <a:cs typeface="Calibri" panose="020F0502020204030204" pitchFamily="34" charset="0"/>
              </a:rPr>
              <a:t>:</a:t>
            </a:r>
          </a:p>
          <a:p>
            <a:pPr marL="355600" indent="-355600">
              <a:buFont typeface="+mj-lt"/>
              <a:buAutoNum type="arabicPeriod"/>
            </a:pPr>
            <a:r>
              <a:rPr lang="en-US" sz="3200">
                <a:latin typeface="Arial Narrow" panose="020B0606020202030204" pitchFamily="34" charset="0"/>
                <a:cs typeface="Calibri" panose="020F0502020204030204" pitchFamily="34" charset="0"/>
              </a:rPr>
              <a:t>Based on the type of </a:t>
            </a:r>
            <a:r>
              <a:rPr lang="pl-PL" sz="3200">
                <a:latin typeface="Arial Narrow" panose="020B0606020202030204" pitchFamily="34" charset="0"/>
                <a:cs typeface="Calibri" panose="020F0502020204030204" pitchFamily="34" charset="0"/>
              </a:rPr>
              <a:t>the </a:t>
            </a:r>
            <a:r>
              <a:rPr lang="en-US" sz="3200">
                <a:latin typeface="Arial Narrow" panose="020B0606020202030204" pitchFamily="34" charset="0"/>
                <a:cs typeface="Calibri" panose="020F0502020204030204" pitchFamily="34" charset="0"/>
              </a:rPr>
              <a:t>problem being solved</a:t>
            </a:r>
            <a:endParaRPr lang="pl-PL" sz="3200">
              <a:latin typeface="Arial Narrow" panose="020B0606020202030204" pitchFamily="34" charset="0"/>
              <a:cs typeface="Calibri" panose="020F0502020204030204" pitchFamily="34" charset="0"/>
            </a:endParaRPr>
          </a:p>
          <a:p>
            <a:pPr marL="355600" indent="-355600">
              <a:buFont typeface="+mj-lt"/>
              <a:buAutoNum type="arabicPeriod"/>
            </a:pPr>
            <a:r>
              <a:rPr lang="en-US" sz="3200">
                <a:solidFill>
                  <a:srgbClr val="0000FF"/>
                </a:solidFill>
                <a:latin typeface="Arial Narrow" panose="020B0606020202030204" pitchFamily="34" charset="0"/>
                <a:cs typeface="Calibri" panose="020F0502020204030204" pitchFamily="34" charset="0"/>
              </a:rPr>
              <a:t>Based on the learning method</a:t>
            </a:r>
            <a:endParaRPr lang="pl-PL" sz="3200">
              <a:solidFill>
                <a:srgbClr val="0000FF"/>
              </a:solidFill>
              <a:latin typeface="Arial Narrow" panose="020B0606020202030204" pitchFamily="34" charset="0"/>
              <a:cs typeface="Calibri" panose="020F0502020204030204" pitchFamily="34" charset="0"/>
            </a:endParaRPr>
          </a:p>
          <a:p>
            <a:pPr marL="720725" lvl="1" indent="-263525">
              <a:buFont typeface="Arial" panose="020B0604020202020204" pitchFamily="34" charset="0"/>
              <a:buChar char="•"/>
            </a:pPr>
            <a:r>
              <a:rPr lang="pl-PL" sz="3200">
                <a:solidFill>
                  <a:srgbClr val="0000FF"/>
                </a:solidFill>
                <a:latin typeface="Arial Narrow" panose="020B0606020202030204" pitchFamily="34" charset="0"/>
                <a:cs typeface="Calibri" panose="020F0502020204030204" pitchFamily="34" charset="0"/>
              </a:rPr>
              <a:t>supervised</a:t>
            </a:r>
          </a:p>
          <a:p>
            <a:pPr marL="720725" lvl="1" indent="-263525">
              <a:buFont typeface="Arial" panose="020B0604020202020204" pitchFamily="34" charset="0"/>
              <a:buChar char="•"/>
            </a:pPr>
            <a:r>
              <a:rPr lang="pl-PL" sz="3200">
                <a:solidFill>
                  <a:srgbClr val="0000FF"/>
                </a:solidFill>
                <a:latin typeface="Arial Narrow" panose="020B0606020202030204" pitchFamily="34" charset="0"/>
                <a:cs typeface="Calibri" panose="020F0502020204030204" pitchFamily="34" charset="0"/>
              </a:rPr>
              <a:t>unsupervised</a:t>
            </a:r>
          </a:p>
          <a:p>
            <a:pPr marL="720725" lvl="1" indent="-263525">
              <a:buFont typeface="Arial" panose="020B0604020202020204" pitchFamily="34" charset="0"/>
              <a:buChar char="•"/>
            </a:pPr>
            <a:r>
              <a:rPr lang="pl-PL" sz="3200">
                <a:solidFill>
                  <a:srgbClr val="0000FF"/>
                </a:solidFill>
                <a:latin typeface="Arial Narrow" panose="020B0606020202030204" pitchFamily="34" charset="0"/>
                <a:cs typeface="Calibri" panose="020F0502020204030204" pitchFamily="34" charset="0"/>
              </a:rPr>
              <a:t>semi-supervised</a:t>
            </a:r>
          </a:p>
          <a:p>
            <a:pPr marL="720725" lvl="1" indent="-263525">
              <a:buFont typeface="Arial" panose="020B0604020202020204" pitchFamily="34" charset="0"/>
              <a:buChar char="•"/>
            </a:pPr>
            <a:r>
              <a:rPr lang="pl-PL" sz="3200">
                <a:solidFill>
                  <a:srgbClr val="0000FF"/>
                </a:solidFill>
                <a:latin typeface="Arial Narrow" panose="020B0606020202030204" pitchFamily="34" charset="0"/>
                <a:cs typeface="Calibri" panose="020F0502020204030204" pitchFamily="34" charset="0"/>
              </a:rPr>
              <a:t>reinforcement</a:t>
            </a:r>
          </a:p>
          <a:p>
            <a:pPr marL="355600" indent="-355600">
              <a:buFont typeface="+mj-lt"/>
              <a:buAutoNum type="arabicPeriod"/>
            </a:pPr>
            <a:r>
              <a:rPr lang="en-US" sz="3200">
                <a:latin typeface="Arial Narrow" panose="020B0606020202030204" pitchFamily="34" charset="0"/>
                <a:cs typeface="Calibri" panose="020F0502020204030204" pitchFamily="34" charset="0"/>
              </a:rPr>
              <a:t>Based on the method of data streaming</a:t>
            </a:r>
            <a:endParaRPr lang="pl-PL" sz="2800">
              <a:latin typeface="Arial Narrow" panose="020B0606020202030204" pitchFamily="34" charset="0"/>
              <a:cs typeface="Calibri" panose="020F0502020204030204" pitchFamily="34" charset="0"/>
            </a:endParaRPr>
          </a:p>
          <a:p>
            <a:endParaRPr lang="pl-PL" sz="2800" b="1">
              <a:solidFill>
                <a:srgbClr val="0000FF"/>
              </a:solidFill>
              <a:latin typeface="Arial Narrow" panose="020B0606020202030204" pitchFamily="34" charset="0"/>
              <a:cs typeface="Calibri" panose="020F0502020204030204" pitchFamily="34" charset="0"/>
            </a:endParaRPr>
          </a:p>
          <a:p>
            <a:endParaRPr lang="pl-PL" sz="2800" dirty="0">
              <a:solidFill>
                <a:srgbClr val="0000FF"/>
              </a:solidFill>
              <a:latin typeface="Arial Narrow" panose="020B0606020202030204" pitchFamily="34" charset="0"/>
              <a:cs typeface="Calibri" panose="020F0502020204030204" pitchFamily="34" charset="0"/>
            </a:endParaRPr>
          </a:p>
        </p:txBody>
      </p:sp>
    </p:spTree>
    <p:extLst>
      <p:ext uri="{BB962C8B-B14F-4D97-AF65-F5344CB8AC3E}">
        <p14:creationId xmlns:p14="http://schemas.microsoft.com/office/powerpoint/2010/main" val="3583714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a:extLst>
              <a:ext uri="{FF2B5EF4-FFF2-40B4-BE49-F238E27FC236}">
                <a16:creationId xmlns:a16="http://schemas.microsoft.com/office/drawing/2014/main" id="{5F421709-EB8B-4449-80BF-69F9E4CA3133}"/>
              </a:ext>
            </a:extLst>
          </p:cNvPr>
          <p:cNvSpPr>
            <a:spLocks noGrp="1"/>
          </p:cNvSpPr>
          <p:nvPr>
            <p:ph type="sldNum" sz="quarter" idx="12"/>
          </p:nvPr>
        </p:nvSpPr>
        <p:spPr/>
        <p:txBody>
          <a:bodyPr/>
          <a:lstStyle/>
          <a:p>
            <a:fld id="{83D82602-3ACC-4341-B614-755528165B64}" type="slidenum">
              <a:rPr lang="pl-PL" smtClean="0"/>
              <a:pPr/>
              <a:t>44</a:t>
            </a:fld>
            <a:endParaRPr lang="pl-PL" dirty="0"/>
          </a:p>
        </p:txBody>
      </p:sp>
      <p:sp>
        <p:nvSpPr>
          <p:cNvPr id="7" name="Rectangle 5">
            <a:extLst>
              <a:ext uri="{FF2B5EF4-FFF2-40B4-BE49-F238E27FC236}">
                <a16:creationId xmlns:a16="http://schemas.microsoft.com/office/drawing/2014/main" id="{288C6A27-2280-49D6-928B-FD164CEED3E4}"/>
              </a:ext>
            </a:extLst>
          </p:cNvPr>
          <p:cNvSpPr/>
          <p:nvPr/>
        </p:nvSpPr>
        <p:spPr>
          <a:xfrm>
            <a:off x="0" y="304800"/>
            <a:ext cx="11972416" cy="5232202"/>
          </a:xfrm>
          <a:prstGeom prst="rect">
            <a:avLst/>
          </a:prstGeom>
        </p:spPr>
        <p:txBody>
          <a:bodyPr wrap="square">
            <a:spAutoFit/>
          </a:bodyPr>
          <a:lstStyle/>
          <a:p>
            <a:pPr>
              <a:spcBef>
                <a:spcPts val="600"/>
              </a:spcBef>
            </a:pPr>
            <a:r>
              <a:rPr lang="pl-PL" sz="2400" b="1">
                <a:solidFill>
                  <a:srgbClr val="0000FF"/>
                </a:solidFill>
                <a:latin typeface="Arial Narrow" panose="020B0606020202030204" pitchFamily="34" charset="0"/>
                <a:cs typeface="Calibri" panose="020F0502020204030204" pitchFamily="34" charset="0"/>
              </a:rPr>
              <a:t>Supervised learning</a:t>
            </a:r>
            <a:r>
              <a:rPr lang="pl-PL" sz="2400">
                <a:solidFill>
                  <a:srgbClr val="000000"/>
                </a:solidFill>
                <a:latin typeface="Arial Narrow" panose="020B0606020202030204" pitchFamily="34" charset="0"/>
                <a:cs typeface="Calibri" panose="020F0502020204030204" pitchFamily="34" charset="0"/>
              </a:rPr>
              <a:t> </a:t>
            </a:r>
            <a:r>
              <a:rPr lang="en-US" sz="2400">
                <a:solidFill>
                  <a:srgbClr val="000000"/>
                </a:solidFill>
                <a:latin typeface="Arial Narrow" panose="020B0606020202030204" pitchFamily="34" charset="0"/>
                <a:cs typeface="Calibri" panose="020F0502020204030204" pitchFamily="34" charset="0"/>
              </a:rPr>
              <a:t>is a type of machine learning where a model learns from </a:t>
            </a:r>
            <a:r>
              <a:rPr lang="en-US" sz="2400" b="1">
                <a:solidFill>
                  <a:srgbClr val="000000"/>
                </a:solidFill>
                <a:latin typeface="Arial Narrow" panose="020B0606020202030204" pitchFamily="34" charset="0"/>
                <a:cs typeface="Calibri" panose="020F0502020204030204" pitchFamily="34" charset="0"/>
              </a:rPr>
              <a:t>labeled examples</a:t>
            </a:r>
            <a:r>
              <a:rPr lang="pl-PL" sz="2400">
                <a:solidFill>
                  <a:srgbClr val="000000"/>
                </a:solidFill>
                <a:latin typeface="Arial Narrow" panose="020B0606020202030204" pitchFamily="34" charset="0"/>
                <a:cs typeface="Calibri" panose="020F0502020204030204" pitchFamily="34" charset="0"/>
              </a:rPr>
              <a:t>.</a:t>
            </a:r>
          </a:p>
          <a:p>
            <a:pPr>
              <a:spcBef>
                <a:spcPts val="600"/>
              </a:spcBef>
            </a:pPr>
            <a:endParaRPr lang="pl-PL" sz="2000" dirty="0"/>
          </a:p>
          <a:p>
            <a:pPr marL="174625">
              <a:spcBef>
                <a:spcPts val="600"/>
              </a:spcBef>
            </a:pPr>
            <a:r>
              <a:rPr lang="pl-PL" sz="2400" b="1">
                <a:latin typeface="Arial Narrow" panose="020B0606020202030204" pitchFamily="34" charset="0"/>
              </a:rPr>
              <a:t>Training dataset (y is known):</a:t>
            </a:r>
            <a:endParaRPr lang="pl-PL" sz="2400" b="1" dirty="0">
              <a:latin typeface="Arial Narrow" panose="020B0606020202030204" pitchFamily="34" charset="0"/>
            </a:endParaRPr>
          </a:p>
          <a:p>
            <a:pPr marL="174625">
              <a:spcBef>
                <a:spcPts val="600"/>
              </a:spcBef>
            </a:pPr>
            <a:r>
              <a:rPr lang="pl-PL" sz="2800" dirty="0">
                <a:latin typeface="Arial Narrow" panose="020B0606020202030204" pitchFamily="34" charset="0"/>
              </a:rPr>
              <a:t>x</a:t>
            </a:r>
            <a:r>
              <a:rPr lang="pl-PL" sz="2800" baseline="-25000" dirty="0">
                <a:latin typeface="Arial Narrow" panose="020B0606020202030204" pitchFamily="34" charset="0"/>
              </a:rPr>
              <a:t>11</a:t>
            </a:r>
            <a:r>
              <a:rPr lang="pl-PL" sz="2800" dirty="0">
                <a:latin typeface="Arial Narrow" panose="020B0606020202030204" pitchFamily="34" charset="0"/>
              </a:rPr>
              <a:t>, x</a:t>
            </a:r>
            <a:r>
              <a:rPr lang="pl-PL" sz="2800" baseline="-25000" dirty="0">
                <a:latin typeface="Arial Narrow" panose="020B0606020202030204" pitchFamily="34" charset="0"/>
              </a:rPr>
              <a:t>12</a:t>
            </a:r>
            <a:r>
              <a:rPr lang="pl-PL" sz="2800" dirty="0">
                <a:latin typeface="Arial Narrow" panose="020B0606020202030204" pitchFamily="34" charset="0"/>
              </a:rPr>
              <a:t>, x</a:t>
            </a:r>
            <a:r>
              <a:rPr lang="pl-PL" sz="2800" baseline="-25000" dirty="0">
                <a:latin typeface="Arial Narrow" panose="020B0606020202030204" pitchFamily="34" charset="0"/>
              </a:rPr>
              <a:t>13</a:t>
            </a:r>
            <a:r>
              <a:rPr lang="pl-PL" sz="2800" dirty="0">
                <a:latin typeface="Arial Narrow" panose="020B0606020202030204" pitchFamily="34" charset="0"/>
              </a:rPr>
              <a:t>, …, x</a:t>
            </a:r>
            <a:r>
              <a:rPr lang="pl-PL" sz="2800" baseline="-25000" dirty="0">
                <a:latin typeface="Arial Narrow" panose="020B0606020202030204" pitchFamily="34" charset="0"/>
              </a:rPr>
              <a:t>1n</a:t>
            </a:r>
            <a:r>
              <a:rPr lang="pl-PL" sz="2800" dirty="0">
                <a:latin typeface="Arial Narrow" panose="020B0606020202030204" pitchFamily="34" charset="0"/>
              </a:rPr>
              <a:t>		y</a:t>
            </a:r>
            <a:r>
              <a:rPr lang="pl-PL" sz="2800" baseline="-25000" dirty="0">
                <a:latin typeface="Arial Narrow" panose="020B0606020202030204" pitchFamily="34" charset="0"/>
              </a:rPr>
              <a:t>1</a:t>
            </a:r>
          </a:p>
          <a:p>
            <a:pPr marL="174625">
              <a:spcBef>
                <a:spcPts val="600"/>
              </a:spcBef>
            </a:pPr>
            <a:r>
              <a:rPr lang="pl-PL" sz="2800" dirty="0">
                <a:latin typeface="Arial Narrow" panose="020B0606020202030204" pitchFamily="34" charset="0"/>
              </a:rPr>
              <a:t>x</a:t>
            </a:r>
            <a:r>
              <a:rPr lang="pl-PL" sz="2800" baseline="-25000" dirty="0">
                <a:latin typeface="Arial Narrow" panose="020B0606020202030204" pitchFamily="34" charset="0"/>
              </a:rPr>
              <a:t>21</a:t>
            </a:r>
            <a:r>
              <a:rPr lang="pl-PL" sz="2800" dirty="0">
                <a:latin typeface="Arial Narrow" panose="020B0606020202030204" pitchFamily="34" charset="0"/>
              </a:rPr>
              <a:t>, x</a:t>
            </a:r>
            <a:r>
              <a:rPr lang="pl-PL" sz="2800" baseline="-25000" dirty="0">
                <a:latin typeface="Arial Narrow" panose="020B0606020202030204" pitchFamily="34" charset="0"/>
              </a:rPr>
              <a:t>22</a:t>
            </a:r>
            <a:r>
              <a:rPr lang="pl-PL" sz="2800" dirty="0">
                <a:latin typeface="Arial Narrow" panose="020B0606020202030204" pitchFamily="34" charset="0"/>
              </a:rPr>
              <a:t>, x</a:t>
            </a:r>
            <a:r>
              <a:rPr lang="pl-PL" sz="2800" baseline="-25000" dirty="0">
                <a:latin typeface="Arial Narrow" panose="020B0606020202030204" pitchFamily="34" charset="0"/>
              </a:rPr>
              <a:t>23</a:t>
            </a:r>
            <a:r>
              <a:rPr lang="pl-PL" sz="2800" dirty="0">
                <a:latin typeface="Arial Narrow" panose="020B0606020202030204" pitchFamily="34" charset="0"/>
              </a:rPr>
              <a:t>, …, x</a:t>
            </a:r>
            <a:r>
              <a:rPr lang="pl-PL" sz="2800" baseline="-25000" dirty="0">
                <a:latin typeface="Arial Narrow" panose="020B0606020202030204" pitchFamily="34" charset="0"/>
              </a:rPr>
              <a:t>2n</a:t>
            </a:r>
            <a:r>
              <a:rPr lang="pl-PL" sz="2800" dirty="0">
                <a:latin typeface="Arial Narrow" panose="020B0606020202030204" pitchFamily="34" charset="0"/>
              </a:rPr>
              <a:t>		y</a:t>
            </a:r>
            <a:r>
              <a:rPr lang="pl-PL" sz="2800" baseline="-25000" dirty="0">
                <a:latin typeface="Arial Narrow" panose="020B0606020202030204" pitchFamily="34" charset="0"/>
              </a:rPr>
              <a:t>2</a:t>
            </a:r>
            <a:endParaRPr lang="pl-PL" sz="2800" dirty="0">
              <a:latin typeface="Arial Narrow" panose="020B0606020202030204" pitchFamily="34" charset="0"/>
            </a:endParaRPr>
          </a:p>
          <a:p>
            <a:pPr marL="174625">
              <a:spcBef>
                <a:spcPts val="600"/>
              </a:spcBef>
            </a:pPr>
            <a:r>
              <a:rPr lang="pl-PL" sz="2800" dirty="0">
                <a:latin typeface="Arial Narrow" panose="020B0606020202030204" pitchFamily="34" charset="0"/>
              </a:rPr>
              <a:t>…</a:t>
            </a:r>
          </a:p>
          <a:p>
            <a:pPr marL="174625">
              <a:spcBef>
                <a:spcPts val="600"/>
              </a:spcBef>
            </a:pPr>
            <a:r>
              <a:rPr lang="pl-PL" sz="2800" dirty="0">
                <a:latin typeface="Arial Narrow" panose="020B0606020202030204" pitchFamily="34" charset="0"/>
              </a:rPr>
              <a:t>x</a:t>
            </a:r>
            <a:r>
              <a:rPr lang="pl-PL" sz="2800" baseline="-25000" dirty="0">
                <a:latin typeface="Arial Narrow" panose="020B0606020202030204" pitchFamily="34" charset="0"/>
              </a:rPr>
              <a:t>m1</a:t>
            </a:r>
            <a:r>
              <a:rPr lang="pl-PL" sz="2800" dirty="0">
                <a:latin typeface="Arial Narrow" panose="020B0606020202030204" pitchFamily="34" charset="0"/>
              </a:rPr>
              <a:t>, x</a:t>
            </a:r>
            <a:r>
              <a:rPr lang="pl-PL" sz="2800" baseline="-25000" dirty="0">
                <a:latin typeface="Arial Narrow" panose="020B0606020202030204" pitchFamily="34" charset="0"/>
              </a:rPr>
              <a:t>m2</a:t>
            </a:r>
            <a:r>
              <a:rPr lang="pl-PL" sz="2800" dirty="0">
                <a:latin typeface="Arial Narrow" panose="020B0606020202030204" pitchFamily="34" charset="0"/>
              </a:rPr>
              <a:t>, x</a:t>
            </a:r>
            <a:r>
              <a:rPr lang="pl-PL" sz="2800" baseline="-25000" dirty="0">
                <a:latin typeface="Arial Narrow" panose="020B0606020202030204" pitchFamily="34" charset="0"/>
              </a:rPr>
              <a:t>m3</a:t>
            </a:r>
            <a:r>
              <a:rPr lang="pl-PL" sz="2800" dirty="0">
                <a:latin typeface="Arial Narrow" panose="020B0606020202030204" pitchFamily="34" charset="0"/>
              </a:rPr>
              <a:t>, …, x</a:t>
            </a:r>
            <a:r>
              <a:rPr lang="pl-PL" sz="2800" baseline="-25000" dirty="0">
                <a:latin typeface="Arial Narrow" panose="020B0606020202030204" pitchFamily="34" charset="0"/>
              </a:rPr>
              <a:t>mn</a:t>
            </a:r>
            <a:r>
              <a:rPr lang="pl-PL" sz="2800" dirty="0">
                <a:latin typeface="Arial Narrow" panose="020B0606020202030204" pitchFamily="34" charset="0"/>
              </a:rPr>
              <a:t>	y</a:t>
            </a:r>
            <a:r>
              <a:rPr lang="pl-PL" sz="2800" baseline="-25000" dirty="0">
                <a:latin typeface="Arial Narrow" panose="020B0606020202030204" pitchFamily="34" charset="0"/>
              </a:rPr>
              <a:t>m</a:t>
            </a:r>
            <a:endParaRPr lang="pl-PL" sz="2400" dirty="0">
              <a:latin typeface="Arial Narrow" panose="020B0606020202030204" pitchFamily="34" charset="0"/>
            </a:endParaRPr>
          </a:p>
          <a:p>
            <a:pPr marL="174625">
              <a:spcBef>
                <a:spcPts val="600"/>
              </a:spcBef>
            </a:pPr>
            <a:endParaRPr lang="pl-PL" sz="2400" dirty="0">
              <a:latin typeface="Arial Narrow" panose="020B0606020202030204" pitchFamily="34" charset="0"/>
            </a:endParaRPr>
          </a:p>
          <a:p>
            <a:pPr marL="174625">
              <a:spcBef>
                <a:spcPts val="600"/>
              </a:spcBef>
            </a:pPr>
            <a:r>
              <a:rPr lang="pl-PL" sz="2400" b="1">
                <a:latin typeface="Arial Narrow" panose="020B0606020202030204" pitchFamily="34" charset="0"/>
              </a:rPr>
              <a:t>Testing dataset </a:t>
            </a:r>
            <a:r>
              <a:rPr lang="pl-PL" sz="2400" b="1" dirty="0">
                <a:latin typeface="Arial Narrow" panose="020B0606020202030204" pitchFamily="34" charset="0"/>
              </a:rPr>
              <a:t>(</a:t>
            </a:r>
            <a:r>
              <a:rPr lang="pl-PL" sz="2400" b="1">
                <a:latin typeface="Arial Narrow" panose="020B0606020202030204" pitchFamily="34" charset="0"/>
              </a:rPr>
              <a:t>y is estimated by the model):</a:t>
            </a:r>
            <a:endParaRPr lang="pl-PL" sz="2400" b="1" dirty="0">
              <a:latin typeface="Arial Narrow" panose="020B0606020202030204" pitchFamily="34" charset="0"/>
            </a:endParaRPr>
          </a:p>
          <a:p>
            <a:pPr marL="174625">
              <a:spcBef>
                <a:spcPts val="600"/>
              </a:spcBef>
            </a:pPr>
            <a:r>
              <a:rPr lang="pl-PL" sz="2800" dirty="0">
                <a:latin typeface="Arial Narrow" panose="020B0606020202030204" pitchFamily="34" charset="0"/>
              </a:rPr>
              <a:t>x</a:t>
            </a:r>
            <a:r>
              <a:rPr lang="pl-PL" sz="2800" baseline="-25000" dirty="0">
                <a:latin typeface="Arial Narrow" panose="020B0606020202030204" pitchFamily="34" charset="0"/>
              </a:rPr>
              <a:t>t11</a:t>
            </a:r>
            <a:r>
              <a:rPr lang="pl-PL" sz="2800" dirty="0">
                <a:latin typeface="Arial Narrow" panose="020B0606020202030204" pitchFamily="34" charset="0"/>
              </a:rPr>
              <a:t>, x</a:t>
            </a:r>
            <a:r>
              <a:rPr lang="pl-PL" sz="2800" baseline="-25000" dirty="0">
                <a:latin typeface="Arial Narrow" panose="020B0606020202030204" pitchFamily="34" charset="0"/>
              </a:rPr>
              <a:t>t12</a:t>
            </a:r>
            <a:r>
              <a:rPr lang="pl-PL" sz="2800" dirty="0">
                <a:latin typeface="Arial Narrow" panose="020B0606020202030204" pitchFamily="34" charset="0"/>
              </a:rPr>
              <a:t>, x</a:t>
            </a:r>
            <a:r>
              <a:rPr lang="pl-PL" sz="2800" baseline="-25000" dirty="0">
                <a:latin typeface="Arial Narrow" panose="020B0606020202030204" pitchFamily="34" charset="0"/>
              </a:rPr>
              <a:t>t13</a:t>
            </a:r>
            <a:r>
              <a:rPr lang="pl-PL" sz="2800" dirty="0">
                <a:latin typeface="Arial Narrow" panose="020B0606020202030204" pitchFamily="34" charset="0"/>
              </a:rPr>
              <a:t>, …, x</a:t>
            </a:r>
            <a:r>
              <a:rPr lang="pl-PL" sz="2800" baseline="-25000" dirty="0">
                <a:latin typeface="Arial Narrow" panose="020B0606020202030204" pitchFamily="34" charset="0"/>
              </a:rPr>
              <a:t>t1n</a:t>
            </a:r>
            <a:r>
              <a:rPr lang="pl-PL" sz="2800" dirty="0">
                <a:latin typeface="Arial Narrow" panose="020B0606020202030204" pitchFamily="34" charset="0"/>
              </a:rPr>
              <a:t>	</a:t>
            </a:r>
            <a:r>
              <a:rPr lang="pl-PL" sz="2800" dirty="0">
                <a:solidFill>
                  <a:srgbClr val="0070C0"/>
                </a:solidFill>
                <a:latin typeface="Arial Narrow" panose="020B0606020202030204" pitchFamily="34" charset="0"/>
              </a:rPr>
              <a:t>y</a:t>
            </a:r>
            <a:r>
              <a:rPr lang="pl-PL" sz="2800" baseline="-25000" dirty="0">
                <a:solidFill>
                  <a:srgbClr val="0070C0"/>
                </a:solidFill>
                <a:latin typeface="Arial Narrow" panose="020B0606020202030204" pitchFamily="34" charset="0"/>
              </a:rPr>
              <a:t>t1</a:t>
            </a:r>
            <a:r>
              <a:rPr lang="pl-PL" sz="2800" dirty="0">
                <a:solidFill>
                  <a:srgbClr val="0070C0"/>
                </a:solidFill>
                <a:latin typeface="Arial Narrow" panose="020B0606020202030204" pitchFamily="34" charset="0"/>
              </a:rPr>
              <a:t>(?)</a:t>
            </a:r>
          </a:p>
          <a:p>
            <a:pPr marL="174625">
              <a:spcBef>
                <a:spcPts val="600"/>
              </a:spcBef>
            </a:pPr>
            <a:r>
              <a:rPr lang="pl-PL" sz="2800" dirty="0">
                <a:latin typeface="Arial Narrow" panose="020B0606020202030204" pitchFamily="34" charset="0"/>
              </a:rPr>
              <a:t>…</a:t>
            </a:r>
            <a:endParaRPr lang="en-US" sz="2400" dirty="0">
              <a:latin typeface="Arial Narrow" panose="020B0606020202030204" pitchFamily="34" charset="0"/>
            </a:endParaRPr>
          </a:p>
        </p:txBody>
      </p:sp>
      <p:sp>
        <p:nvSpPr>
          <p:cNvPr id="2" name="Nawias klamrowy zamykający 1"/>
          <p:cNvSpPr/>
          <p:nvPr/>
        </p:nvSpPr>
        <p:spPr>
          <a:xfrm>
            <a:off x="5029200" y="2113280"/>
            <a:ext cx="533400" cy="1905000"/>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pl-PL" dirty="0"/>
          </a:p>
        </p:txBody>
      </p:sp>
      <p:sp>
        <p:nvSpPr>
          <p:cNvPr id="3" name="Prostokąt 2"/>
          <p:cNvSpPr/>
          <p:nvPr/>
        </p:nvSpPr>
        <p:spPr>
          <a:xfrm>
            <a:off x="5662275" y="2828265"/>
            <a:ext cx="5745484" cy="461665"/>
          </a:xfrm>
          <a:prstGeom prst="rect">
            <a:avLst/>
          </a:prstGeom>
        </p:spPr>
        <p:txBody>
          <a:bodyPr wrap="none">
            <a:spAutoFit/>
          </a:bodyPr>
          <a:lstStyle/>
          <a:p>
            <a:r>
              <a:rPr lang="pl-PL" sz="2400" b="1">
                <a:latin typeface="Arial Narrow" panose="020B0606020202030204" pitchFamily="34" charset="0"/>
              </a:rPr>
              <a:t>Model is learning using dataset WITH LABELS</a:t>
            </a:r>
            <a:endParaRPr lang="pl-PL" dirty="0"/>
          </a:p>
        </p:txBody>
      </p:sp>
      <p:sp>
        <p:nvSpPr>
          <p:cNvPr id="5" name="Prostokąt 4"/>
          <p:cNvSpPr/>
          <p:nvPr/>
        </p:nvSpPr>
        <p:spPr>
          <a:xfrm>
            <a:off x="6477001" y="4719936"/>
            <a:ext cx="5495415" cy="461665"/>
          </a:xfrm>
          <a:prstGeom prst="rect">
            <a:avLst/>
          </a:prstGeom>
        </p:spPr>
        <p:txBody>
          <a:bodyPr wrap="none">
            <a:spAutoFit/>
          </a:bodyPr>
          <a:lstStyle/>
          <a:p>
            <a:r>
              <a:rPr lang="pl-PL" sz="2400" b="1">
                <a:latin typeface="Arial Narrow" panose="020B0606020202030204" pitchFamily="34" charset="0"/>
              </a:rPr>
              <a:t> </a:t>
            </a:r>
            <a:r>
              <a:rPr lang="en-US" sz="2400" b="1">
                <a:latin typeface="Arial Narrow" panose="020B0606020202030204" pitchFamily="34" charset="0"/>
              </a:rPr>
              <a:t>The trained model estimates the values of y</a:t>
            </a:r>
            <a:endParaRPr lang="pl-PL" sz="2400" dirty="0"/>
          </a:p>
        </p:txBody>
      </p:sp>
      <p:sp>
        <p:nvSpPr>
          <p:cNvPr id="8" name="Nawias klamrowy zamykający 7"/>
          <p:cNvSpPr/>
          <p:nvPr/>
        </p:nvSpPr>
        <p:spPr>
          <a:xfrm>
            <a:off x="5867400" y="4495800"/>
            <a:ext cx="533400" cy="936000"/>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pl-PL" dirty="0"/>
          </a:p>
        </p:txBody>
      </p:sp>
      <p:sp>
        <p:nvSpPr>
          <p:cNvPr id="10" name="Rectangle 2">
            <a:extLst>
              <a:ext uri="{FF2B5EF4-FFF2-40B4-BE49-F238E27FC236}">
                <a16:creationId xmlns:a16="http://schemas.microsoft.com/office/drawing/2014/main" id="{243EBD60-049E-501B-6BA5-515F9B8EEE16}"/>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en-US" sz="1600">
                <a:latin typeface="Arial" pitchFamily="34" charset="0"/>
                <a:ea typeface="+mj-lt"/>
                <a:cs typeface="Arial" pitchFamily="34" charset="0"/>
              </a:rPr>
              <a:t>Types of </a:t>
            </a:r>
            <a:r>
              <a:rPr lang="pl-PL" sz="1600">
                <a:latin typeface="Arial" pitchFamily="34" charset="0"/>
                <a:ea typeface="+mj-lt"/>
                <a:cs typeface="Arial" pitchFamily="34" charset="0"/>
              </a:rPr>
              <a:t>ML</a:t>
            </a:r>
            <a:r>
              <a:rPr lang="en-US" sz="1600">
                <a:latin typeface="Arial" pitchFamily="34" charset="0"/>
                <a:ea typeface="+mj-lt"/>
                <a:cs typeface="Arial" pitchFamily="34" charset="0"/>
              </a:rPr>
              <a:t> tasks</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17248116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02AC02A-FF6A-DC70-60DF-97835B236B93}"/>
              </a:ext>
            </a:extLst>
          </p:cNvPr>
          <p:cNvSpPr>
            <a:spLocks noGrp="1"/>
          </p:cNvSpPr>
          <p:nvPr>
            <p:ph type="sldNum" sz="quarter" idx="12"/>
          </p:nvPr>
        </p:nvSpPr>
        <p:spPr/>
        <p:txBody>
          <a:bodyPr/>
          <a:lstStyle/>
          <a:p>
            <a:fld id="{20D4B2D9-DB10-4EB9-B7A6-032A6D4E75AC}" type="slidenum">
              <a:rPr lang="pl-PL" smtClean="0"/>
              <a:pPr/>
              <a:t>45</a:t>
            </a:fld>
            <a:endParaRPr lang="pl-PL" dirty="0"/>
          </a:p>
        </p:txBody>
      </p:sp>
      <p:sp>
        <p:nvSpPr>
          <p:cNvPr id="6" name="TextBox 1">
            <a:extLst>
              <a:ext uri="{FF2B5EF4-FFF2-40B4-BE49-F238E27FC236}">
                <a16:creationId xmlns:a16="http://schemas.microsoft.com/office/drawing/2014/main" id="{39575490-51D8-B523-F142-D76AEEBEC00E}"/>
              </a:ext>
            </a:extLst>
          </p:cNvPr>
          <p:cNvSpPr txBox="1"/>
          <p:nvPr/>
        </p:nvSpPr>
        <p:spPr>
          <a:xfrm>
            <a:off x="533400" y="304800"/>
            <a:ext cx="9144000" cy="457200"/>
          </a:xfrm>
          <a:prstGeom prst="rect">
            <a:avLst/>
          </a:prstGeom>
          <a:noFill/>
        </p:spPr>
        <p:txBody>
          <a:bodyPr wrap="square" lIns="36000" tIns="36000" rIns="36000" bIns="36000" rtlCol="0">
            <a:noAutofit/>
          </a:bodyPr>
          <a:lstStyle/>
          <a:p>
            <a:r>
              <a:rPr lang="pl-PL" sz="2400" b="1">
                <a:latin typeface="Arial Narrow" panose="020B0606020202030204" pitchFamily="34" charset="0"/>
              </a:rPr>
              <a:t>Supervised learning process</a:t>
            </a:r>
            <a:endParaRPr lang="pl-PL" sz="2400">
              <a:latin typeface="Arial Narrow" panose="020B0606020202030204" pitchFamily="34" charset="0"/>
            </a:endParaRPr>
          </a:p>
        </p:txBody>
      </p:sp>
      <p:pic>
        <p:nvPicPr>
          <p:cNvPr id="8" name="Picture 7">
            <a:extLst>
              <a:ext uri="{FF2B5EF4-FFF2-40B4-BE49-F238E27FC236}">
                <a16:creationId xmlns:a16="http://schemas.microsoft.com/office/drawing/2014/main" id="{6BAB1E8C-100E-04F6-3131-61725CA78A0E}"/>
              </a:ext>
            </a:extLst>
          </p:cNvPr>
          <p:cNvPicPr>
            <a:picLocks noChangeAspect="1"/>
          </p:cNvPicPr>
          <p:nvPr/>
        </p:nvPicPr>
        <p:blipFill>
          <a:blip r:embed="rId2"/>
          <a:stretch>
            <a:fillRect/>
          </a:stretch>
        </p:blipFill>
        <p:spPr>
          <a:xfrm>
            <a:off x="2592310" y="838201"/>
            <a:ext cx="7313690" cy="4341813"/>
          </a:xfrm>
          <a:prstGeom prst="rect">
            <a:avLst/>
          </a:prstGeom>
        </p:spPr>
      </p:pic>
      <p:sp>
        <p:nvSpPr>
          <p:cNvPr id="5" name="Rectangle 2">
            <a:extLst>
              <a:ext uri="{FF2B5EF4-FFF2-40B4-BE49-F238E27FC236}">
                <a16:creationId xmlns:a16="http://schemas.microsoft.com/office/drawing/2014/main" id="{DC7F6F5B-52A0-9978-AB77-D4132E9BA642}"/>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en-US" sz="1600">
                <a:latin typeface="Arial" pitchFamily="34" charset="0"/>
                <a:ea typeface="+mj-lt"/>
                <a:cs typeface="Arial" pitchFamily="34" charset="0"/>
              </a:rPr>
              <a:t>Types of </a:t>
            </a:r>
            <a:r>
              <a:rPr lang="pl-PL" sz="1600">
                <a:latin typeface="Arial" pitchFamily="34" charset="0"/>
                <a:ea typeface="+mj-lt"/>
                <a:cs typeface="Arial" pitchFamily="34" charset="0"/>
              </a:rPr>
              <a:t>ML</a:t>
            </a:r>
            <a:r>
              <a:rPr lang="en-US" sz="1600">
                <a:latin typeface="Arial" pitchFamily="34" charset="0"/>
                <a:ea typeface="+mj-lt"/>
                <a:cs typeface="Arial" pitchFamily="34" charset="0"/>
              </a:rPr>
              <a:t> tasks</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38868486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CEABCB5-1FE8-7D28-D5B0-36A6656F17B9}"/>
              </a:ext>
            </a:extLst>
          </p:cNvPr>
          <p:cNvSpPr>
            <a:spLocks noGrp="1"/>
          </p:cNvSpPr>
          <p:nvPr>
            <p:ph type="sldNum" sz="quarter" idx="12"/>
          </p:nvPr>
        </p:nvSpPr>
        <p:spPr/>
        <p:txBody>
          <a:bodyPr/>
          <a:lstStyle/>
          <a:p>
            <a:fld id="{20D4B2D9-DB10-4EB9-B7A6-032A6D4E75AC}" type="slidenum">
              <a:rPr lang="pl-PL" smtClean="0"/>
              <a:pPr/>
              <a:t>46</a:t>
            </a:fld>
            <a:endParaRPr lang="pl-PL" dirty="0"/>
          </a:p>
        </p:txBody>
      </p:sp>
      <p:sp>
        <p:nvSpPr>
          <p:cNvPr id="6" name="Rectangle 2">
            <a:extLst>
              <a:ext uri="{FF2B5EF4-FFF2-40B4-BE49-F238E27FC236}">
                <a16:creationId xmlns:a16="http://schemas.microsoft.com/office/drawing/2014/main" id="{BA2BD25E-9748-3B03-46AA-AD76B010BEE4}"/>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en-US" sz="1600">
                <a:latin typeface="Arial" pitchFamily="34" charset="0"/>
                <a:ea typeface="+mj-lt"/>
                <a:cs typeface="Arial" pitchFamily="34" charset="0"/>
              </a:rPr>
              <a:t>Types of </a:t>
            </a:r>
            <a:r>
              <a:rPr lang="pl-PL" sz="1600">
                <a:latin typeface="Arial" pitchFamily="34" charset="0"/>
                <a:ea typeface="+mj-lt"/>
                <a:cs typeface="Arial" pitchFamily="34" charset="0"/>
              </a:rPr>
              <a:t>ML</a:t>
            </a:r>
            <a:r>
              <a:rPr lang="en-US" sz="1600">
                <a:latin typeface="Arial" pitchFamily="34" charset="0"/>
                <a:ea typeface="+mj-lt"/>
                <a:cs typeface="Arial" pitchFamily="34" charset="0"/>
              </a:rPr>
              <a:t> tasks</a:t>
            </a:r>
            <a:endParaRPr lang="en-GB" sz="4400" dirty="0">
              <a:latin typeface="Arial" pitchFamily="34" charset="0"/>
              <a:ea typeface="+mj-lt"/>
              <a:cs typeface="Arial" pitchFamily="34" charset="0"/>
            </a:endParaRPr>
          </a:p>
        </p:txBody>
      </p:sp>
      <p:graphicFrame>
        <p:nvGraphicFramePr>
          <p:cNvPr id="7" name="Table 6">
            <a:extLst>
              <a:ext uri="{FF2B5EF4-FFF2-40B4-BE49-F238E27FC236}">
                <a16:creationId xmlns:a16="http://schemas.microsoft.com/office/drawing/2014/main" id="{054B6878-5117-91E7-4A18-118A60FCA171}"/>
              </a:ext>
            </a:extLst>
          </p:cNvPr>
          <p:cNvGraphicFramePr>
            <a:graphicFrameLocks noGrp="1"/>
          </p:cNvGraphicFramePr>
          <p:nvPr>
            <p:extLst>
              <p:ext uri="{D42A27DB-BD31-4B8C-83A1-F6EECF244321}">
                <p14:modId xmlns:p14="http://schemas.microsoft.com/office/powerpoint/2010/main" val="268060928"/>
              </p:ext>
            </p:extLst>
          </p:nvPr>
        </p:nvGraphicFramePr>
        <p:xfrm>
          <a:off x="533400" y="1676400"/>
          <a:ext cx="10363201" cy="1981200"/>
        </p:xfrm>
        <a:graphic>
          <a:graphicData uri="http://schemas.openxmlformats.org/drawingml/2006/table">
            <a:tbl>
              <a:tblPr/>
              <a:tblGrid>
                <a:gridCol w="2448000">
                  <a:extLst>
                    <a:ext uri="{9D8B030D-6E8A-4147-A177-3AD203B41FA5}">
                      <a16:colId xmlns:a16="http://schemas.microsoft.com/office/drawing/2014/main" val="3420696324"/>
                    </a:ext>
                  </a:extLst>
                </a:gridCol>
                <a:gridCol w="2692800">
                  <a:extLst>
                    <a:ext uri="{9D8B030D-6E8A-4147-A177-3AD203B41FA5}">
                      <a16:colId xmlns:a16="http://schemas.microsoft.com/office/drawing/2014/main" val="3492856415"/>
                    </a:ext>
                  </a:extLst>
                </a:gridCol>
                <a:gridCol w="2250600">
                  <a:extLst>
                    <a:ext uri="{9D8B030D-6E8A-4147-A177-3AD203B41FA5}">
                      <a16:colId xmlns:a16="http://schemas.microsoft.com/office/drawing/2014/main" val="215243539"/>
                    </a:ext>
                  </a:extLst>
                </a:gridCol>
                <a:gridCol w="2971801">
                  <a:extLst>
                    <a:ext uri="{9D8B030D-6E8A-4147-A177-3AD203B41FA5}">
                      <a16:colId xmlns:a16="http://schemas.microsoft.com/office/drawing/2014/main" val="1983439663"/>
                    </a:ext>
                  </a:extLst>
                </a:gridCol>
              </a:tblGrid>
              <a:tr h="0">
                <a:tc>
                  <a:txBody>
                    <a:bodyPr/>
                    <a:lstStyle/>
                    <a:p>
                      <a:pPr>
                        <a:buNone/>
                      </a:pPr>
                      <a:r>
                        <a:rPr lang="pl-PL" sz="2000" b="1">
                          <a:latin typeface="Arial Narrow" panose="020B0606020202030204" pitchFamily="34" charset="0"/>
                        </a:rPr>
                        <a:t>Example</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2000" b="1">
                          <a:latin typeface="Arial Narrow" panose="020B0606020202030204" pitchFamily="34" charset="0"/>
                        </a:rPr>
                        <a:t>Input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2000" b="1">
                          <a:latin typeface="Arial Narrow" panose="020B0606020202030204" pitchFamily="34" charset="0"/>
                        </a:rPr>
                        <a:t>Label/Answer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2000" b="1">
                          <a:latin typeface="Arial Narrow" panose="020B0606020202030204" pitchFamily="34" charset="0"/>
                        </a:rPr>
                        <a:t>ML task</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6182074"/>
                  </a:ext>
                </a:extLst>
              </a:tr>
              <a:tr h="0">
                <a:tc>
                  <a:txBody>
                    <a:bodyPr/>
                    <a:lstStyle/>
                    <a:p>
                      <a:pPr>
                        <a:buNone/>
                      </a:pPr>
                      <a:r>
                        <a:rPr lang="pl-PL" sz="2000">
                          <a:latin typeface="Arial Narrow" panose="020B0606020202030204" pitchFamily="34" charset="0"/>
                        </a:rPr>
                        <a:t>Email spam detection</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2000">
                          <a:latin typeface="Arial Narrow" panose="020B0606020202030204" pitchFamily="34" charset="0"/>
                        </a:rPr>
                        <a:t>Email 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2000">
                          <a:latin typeface="Arial Narrow" panose="020B0606020202030204" pitchFamily="34" charset="0"/>
                        </a:rPr>
                        <a:t>spam / not spam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2000">
                          <a:latin typeface="Arial Narrow" panose="020B0606020202030204" pitchFamily="34" charset="0"/>
                        </a:rPr>
                        <a:t>binary classification</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1374906"/>
                  </a:ext>
                </a:extLst>
              </a:tr>
              <a:tr h="0">
                <a:tc>
                  <a:txBody>
                    <a:bodyPr/>
                    <a:lstStyle/>
                    <a:p>
                      <a:pPr>
                        <a:buNone/>
                      </a:pPr>
                      <a:r>
                        <a:rPr lang="pl-PL" sz="2000">
                          <a:latin typeface="Arial Narrow" panose="020B0606020202030204" pitchFamily="34" charset="0"/>
                        </a:rPr>
                        <a:t>House price prediction</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2000">
                          <a:latin typeface="Arial Narrow" panose="020B0606020202030204" pitchFamily="34" charset="0"/>
                        </a:rPr>
                        <a:t>Size, location, bedrooms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2000">
                          <a:latin typeface="Arial Narrow" panose="020B0606020202030204" pitchFamily="34" charset="0"/>
                        </a:rPr>
                        <a:t>sale price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2000">
                          <a:latin typeface="Arial Narrow" panose="020B0606020202030204" pitchFamily="34" charset="0"/>
                        </a:rPr>
                        <a:t>scalar regression</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7779985"/>
                  </a:ext>
                </a:extLst>
              </a:tr>
              <a:tr h="0">
                <a:tc>
                  <a:txBody>
                    <a:bodyPr/>
                    <a:lstStyle/>
                    <a:p>
                      <a:pPr>
                        <a:buNone/>
                      </a:pPr>
                      <a:r>
                        <a:rPr lang="pl-PL" sz="2000">
                          <a:latin typeface="Arial Narrow" panose="020B0606020202030204" pitchFamily="34" charset="0"/>
                        </a:rPr>
                        <a:t>Image classification</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2000">
                          <a:latin typeface="Arial Narrow" panose="020B0606020202030204" pitchFamily="34" charset="0"/>
                        </a:rPr>
                        <a:t>Photo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2000">
                          <a:latin typeface="Arial Narrow" panose="020B0606020202030204" pitchFamily="34" charset="0"/>
                        </a:rPr>
                        <a:t>cat / dog / car / flower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2000">
                          <a:latin typeface="Arial Narrow" panose="020B0606020202030204" pitchFamily="34" charset="0"/>
                        </a:rPr>
                        <a:t>multiclass classification</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383941"/>
                  </a:ext>
                </a:extLst>
              </a:tr>
              <a:tr h="0">
                <a:tc>
                  <a:txBody>
                    <a:bodyPr/>
                    <a:lstStyle/>
                    <a:p>
                      <a:pPr>
                        <a:buNone/>
                      </a:pPr>
                      <a:r>
                        <a:rPr lang="pl-PL" sz="2000">
                          <a:latin typeface="Arial Narrow" panose="020B0606020202030204" pitchFamily="34" charset="0"/>
                        </a:rPr>
                        <a:t>Sentiment analysis</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2000">
                          <a:latin typeface="Arial Narrow" panose="020B0606020202030204" pitchFamily="34" charset="0"/>
                        </a:rPr>
                        <a:t>Product review 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2000">
                          <a:latin typeface="Arial Narrow" panose="020B0606020202030204" pitchFamily="34" charset="0"/>
                        </a:rPr>
                        <a:t>positive / negative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2000">
                          <a:latin typeface="Arial Narrow" panose="020B0606020202030204" pitchFamily="34" charset="0"/>
                        </a:rPr>
                        <a:t>binary classification</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1332468"/>
                  </a:ext>
                </a:extLst>
              </a:tr>
            </a:tbl>
          </a:graphicData>
        </a:graphic>
      </p:graphicFrame>
      <p:sp>
        <p:nvSpPr>
          <p:cNvPr id="9" name="TextBox 8">
            <a:extLst>
              <a:ext uri="{FF2B5EF4-FFF2-40B4-BE49-F238E27FC236}">
                <a16:creationId xmlns:a16="http://schemas.microsoft.com/office/drawing/2014/main" id="{84CC23C7-973F-10FD-38BE-3AA02231DC64}"/>
              </a:ext>
            </a:extLst>
          </p:cNvPr>
          <p:cNvSpPr txBox="1"/>
          <p:nvPr/>
        </p:nvSpPr>
        <p:spPr>
          <a:xfrm>
            <a:off x="533400" y="520580"/>
            <a:ext cx="10515600" cy="830997"/>
          </a:xfrm>
          <a:prstGeom prst="rect">
            <a:avLst/>
          </a:prstGeom>
          <a:noFill/>
        </p:spPr>
        <p:txBody>
          <a:bodyPr wrap="square">
            <a:spAutoFit/>
          </a:bodyPr>
          <a:lstStyle/>
          <a:p>
            <a:pPr>
              <a:buNone/>
            </a:pPr>
            <a:r>
              <a:rPr lang="pl-PL" sz="2400" b="1">
                <a:latin typeface="Arial Narrow" panose="020B0606020202030204" pitchFamily="34" charset="0"/>
              </a:rPr>
              <a:t>Examples</a:t>
            </a:r>
            <a:r>
              <a:rPr lang="pl-PL" sz="2400">
                <a:latin typeface="Arial Narrow" panose="020B0606020202030204" pitchFamily="34" charset="0"/>
              </a:rPr>
              <a:t> of supervised learning.</a:t>
            </a:r>
          </a:p>
          <a:p>
            <a:pPr>
              <a:buNone/>
            </a:pPr>
            <a:r>
              <a:rPr lang="pl-PL" sz="2400">
                <a:latin typeface="Arial Narrow" panose="020B0606020202030204" pitchFamily="34" charset="0"/>
              </a:rPr>
              <a:t>In each case, the model learns from examples where the correct answer is already known.</a:t>
            </a:r>
          </a:p>
        </p:txBody>
      </p:sp>
    </p:spTree>
    <p:extLst>
      <p:ext uri="{BB962C8B-B14F-4D97-AF65-F5344CB8AC3E}">
        <p14:creationId xmlns:p14="http://schemas.microsoft.com/office/powerpoint/2010/main" val="40070102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33313C9-C755-542D-C357-5021B37530F1}"/>
              </a:ext>
            </a:extLst>
          </p:cNvPr>
          <p:cNvSpPr>
            <a:spLocks noGrp="1"/>
          </p:cNvSpPr>
          <p:nvPr>
            <p:ph type="sldNum" sz="quarter" idx="12"/>
          </p:nvPr>
        </p:nvSpPr>
        <p:spPr/>
        <p:txBody>
          <a:bodyPr/>
          <a:lstStyle/>
          <a:p>
            <a:fld id="{20D4B2D9-DB10-4EB9-B7A6-032A6D4E75AC}" type="slidenum">
              <a:rPr lang="pl-PL" smtClean="0"/>
              <a:pPr/>
              <a:t>47</a:t>
            </a:fld>
            <a:endParaRPr lang="pl-PL" dirty="0"/>
          </a:p>
        </p:txBody>
      </p:sp>
      <p:sp>
        <p:nvSpPr>
          <p:cNvPr id="5" name="Rectangle 4">
            <a:extLst>
              <a:ext uri="{FF2B5EF4-FFF2-40B4-BE49-F238E27FC236}">
                <a16:creationId xmlns:a16="http://schemas.microsoft.com/office/drawing/2014/main" id="{4BEFBC3F-EB32-8C1D-6AA2-8DF8D2B4BD3C}"/>
              </a:ext>
            </a:extLst>
          </p:cNvPr>
          <p:cNvSpPr/>
          <p:nvPr/>
        </p:nvSpPr>
        <p:spPr>
          <a:xfrm>
            <a:off x="0" y="304800"/>
            <a:ext cx="11963400" cy="830997"/>
          </a:xfrm>
          <a:prstGeom prst="rect">
            <a:avLst/>
          </a:prstGeom>
        </p:spPr>
        <p:txBody>
          <a:bodyPr wrap="square">
            <a:spAutoFit/>
          </a:bodyPr>
          <a:lstStyle/>
          <a:p>
            <a:pPr>
              <a:spcBef>
                <a:spcPts val="600"/>
              </a:spcBef>
            </a:pPr>
            <a:r>
              <a:rPr lang="pl-PL" sz="2400" b="1">
                <a:solidFill>
                  <a:srgbClr val="0000FF"/>
                </a:solidFill>
                <a:latin typeface="Arial Narrow" panose="020B0606020202030204" pitchFamily="34" charset="0"/>
                <a:cs typeface="Calibri" panose="020F0502020204030204" pitchFamily="34" charset="0"/>
              </a:rPr>
              <a:t>Unsupervised learning</a:t>
            </a:r>
            <a:r>
              <a:rPr lang="pl-PL" sz="2400">
                <a:solidFill>
                  <a:srgbClr val="000000"/>
                </a:solidFill>
                <a:latin typeface="Arial Narrow" panose="020B0606020202030204" pitchFamily="34" charset="0"/>
                <a:cs typeface="Calibri" panose="020F0502020204030204" pitchFamily="34" charset="0"/>
              </a:rPr>
              <a:t> – </a:t>
            </a:r>
            <a:r>
              <a:rPr lang="en-US" sz="2400">
                <a:solidFill>
                  <a:srgbClr val="000000"/>
                </a:solidFill>
                <a:latin typeface="Arial Narrow" panose="020B0606020202030204" pitchFamily="34" charset="0"/>
                <a:cs typeface="Calibri" panose="020F0502020204030204" pitchFamily="34" charset="0"/>
              </a:rPr>
              <a:t>a model finds patterns or groups in </a:t>
            </a:r>
            <a:r>
              <a:rPr lang="en-US" sz="2400" b="1">
                <a:solidFill>
                  <a:srgbClr val="000000"/>
                </a:solidFill>
                <a:latin typeface="Arial Narrow" panose="020B0606020202030204" pitchFamily="34" charset="0"/>
                <a:cs typeface="Calibri" panose="020F0502020204030204" pitchFamily="34" charset="0"/>
              </a:rPr>
              <a:t>unlabeled data</a:t>
            </a:r>
            <a:r>
              <a:rPr lang="en-US" sz="2400">
                <a:solidFill>
                  <a:srgbClr val="000000"/>
                </a:solidFill>
                <a:latin typeface="Arial Narrow" panose="020B0606020202030204" pitchFamily="34" charset="0"/>
                <a:cs typeface="Calibri" panose="020F0502020204030204" pitchFamily="34" charset="0"/>
              </a:rPr>
              <a:t> without being given the correct answers.</a:t>
            </a:r>
            <a:endParaRPr lang="pl-PL" sz="2400" dirty="0">
              <a:solidFill>
                <a:srgbClr val="000000"/>
              </a:solidFill>
              <a:latin typeface="Arial Narrow" panose="020B0606020202030204" pitchFamily="34" charset="0"/>
              <a:cs typeface="Calibri" panose="020F0502020204030204" pitchFamily="34" charset="0"/>
            </a:endParaRPr>
          </a:p>
        </p:txBody>
      </p:sp>
      <p:sp>
        <p:nvSpPr>
          <p:cNvPr id="6" name="Rectangle 2">
            <a:extLst>
              <a:ext uri="{FF2B5EF4-FFF2-40B4-BE49-F238E27FC236}">
                <a16:creationId xmlns:a16="http://schemas.microsoft.com/office/drawing/2014/main" id="{F0A7F982-601B-C7DA-5BC2-5A51B10B4F01}"/>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en-US" sz="1600">
                <a:latin typeface="Arial" pitchFamily="34" charset="0"/>
                <a:ea typeface="+mj-lt"/>
                <a:cs typeface="Arial" pitchFamily="34" charset="0"/>
              </a:rPr>
              <a:t>Types of </a:t>
            </a:r>
            <a:r>
              <a:rPr lang="pl-PL" sz="1600">
                <a:latin typeface="Arial" pitchFamily="34" charset="0"/>
                <a:ea typeface="+mj-lt"/>
                <a:cs typeface="Arial" pitchFamily="34" charset="0"/>
              </a:rPr>
              <a:t>ML</a:t>
            </a:r>
            <a:r>
              <a:rPr lang="en-US" sz="1600">
                <a:latin typeface="Arial" pitchFamily="34" charset="0"/>
                <a:ea typeface="+mj-lt"/>
                <a:cs typeface="Arial" pitchFamily="34" charset="0"/>
              </a:rPr>
              <a:t> tasks</a:t>
            </a:r>
            <a:endParaRPr lang="en-GB" sz="4400" dirty="0">
              <a:latin typeface="Arial" pitchFamily="34" charset="0"/>
              <a:ea typeface="+mj-lt"/>
              <a:cs typeface="Arial" pitchFamily="34" charset="0"/>
            </a:endParaRPr>
          </a:p>
        </p:txBody>
      </p:sp>
      <p:graphicFrame>
        <p:nvGraphicFramePr>
          <p:cNvPr id="2" name="Table 1">
            <a:extLst>
              <a:ext uri="{FF2B5EF4-FFF2-40B4-BE49-F238E27FC236}">
                <a16:creationId xmlns:a16="http://schemas.microsoft.com/office/drawing/2014/main" id="{4ED9D5A6-F6D9-D761-194D-FC4E4143139A}"/>
              </a:ext>
            </a:extLst>
          </p:cNvPr>
          <p:cNvGraphicFramePr>
            <a:graphicFrameLocks noGrp="1"/>
          </p:cNvGraphicFramePr>
          <p:nvPr>
            <p:extLst>
              <p:ext uri="{D42A27DB-BD31-4B8C-83A1-F6EECF244321}">
                <p14:modId xmlns:p14="http://schemas.microsoft.com/office/powerpoint/2010/main" val="2546131009"/>
              </p:ext>
            </p:extLst>
          </p:nvPr>
        </p:nvGraphicFramePr>
        <p:xfrm>
          <a:off x="533400" y="2060138"/>
          <a:ext cx="9220201" cy="2377440"/>
        </p:xfrm>
        <a:graphic>
          <a:graphicData uri="http://schemas.openxmlformats.org/drawingml/2006/table">
            <a:tbl>
              <a:tblPr/>
              <a:tblGrid>
                <a:gridCol w="2438400">
                  <a:extLst>
                    <a:ext uri="{9D8B030D-6E8A-4147-A177-3AD203B41FA5}">
                      <a16:colId xmlns:a16="http://schemas.microsoft.com/office/drawing/2014/main" val="3920140244"/>
                    </a:ext>
                  </a:extLst>
                </a:gridCol>
                <a:gridCol w="2209800">
                  <a:extLst>
                    <a:ext uri="{9D8B030D-6E8A-4147-A177-3AD203B41FA5}">
                      <a16:colId xmlns:a16="http://schemas.microsoft.com/office/drawing/2014/main" val="1389087050"/>
                    </a:ext>
                  </a:extLst>
                </a:gridCol>
                <a:gridCol w="4572001">
                  <a:extLst>
                    <a:ext uri="{9D8B030D-6E8A-4147-A177-3AD203B41FA5}">
                      <a16:colId xmlns:a16="http://schemas.microsoft.com/office/drawing/2014/main" val="2788134028"/>
                    </a:ext>
                  </a:extLst>
                </a:gridCol>
              </a:tblGrid>
              <a:tr h="0">
                <a:tc>
                  <a:txBody>
                    <a:bodyPr/>
                    <a:lstStyle/>
                    <a:p>
                      <a:pPr>
                        <a:buNone/>
                      </a:pPr>
                      <a:r>
                        <a:rPr lang="pl-PL" sz="2000" b="1">
                          <a:latin typeface="Arial Narrow" panose="020B0606020202030204" pitchFamily="34" charset="0"/>
                        </a:rPr>
                        <a:t>Example</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2000" b="1">
                          <a:latin typeface="Arial Narrow" panose="020B0606020202030204" pitchFamily="34" charset="0"/>
                        </a:rPr>
                        <a:t>Input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2000" b="1">
                          <a:latin typeface="Arial Narrow" panose="020B0606020202030204" pitchFamily="34" charset="0"/>
                        </a:rPr>
                        <a:t>Pattern the model finds</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353768"/>
                  </a:ext>
                </a:extLst>
              </a:tr>
              <a:tr h="0">
                <a:tc>
                  <a:txBody>
                    <a:bodyPr/>
                    <a:lstStyle/>
                    <a:p>
                      <a:pPr>
                        <a:buNone/>
                      </a:pPr>
                      <a:r>
                        <a:rPr lang="pl-PL" sz="2000">
                          <a:latin typeface="Arial Narrow" panose="020B0606020202030204" pitchFamily="34" charset="0"/>
                        </a:rPr>
                        <a:t>Customer grouping</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2000">
                          <a:latin typeface="Arial Narrow" panose="020B0606020202030204" pitchFamily="34" charset="0"/>
                        </a:rPr>
                        <a:t>Shopping behavior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2000">
                          <a:latin typeface="Arial Narrow" panose="020B0606020202030204" pitchFamily="34" charset="0"/>
                        </a:rPr>
                        <a:t>Groups of similar customers</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418740"/>
                  </a:ext>
                </a:extLst>
              </a:tr>
              <a:tr h="0">
                <a:tc>
                  <a:txBody>
                    <a:bodyPr/>
                    <a:lstStyle/>
                    <a:p>
                      <a:pPr>
                        <a:buNone/>
                      </a:pPr>
                      <a:r>
                        <a:rPr lang="pl-PL" sz="2000">
                          <a:latin typeface="Arial Narrow" panose="020B0606020202030204" pitchFamily="34" charset="0"/>
                        </a:rPr>
                        <a:t>Topic discovery</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2000">
                          <a:latin typeface="Arial Narrow" panose="020B0606020202030204" pitchFamily="34" charset="0"/>
                        </a:rPr>
                        <a:t>News articles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2000">
                          <a:latin typeface="Arial Narrow" panose="020B0606020202030204" pitchFamily="34" charset="0"/>
                        </a:rPr>
                        <a:t>Common topics like sports, politics, tech</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794165"/>
                  </a:ext>
                </a:extLst>
              </a:tr>
              <a:tr h="0">
                <a:tc>
                  <a:txBody>
                    <a:bodyPr/>
                    <a:lstStyle/>
                    <a:p>
                      <a:pPr>
                        <a:buNone/>
                      </a:pPr>
                      <a:r>
                        <a:rPr lang="pl-PL" sz="2000">
                          <a:latin typeface="Arial Narrow" panose="020B0606020202030204" pitchFamily="34" charset="0"/>
                        </a:rPr>
                        <a:t>Image clustering</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2000">
                          <a:latin typeface="Arial Narrow" panose="020B0606020202030204" pitchFamily="34" charset="0"/>
                        </a:rPr>
                        <a:t>Photos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2000">
                          <a:latin typeface="Arial Narrow" panose="020B0606020202030204" pitchFamily="34" charset="0"/>
                        </a:rPr>
                        <a:t>Similar images grouped together</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0863081"/>
                  </a:ext>
                </a:extLst>
              </a:tr>
              <a:tr h="0">
                <a:tc>
                  <a:txBody>
                    <a:bodyPr/>
                    <a:lstStyle/>
                    <a:p>
                      <a:pPr>
                        <a:buNone/>
                      </a:pPr>
                      <a:r>
                        <a:rPr lang="pl-PL" sz="2000">
                          <a:latin typeface="Arial Narrow" panose="020B0606020202030204" pitchFamily="34" charset="0"/>
                        </a:rPr>
                        <a:t>Market basket analysis</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2000">
                          <a:latin typeface="Arial Narrow" panose="020B0606020202030204" pitchFamily="34" charset="0"/>
                        </a:rPr>
                        <a:t>Purchase records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2000">
                          <a:latin typeface="Arial Narrow" panose="020B0606020202030204" pitchFamily="34" charset="0"/>
                        </a:rPr>
                        <a:t>Items often bought together</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9254143"/>
                  </a:ext>
                </a:extLst>
              </a:tr>
              <a:tr h="0">
                <a:tc>
                  <a:txBody>
                    <a:bodyPr/>
                    <a:lstStyle/>
                    <a:p>
                      <a:pPr>
                        <a:buNone/>
                      </a:pPr>
                      <a:r>
                        <a:rPr lang="pl-PL" sz="2000">
                          <a:latin typeface="Arial Narrow" panose="020B0606020202030204" pitchFamily="34" charset="0"/>
                        </a:rPr>
                        <a:t>Gene analysis</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2000">
                          <a:latin typeface="Arial Narrow" panose="020B0606020202030204" pitchFamily="34" charset="0"/>
                        </a:rPr>
                        <a:t>DNA/gene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2000">
                          <a:latin typeface="Arial Narrow" panose="020B0606020202030204" pitchFamily="34" charset="0"/>
                        </a:rPr>
                        <a:t>Groups with similar genetic patterns</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10758222"/>
                  </a:ext>
                </a:extLst>
              </a:tr>
            </a:tbl>
          </a:graphicData>
        </a:graphic>
      </p:graphicFrame>
      <p:sp>
        <p:nvSpPr>
          <p:cNvPr id="7" name="TextBox 6">
            <a:extLst>
              <a:ext uri="{FF2B5EF4-FFF2-40B4-BE49-F238E27FC236}">
                <a16:creationId xmlns:a16="http://schemas.microsoft.com/office/drawing/2014/main" id="{CAAE7B4C-44D1-4452-4E1A-93272520488A}"/>
              </a:ext>
            </a:extLst>
          </p:cNvPr>
          <p:cNvSpPr txBox="1"/>
          <p:nvPr/>
        </p:nvSpPr>
        <p:spPr>
          <a:xfrm>
            <a:off x="0" y="1367135"/>
            <a:ext cx="6146800" cy="461665"/>
          </a:xfrm>
          <a:prstGeom prst="rect">
            <a:avLst/>
          </a:prstGeom>
          <a:noFill/>
        </p:spPr>
        <p:txBody>
          <a:bodyPr wrap="square">
            <a:spAutoFit/>
          </a:bodyPr>
          <a:lstStyle/>
          <a:p>
            <a:pPr>
              <a:buNone/>
            </a:pPr>
            <a:r>
              <a:rPr lang="pl-PL" sz="2400">
                <a:latin typeface="Arial Narrow" panose="020B0606020202030204" pitchFamily="34" charset="0"/>
              </a:rPr>
              <a:t>Examples:</a:t>
            </a:r>
          </a:p>
        </p:txBody>
      </p:sp>
    </p:spTree>
    <p:extLst>
      <p:ext uri="{BB962C8B-B14F-4D97-AF65-F5344CB8AC3E}">
        <p14:creationId xmlns:p14="http://schemas.microsoft.com/office/powerpoint/2010/main" val="9302451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9AB3545-60B1-0A87-28ED-B0E515EB8086}"/>
              </a:ext>
            </a:extLst>
          </p:cNvPr>
          <p:cNvSpPr>
            <a:spLocks noGrp="1"/>
          </p:cNvSpPr>
          <p:nvPr>
            <p:ph type="sldNum" sz="quarter" idx="12"/>
          </p:nvPr>
        </p:nvSpPr>
        <p:spPr/>
        <p:txBody>
          <a:bodyPr/>
          <a:lstStyle/>
          <a:p>
            <a:fld id="{20D4B2D9-DB10-4EB9-B7A6-032A6D4E75AC}" type="slidenum">
              <a:rPr lang="pl-PL" smtClean="0"/>
              <a:pPr/>
              <a:t>48</a:t>
            </a:fld>
            <a:endParaRPr lang="pl-PL" dirty="0"/>
          </a:p>
        </p:txBody>
      </p:sp>
      <p:sp>
        <p:nvSpPr>
          <p:cNvPr id="6" name="Rectangle 2">
            <a:extLst>
              <a:ext uri="{FF2B5EF4-FFF2-40B4-BE49-F238E27FC236}">
                <a16:creationId xmlns:a16="http://schemas.microsoft.com/office/drawing/2014/main" id="{D95AB590-EB2D-1372-3591-64E20DFDF4CE}"/>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en-US" sz="1600">
                <a:latin typeface="Arial" pitchFamily="34" charset="0"/>
                <a:ea typeface="+mj-lt"/>
                <a:cs typeface="Arial" pitchFamily="34" charset="0"/>
              </a:rPr>
              <a:t>Types of </a:t>
            </a:r>
            <a:r>
              <a:rPr lang="pl-PL" sz="1600">
                <a:latin typeface="Arial" pitchFamily="34" charset="0"/>
                <a:ea typeface="+mj-lt"/>
                <a:cs typeface="Arial" pitchFamily="34" charset="0"/>
              </a:rPr>
              <a:t>ML</a:t>
            </a:r>
            <a:r>
              <a:rPr lang="en-US" sz="1600">
                <a:latin typeface="Arial" pitchFamily="34" charset="0"/>
                <a:ea typeface="+mj-lt"/>
                <a:cs typeface="Arial" pitchFamily="34" charset="0"/>
              </a:rPr>
              <a:t> tasks</a:t>
            </a:r>
            <a:endParaRPr lang="en-GB" sz="4400" dirty="0">
              <a:latin typeface="Arial" pitchFamily="34" charset="0"/>
              <a:ea typeface="+mj-lt"/>
              <a:cs typeface="Arial" pitchFamily="34" charset="0"/>
            </a:endParaRPr>
          </a:p>
        </p:txBody>
      </p:sp>
      <p:graphicFrame>
        <p:nvGraphicFramePr>
          <p:cNvPr id="8" name="Table 7">
            <a:extLst>
              <a:ext uri="{FF2B5EF4-FFF2-40B4-BE49-F238E27FC236}">
                <a16:creationId xmlns:a16="http://schemas.microsoft.com/office/drawing/2014/main" id="{2AE854B3-879A-D471-E96E-3D9B77B9DD33}"/>
              </a:ext>
            </a:extLst>
          </p:cNvPr>
          <p:cNvGraphicFramePr>
            <a:graphicFrameLocks noGrp="1"/>
          </p:cNvGraphicFramePr>
          <p:nvPr>
            <p:extLst>
              <p:ext uri="{D42A27DB-BD31-4B8C-83A1-F6EECF244321}">
                <p14:modId xmlns:p14="http://schemas.microsoft.com/office/powerpoint/2010/main" val="2924970121"/>
              </p:ext>
            </p:extLst>
          </p:nvPr>
        </p:nvGraphicFramePr>
        <p:xfrm>
          <a:off x="3505200" y="1752600"/>
          <a:ext cx="4648200" cy="1828800"/>
        </p:xfrm>
        <a:graphic>
          <a:graphicData uri="http://schemas.openxmlformats.org/drawingml/2006/table">
            <a:tbl>
              <a:tblPr/>
              <a:tblGrid>
                <a:gridCol w="2438400">
                  <a:extLst>
                    <a:ext uri="{9D8B030D-6E8A-4147-A177-3AD203B41FA5}">
                      <a16:colId xmlns:a16="http://schemas.microsoft.com/office/drawing/2014/main" val="3920140244"/>
                    </a:ext>
                  </a:extLst>
                </a:gridCol>
                <a:gridCol w="2209800">
                  <a:extLst>
                    <a:ext uri="{9D8B030D-6E8A-4147-A177-3AD203B41FA5}">
                      <a16:colId xmlns:a16="http://schemas.microsoft.com/office/drawing/2014/main" val="1389087050"/>
                    </a:ext>
                  </a:extLst>
                </a:gridCol>
              </a:tblGrid>
              <a:tr h="0">
                <a:tc>
                  <a:txBody>
                    <a:bodyPr/>
                    <a:lstStyle/>
                    <a:p>
                      <a:pPr>
                        <a:buNone/>
                      </a:pPr>
                      <a:r>
                        <a:rPr lang="pl-PL" sz="2400" b="1">
                          <a:latin typeface="Arial Narrow" panose="020B0606020202030204" pitchFamily="34" charset="0"/>
                        </a:rPr>
                        <a:t>Task</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2400" b="1">
                          <a:latin typeface="Arial Narrow" panose="020B0606020202030204" pitchFamily="34" charset="0"/>
                        </a:rPr>
                        <a:t>ML method</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353768"/>
                  </a:ext>
                </a:extLst>
              </a:tr>
              <a:tr h="0">
                <a:tc>
                  <a:txBody>
                    <a:bodyPr/>
                    <a:lstStyle/>
                    <a:p>
                      <a:pPr>
                        <a:buNone/>
                      </a:pPr>
                      <a:r>
                        <a:rPr lang="pl-PL" sz="2400">
                          <a:latin typeface="Arial Narrow" panose="020B0606020202030204" pitchFamily="34" charset="0"/>
                        </a:rPr>
                        <a:t>Classification</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2400">
                          <a:latin typeface="Arial Narrow" panose="020B0606020202030204" pitchFamily="34" charset="0"/>
                        </a:rPr>
                        <a:t>Supervised</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418740"/>
                  </a:ext>
                </a:extLst>
              </a:tr>
              <a:tr h="0">
                <a:tc>
                  <a:txBody>
                    <a:bodyPr/>
                    <a:lstStyle/>
                    <a:p>
                      <a:pPr>
                        <a:buNone/>
                      </a:pPr>
                      <a:r>
                        <a:rPr lang="pl-PL" sz="2400">
                          <a:latin typeface="Arial Narrow" panose="020B0606020202030204" pitchFamily="34" charset="0"/>
                        </a:rPr>
                        <a:t>Regression</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2400">
                          <a:latin typeface="Arial Narrow" panose="020B0606020202030204" pitchFamily="34" charset="0"/>
                        </a:rPr>
                        <a:t>Supervised</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794165"/>
                  </a:ext>
                </a:extLst>
              </a:tr>
              <a:tr h="0">
                <a:tc>
                  <a:txBody>
                    <a:bodyPr/>
                    <a:lstStyle/>
                    <a:p>
                      <a:pPr>
                        <a:buNone/>
                      </a:pPr>
                      <a:r>
                        <a:rPr lang="pl-PL" sz="2400">
                          <a:latin typeface="Arial Narrow" panose="020B0606020202030204" pitchFamily="34" charset="0"/>
                        </a:rPr>
                        <a:t>Clustering</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2400">
                          <a:latin typeface="Arial Narrow" panose="020B0606020202030204" pitchFamily="34" charset="0"/>
                        </a:rPr>
                        <a:t>Unsupervised</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0863081"/>
                  </a:ext>
                </a:extLst>
              </a:tr>
            </a:tbl>
          </a:graphicData>
        </a:graphic>
      </p:graphicFrame>
    </p:spTree>
    <p:extLst>
      <p:ext uri="{BB962C8B-B14F-4D97-AF65-F5344CB8AC3E}">
        <p14:creationId xmlns:p14="http://schemas.microsoft.com/office/powerpoint/2010/main" val="24851471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fld id="{20D4B2D9-DB10-4EB9-B7A6-032A6D4E75AC}" type="slidenum">
              <a:rPr lang="pl-PL" smtClean="0"/>
              <a:pPr/>
              <a:t>49</a:t>
            </a:fld>
            <a:endParaRPr lang="pl-PL" dirty="0"/>
          </a:p>
        </p:txBody>
      </p:sp>
      <p:sp>
        <p:nvSpPr>
          <p:cNvPr id="6" name="Rectangle 5">
            <a:extLst>
              <a:ext uri="{FF2B5EF4-FFF2-40B4-BE49-F238E27FC236}">
                <a16:creationId xmlns:a16="http://schemas.microsoft.com/office/drawing/2014/main" id="{288C6A27-2280-49D6-928B-FD164CEED3E4}"/>
              </a:ext>
            </a:extLst>
          </p:cNvPr>
          <p:cNvSpPr/>
          <p:nvPr/>
        </p:nvSpPr>
        <p:spPr>
          <a:xfrm>
            <a:off x="0" y="304800"/>
            <a:ext cx="12039600" cy="830997"/>
          </a:xfrm>
          <a:prstGeom prst="rect">
            <a:avLst/>
          </a:prstGeom>
        </p:spPr>
        <p:txBody>
          <a:bodyPr wrap="square">
            <a:spAutoFit/>
          </a:bodyPr>
          <a:lstStyle/>
          <a:p>
            <a:pPr>
              <a:spcBef>
                <a:spcPts val="600"/>
              </a:spcBef>
            </a:pPr>
            <a:r>
              <a:rPr lang="pl-PL" sz="2400" b="1">
                <a:solidFill>
                  <a:srgbClr val="0000FF"/>
                </a:solidFill>
                <a:latin typeface="Arial Narrow" panose="020B0606020202030204" pitchFamily="34" charset="0"/>
                <a:cs typeface="Calibri" panose="020F0502020204030204" pitchFamily="34" charset="0"/>
              </a:rPr>
              <a:t>Semi-supervised learning</a:t>
            </a:r>
            <a:r>
              <a:rPr lang="pl-PL" sz="2400">
                <a:solidFill>
                  <a:srgbClr val="0000FF"/>
                </a:solidFill>
                <a:latin typeface="Arial Narrow" panose="020B0606020202030204" pitchFamily="34" charset="0"/>
                <a:cs typeface="Calibri" panose="020F0502020204030204" pitchFamily="34" charset="0"/>
              </a:rPr>
              <a:t> – </a:t>
            </a:r>
            <a:r>
              <a:rPr lang="en-US" sz="2400">
                <a:solidFill>
                  <a:srgbClr val="000000"/>
                </a:solidFill>
                <a:latin typeface="Arial Narrow" panose="020B0606020202030204" pitchFamily="34" charset="0"/>
                <a:cs typeface="Calibri" panose="020F0502020204030204" pitchFamily="34" charset="0"/>
              </a:rPr>
              <a:t>a model learns from a small amount of labeled data and a large amount of unlabeled data.</a:t>
            </a:r>
            <a:endParaRPr lang="pl-PL" sz="2000">
              <a:latin typeface="Arial Narrow" panose="020B0606020202030204" pitchFamily="34" charset="0"/>
            </a:endParaRPr>
          </a:p>
        </p:txBody>
      </p:sp>
      <p:sp>
        <p:nvSpPr>
          <p:cNvPr id="5" name="Rectangle 2">
            <a:extLst>
              <a:ext uri="{FF2B5EF4-FFF2-40B4-BE49-F238E27FC236}">
                <a16:creationId xmlns:a16="http://schemas.microsoft.com/office/drawing/2014/main" id="{6C2D8AFC-C500-D1C6-6E3A-99B5EEA314B2}"/>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en-US" sz="1600">
                <a:latin typeface="Arial" pitchFamily="34" charset="0"/>
                <a:ea typeface="+mj-lt"/>
                <a:cs typeface="Arial" pitchFamily="34" charset="0"/>
              </a:rPr>
              <a:t>Types of </a:t>
            </a:r>
            <a:r>
              <a:rPr lang="pl-PL" sz="1600">
                <a:latin typeface="Arial" pitchFamily="34" charset="0"/>
                <a:ea typeface="+mj-lt"/>
                <a:cs typeface="Arial" pitchFamily="34" charset="0"/>
              </a:rPr>
              <a:t>ML</a:t>
            </a:r>
            <a:r>
              <a:rPr lang="en-US" sz="1600">
                <a:latin typeface="Arial" pitchFamily="34" charset="0"/>
                <a:ea typeface="+mj-lt"/>
                <a:cs typeface="Arial" pitchFamily="34" charset="0"/>
              </a:rPr>
              <a:t> tasks</a:t>
            </a:r>
            <a:endParaRPr lang="en-GB" sz="4400" dirty="0">
              <a:latin typeface="Arial" pitchFamily="34" charset="0"/>
              <a:ea typeface="+mj-lt"/>
              <a:cs typeface="Arial" pitchFamily="34" charset="0"/>
            </a:endParaRPr>
          </a:p>
        </p:txBody>
      </p:sp>
      <p:graphicFrame>
        <p:nvGraphicFramePr>
          <p:cNvPr id="2" name="Table 1">
            <a:extLst>
              <a:ext uri="{FF2B5EF4-FFF2-40B4-BE49-F238E27FC236}">
                <a16:creationId xmlns:a16="http://schemas.microsoft.com/office/drawing/2014/main" id="{14A73A2C-5C94-C891-4FAA-3C4BA204CB97}"/>
              </a:ext>
            </a:extLst>
          </p:cNvPr>
          <p:cNvGraphicFramePr>
            <a:graphicFrameLocks noGrp="1"/>
          </p:cNvGraphicFramePr>
          <p:nvPr>
            <p:extLst>
              <p:ext uri="{D42A27DB-BD31-4B8C-83A1-F6EECF244321}">
                <p14:modId xmlns:p14="http://schemas.microsoft.com/office/powerpoint/2010/main" val="419109521"/>
              </p:ext>
            </p:extLst>
          </p:nvPr>
        </p:nvGraphicFramePr>
        <p:xfrm>
          <a:off x="533400" y="1981200"/>
          <a:ext cx="10287000" cy="1981200"/>
        </p:xfrm>
        <a:graphic>
          <a:graphicData uri="http://schemas.openxmlformats.org/drawingml/2006/table">
            <a:tbl>
              <a:tblPr/>
              <a:tblGrid>
                <a:gridCol w="2428875">
                  <a:extLst>
                    <a:ext uri="{9D8B030D-6E8A-4147-A177-3AD203B41FA5}">
                      <a16:colId xmlns:a16="http://schemas.microsoft.com/office/drawing/2014/main" val="401101533"/>
                    </a:ext>
                  </a:extLst>
                </a:gridCol>
                <a:gridCol w="4429125">
                  <a:extLst>
                    <a:ext uri="{9D8B030D-6E8A-4147-A177-3AD203B41FA5}">
                      <a16:colId xmlns:a16="http://schemas.microsoft.com/office/drawing/2014/main" val="43639714"/>
                    </a:ext>
                  </a:extLst>
                </a:gridCol>
                <a:gridCol w="3429000">
                  <a:extLst>
                    <a:ext uri="{9D8B030D-6E8A-4147-A177-3AD203B41FA5}">
                      <a16:colId xmlns:a16="http://schemas.microsoft.com/office/drawing/2014/main" val="2269007487"/>
                    </a:ext>
                  </a:extLst>
                </a:gridCol>
              </a:tblGrid>
              <a:tr h="0">
                <a:tc>
                  <a:txBody>
                    <a:bodyPr/>
                    <a:lstStyle/>
                    <a:p>
                      <a:pPr>
                        <a:buNone/>
                      </a:pPr>
                      <a:r>
                        <a:rPr lang="pl-PL" sz="2000" b="1">
                          <a:latin typeface="Arial Narrow" panose="020B0606020202030204" pitchFamily="34" charset="0"/>
                        </a:rPr>
                        <a:t>Example</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2000" b="1">
                          <a:latin typeface="Arial Narrow" panose="020B0606020202030204" pitchFamily="34" charset="0"/>
                        </a:rPr>
                        <a:t>Labeled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2000" b="1">
                          <a:latin typeface="Arial Narrow" panose="020B0606020202030204" pitchFamily="34" charset="0"/>
                        </a:rPr>
                        <a:t>Unlabeled data</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88361258"/>
                  </a:ext>
                </a:extLst>
              </a:tr>
              <a:tr h="0">
                <a:tc>
                  <a:txBody>
                    <a:bodyPr/>
                    <a:lstStyle/>
                    <a:p>
                      <a:pPr>
                        <a:buNone/>
                      </a:pPr>
                      <a:r>
                        <a:rPr lang="pl-PL" sz="2000">
                          <a:latin typeface="Arial Narrow" panose="020B0606020202030204" pitchFamily="34" charset="0"/>
                        </a:rPr>
                        <a:t>Image recognition</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2000">
                          <a:latin typeface="Arial Narrow" panose="020B0606020202030204" pitchFamily="34" charset="0"/>
                        </a:rPr>
                        <a:t>Some photos labeled “cat” or “dog”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2000">
                          <a:latin typeface="Arial Narrow" panose="020B0606020202030204" pitchFamily="34" charset="0"/>
                        </a:rPr>
                        <a:t>Many photos with no labels</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78092383"/>
                  </a:ext>
                </a:extLst>
              </a:tr>
              <a:tr h="0">
                <a:tc>
                  <a:txBody>
                    <a:bodyPr/>
                    <a:lstStyle/>
                    <a:p>
                      <a:pPr>
                        <a:buNone/>
                      </a:pPr>
                      <a:r>
                        <a:rPr lang="pl-PL" sz="2000">
                          <a:latin typeface="Arial Narrow" panose="020B0606020202030204" pitchFamily="34" charset="0"/>
                        </a:rPr>
                        <a:t>Email filtering</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2000">
                          <a:latin typeface="Arial Narrow" panose="020B0606020202030204" pitchFamily="34" charset="0"/>
                        </a:rPr>
                        <a:t>Some emails marked “spam” or “not spam”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2000">
                          <a:latin typeface="Arial Narrow" panose="020B0606020202030204" pitchFamily="34" charset="0"/>
                        </a:rPr>
                        <a:t>Many unmarked emails</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9732986"/>
                  </a:ext>
                </a:extLst>
              </a:tr>
              <a:tr h="0">
                <a:tc>
                  <a:txBody>
                    <a:bodyPr/>
                    <a:lstStyle/>
                    <a:p>
                      <a:pPr>
                        <a:buNone/>
                      </a:pPr>
                      <a:r>
                        <a:rPr lang="pl-PL" sz="2000">
                          <a:latin typeface="Arial Narrow" panose="020B0606020202030204" pitchFamily="34" charset="0"/>
                        </a:rPr>
                        <a:t>Medical diagnosis</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2000">
                          <a:latin typeface="Arial Narrow" panose="020B0606020202030204" pitchFamily="34" charset="0"/>
                        </a:rPr>
                        <a:t>Some patient records with diagnosis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2000">
                          <a:latin typeface="Arial Narrow" panose="020B0606020202030204" pitchFamily="34" charset="0"/>
                        </a:rPr>
                        <a:t>Many records without diagnosis</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252641"/>
                  </a:ext>
                </a:extLst>
              </a:tr>
              <a:tr h="0">
                <a:tc>
                  <a:txBody>
                    <a:bodyPr/>
                    <a:lstStyle/>
                    <a:p>
                      <a:pPr>
                        <a:buNone/>
                      </a:pPr>
                      <a:r>
                        <a:rPr lang="pl-PL" sz="2000">
                          <a:latin typeface="Arial Narrow" panose="020B0606020202030204" pitchFamily="34" charset="0"/>
                        </a:rPr>
                        <a:t>Webpage classification</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2000">
                          <a:latin typeface="Arial Narrow" panose="020B0606020202030204" pitchFamily="34" charset="0"/>
                        </a:rPr>
                        <a:t>Some pages labeled by topic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l-PL" sz="2000">
                          <a:latin typeface="Arial Narrow" panose="020B0606020202030204" pitchFamily="34" charset="0"/>
                        </a:rPr>
                        <a:t>Many unlabeled webpages</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78940612"/>
                  </a:ext>
                </a:extLst>
              </a:tr>
            </a:tbl>
          </a:graphicData>
        </a:graphic>
      </p:graphicFrame>
      <p:sp>
        <p:nvSpPr>
          <p:cNvPr id="7" name="TextBox 6">
            <a:extLst>
              <a:ext uri="{FF2B5EF4-FFF2-40B4-BE49-F238E27FC236}">
                <a16:creationId xmlns:a16="http://schemas.microsoft.com/office/drawing/2014/main" id="{37A29D8C-3CC4-712D-7956-E7133632BE6C}"/>
              </a:ext>
            </a:extLst>
          </p:cNvPr>
          <p:cNvSpPr txBox="1"/>
          <p:nvPr/>
        </p:nvSpPr>
        <p:spPr>
          <a:xfrm>
            <a:off x="0" y="1414621"/>
            <a:ext cx="6146800" cy="461665"/>
          </a:xfrm>
          <a:prstGeom prst="rect">
            <a:avLst/>
          </a:prstGeom>
          <a:noFill/>
        </p:spPr>
        <p:txBody>
          <a:bodyPr wrap="square">
            <a:spAutoFit/>
          </a:bodyPr>
          <a:lstStyle/>
          <a:p>
            <a:pPr>
              <a:buNone/>
            </a:pPr>
            <a:r>
              <a:rPr lang="pl-PL" sz="2400">
                <a:latin typeface="Arial Narrow" panose="020B0606020202030204" pitchFamily="34" charset="0"/>
              </a:rPr>
              <a:t>Examples:</a:t>
            </a:r>
          </a:p>
        </p:txBody>
      </p:sp>
      <p:sp>
        <p:nvSpPr>
          <p:cNvPr id="9" name="TextBox 8">
            <a:extLst>
              <a:ext uri="{FF2B5EF4-FFF2-40B4-BE49-F238E27FC236}">
                <a16:creationId xmlns:a16="http://schemas.microsoft.com/office/drawing/2014/main" id="{55856D4D-BCA9-F166-FF0C-1CCA766DFBEE}"/>
              </a:ext>
            </a:extLst>
          </p:cNvPr>
          <p:cNvSpPr txBox="1"/>
          <p:nvPr/>
        </p:nvSpPr>
        <p:spPr>
          <a:xfrm>
            <a:off x="152400" y="4438471"/>
            <a:ext cx="11277600" cy="1200329"/>
          </a:xfrm>
          <a:prstGeom prst="rect">
            <a:avLst/>
          </a:prstGeom>
          <a:noFill/>
        </p:spPr>
        <p:txBody>
          <a:bodyPr wrap="square">
            <a:spAutoFit/>
          </a:bodyPr>
          <a:lstStyle/>
          <a:p>
            <a:r>
              <a:rPr lang="pl-PL" sz="2400">
                <a:latin typeface="Arial Narrow" panose="020B0606020202030204" pitchFamily="34" charset="0"/>
              </a:rPr>
              <a:t>So, supervised learning needs many labeled examples, while </a:t>
            </a:r>
            <a:r>
              <a:rPr lang="pl-PL" sz="2400" b="1">
                <a:latin typeface="Arial Narrow" panose="020B0606020202030204" pitchFamily="34" charset="0"/>
              </a:rPr>
              <a:t>semi-supervised learning uses fewer labeled examples plus many unlabeled ones</a:t>
            </a:r>
            <a:r>
              <a:rPr lang="pl-PL" sz="2400">
                <a:latin typeface="Arial Narrow" panose="020B0606020202030204" pitchFamily="34" charset="0"/>
              </a:rPr>
              <a:t>. </a:t>
            </a:r>
            <a:r>
              <a:rPr lang="en-US" sz="2400">
                <a:latin typeface="Arial Narrow" panose="020B0606020202030204" pitchFamily="34" charset="0"/>
              </a:rPr>
              <a:t>The model learns from a few correct answers and also looks for patterns in the unlabeled data</a:t>
            </a:r>
            <a:r>
              <a:rPr lang="pl-PL" sz="2400">
                <a:latin typeface="Arial Narrow" panose="020B0606020202030204" pitchFamily="34" charset="0"/>
              </a:rPr>
              <a:t>.</a:t>
            </a:r>
          </a:p>
        </p:txBody>
      </p:sp>
    </p:spTree>
    <p:extLst>
      <p:ext uri="{BB962C8B-B14F-4D97-AF65-F5344CB8AC3E}">
        <p14:creationId xmlns:p14="http://schemas.microsoft.com/office/powerpoint/2010/main" val="17500417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1166A70-F87B-8FD8-A68B-4B79E667983E}"/>
              </a:ext>
            </a:extLst>
          </p:cNvPr>
          <p:cNvSpPr>
            <a:spLocks noGrp="1"/>
          </p:cNvSpPr>
          <p:nvPr>
            <p:ph type="sldNum" sz="quarter" idx="12"/>
          </p:nvPr>
        </p:nvSpPr>
        <p:spPr/>
        <p:txBody>
          <a:bodyPr/>
          <a:lstStyle/>
          <a:p>
            <a:fld id="{20D4B2D9-DB10-4EB9-B7A6-032A6D4E75AC}" type="slidenum">
              <a:rPr lang="pl-PL" smtClean="0"/>
              <a:pPr/>
              <a:t>50</a:t>
            </a:fld>
            <a:endParaRPr lang="pl-PL" dirty="0"/>
          </a:p>
        </p:txBody>
      </p:sp>
      <p:sp>
        <p:nvSpPr>
          <p:cNvPr id="6" name="Rectangle 5">
            <a:extLst>
              <a:ext uri="{FF2B5EF4-FFF2-40B4-BE49-F238E27FC236}">
                <a16:creationId xmlns:a16="http://schemas.microsoft.com/office/drawing/2014/main" id="{ABFA39A6-6AA1-6EB5-AA47-05C09AE1DAFA}"/>
              </a:ext>
            </a:extLst>
          </p:cNvPr>
          <p:cNvSpPr/>
          <p:nvPr/>
        </p:nvSpPr>
        <p:spPr>
          <a:xfrm>
            <a:off x="0" y="304800"/>
            <a:ext cx="12039600" cy="3416320"/>
          </a:xfrm>
          <a:prstGeom prst="rect">
            <a:avLst/>
          </a:prstGeom>
        </p:spPr>
        <p:txBody>
          <a:bodyPr wrap="square">
            <a:spAutoFit/>
          </a:bodyPr>
          <a:lstStyle/>
          <a:p>
            <a:pPr>
              <a:spcBef>
                <a:spcPts val="0"/>
              </a:spcBef>
            </a:pPr>
            <a:r>
              <a:rPr lang="en-US" sz="2400" b="1">
                <a:latin typeface="Arial Narrow" panose="020B0606020202030204" pitchFamily="34" charset="0"/>
                <a:cs typeface="Calibri" panose="020F0502020204030204" pitchFamily="34" charset="0"/>
              </a:rPr>
              <a:t>Semi-supervised learning</a:t>
            </a:r>
            <a:r>
              <a:rPr lang="en-US" sz="2400">
                <a:latin typeface="Arial Narrow" panose="020B0606020202030204" pitchFamily="34" charset="0"/>
                <a:cs typeface="Calibri" panose="020F0502020204030204" pitchFamily="34" charset="0"/>
              </a:rPr>
              <a:t> uses unlabeled data to learn patterns and improve its predictions.</a:t>
            </a:r>
            <a:endParaRPr lang="pl-PL" sz="2400">
              <a:latin typeface="Arial Narrow" panose="020B0606020202030204" pitchFamily="34" charset="0"/>
              <a:cs typeface="Calibri" panose="020F0502020204030204" pitchFamily="34" charset="0"/>
            </a:endParaRPr>
          </a:p>
          <a:p>
            <a:pPr>
              <a:spcBef>
                <a:spcPts val="0"/>
              </a:spcBef>
            </a:pPr>
            <a:endParaRPr lang="pl-PL" sz="2400">
              <a:latin typeface="Arial Narrow" panose="020B0606020202030204" pitchFamily="34" charset="0"/>
              <a:cs typeface="Calibri" panose="020F0502020204030204" pitchFamily="34" charset="0"/>
            </a:endParaRPr>
          </a:p>
          <a:p>
            <a:pPr>
              <a:spcBef>
                <a:spcPts val="0"/>
              </a:spcBef>
            </a:pPr>
            <a:r>
              <a:rPr lang="en-US" sz="2400">
                <a:latin typeface="Arial Narrow" panose="020B0606020202030204" pitchFamily="34" charset="0"/>
                <a:cs typeface="Calibri" panose="020F0502020204030204" pitchFamily="34" charset="0"/>
              </a:rPr>
              <a:t>For example, with cat/dog photos:</a:t>
            </a:r>
            <a:endParaRPr lang="pl-PL" sz="2400">
              <a:latin typeface="Arial Narrow" panose="020B0606020202030204" pitchFamily="34" charset="0"/>
              <a:cs typeface="Calibri" panose="020F0502020204030204" pitchFamily="34" charset="0"/>
            </a:endParaRPr>
          </a:p>
          <a:p>
            <a:pPr marL="273050" indent="-273050">
              <a:spcBef>
                <a:spcPts val="0"/>
              </a:spcBef>
              <a:buFont typeface="+mj-lt"/>
              <a:buAutoNum type="arabicPeriod"/>
            </a:pPr>
            <a:r>
              <a:rPr lang="en-US" sz="2400">
                <a:latin typeface="Arial Narrow" panose="020B0606020202030204" pitchFamily="34" charset="0"/>
                <a:cs typeface="Calibri" panose="020F0502020204030204" pitchFamily="34" charset="0"/>
              </a:rPr>
              <a:t>It learns from a few labeled photos: “cat” and “dog.”</a:t>
            </a:r>
            <a:endParaRPr lang="pl-PL" sz="2400">
              <a:latin typeface="Arial Narrow" panose="020B0606020202030204" pitchFamily="34" charset="0"/>
              <a:cs typeface="Calibri" panose="020F0502020204030204" pitchFamily="34" charset="0"/>
            </a:endParaRPr>
          </a:p>
          <a:p>
            <a:pPr marL="273050" indent="-273050">
              <a:spcBef>
                <a:spcPts val="0"/>
              </a:spcBef>
              <a:buFont typeface="+mj-lt"/>
              <a:buAutoNum type="arabicPeriod"/>
            </a:pPr>
            <a:r>
              <a:rPr lang="en-US" sz="2400">
                <a:latin typeface="Arial Narrow" panose="020B0606020202030204" pitchFamily="34" charset="0"/>
                <a:cs typeface="Calibri" panose="020F0502020204030204" pitchFamily="34" charset="0"/>
              </a:rPr>
              <a:t>Then it looks at many unlabeled photos.</a:t>
            </a:r>
            <a:endParaRPr lang="pl-PL" sz="2400">
              <a:latin typeface="Arial Narrow" panose="020B0606020202030204" pitchFamily="34" charset="0"/>
              <a:cs typeface="Calibri" panose="020F0502020204030204" pitchFamily="34" charset="0"/>
            </a:endParaRPr>
          </a:p>
          <a:p>
            <a:pPr marL="273050" indent="-273050">
              <a:spcBef>
                <a:spcPts val="0"/>
              </a:spcBef>
              <a:buFont typeface="+mj-lt"/>
              <a:buAutoNum type="arabicPeriod"/>
            </a:pPr>
            <a:r>
              <a:rPr lang="en-US" sz="2400">
                <a:latin typeface="Arial Narrow" panose="020B0606020202030204" pitchFamily="34" charset="0"/>
                <a:cs typeface="Calibri" panose="020F0502020204030204" pitchFamily="34" charset="0"/>
              </a:rPr>
              <a:t>It finds similarities, like ear shape, fur, face shape, etc.</a:t>
            </a:r>
            <a:endParaRPr lang="pl-PL" sz="2400">
              <a:latin typeface="Arial Narrow" panose="020B0606020202030204" pitchFamily="34" charset="0"/>
              <a:cs typeface="Calibri" panose="020F0502020204030204" pitchFamily="34" charset="0"/>
            </a:endParaRPr>
          </a:p>
          <a:p>
            <a:pPr marL="273050" indent="-273050">
              <a:spcBef>
                <a:spcPts val="0"/>
              </a:spcBef>
              <a:buFont typeface="+mj-lt"/>
              <a:buAutoNum type="arabicPeriod"/>
            </a:pPr>
            <a:r>
              <a:rPr lang="en-US" sz="2400">
                <a:latin typeface="Arial Narrow" panose="020B0606020202030204" pitchFamily="34" charset="0"/>
                <a:cs typeface="Calibri" panose="020F0502020204030204" pitchFamily="34" charset="0"/>
              </a:rPr>
              <a:t>It uses those patterns to make better guesses on new photos.</a:t>
            </a:r>
            <a:endParaRPr lang="pl-PL" sz="2400">
              <a:latin typeface="Arial Narrow" panose="020B0606020202030204" pitchFamily="34" charset="0"/>
              <a:cs typeface="Calibri" panose="020F0502020204030204" pitchFamily="34" charset="0"/>
            </a:endParaRPr>
          </a:p>
          <a:p>
            <a:pPr>
              <a:spcBef>
                <a:spcPts val="0"/>
              </a:spcBef>
            </a:pPr>
            <a:endParaRPr lang="pl-PL" sz="2400">
              <a:latin typeface="Arial Narrow" panose="020B0606020202030204" pitchFamily="34" charset="0"/>
              <a:cs typeface="Calibri" panose="020F0502020204030204" pitchFamily="34" charset="0"/>
            </a:endParaRPr>
          </a:p>
          <a:p>
            <a:pPr>
              <a:spcBef>
                <a:spcPts val="0"/>
              </a:spcBef>
            </a:pPr>
            <a:r>
              <a:rPr lang="en-US" sz="2400">
                <a:latin typeface="Arial Narrow" panose="020B0606020202030204" pitchFamily="34" charset="0"/>
                <a:cs typeface="Calibri" panose="020F0502020204030204" pitchFamily="34" charset="0"/>
              </a:rPr>
              <a:t>So, unlabeled data helps the model understand the structure of the data, even without correct answers.</a:t>
            </a:r>
            <a:endParaRPr lang="pl-PL" sz="2000">
              <a:latin typeface="Arial Narrow" panose="020B0606020202030204" pitchFamily="34" charset="0"/>
            </a:endParaRPr>
          </a:p>
        </p:txBody>
      </p:sp>
      <p:sp>
        <p:nvSpPr>
          <p:cNvPr id="8" name="Rectangle 2">
            <a:extLst>
              <a:ext uri="{FF2B5EF4-FFF2-40B4-BE49-F238E27FC236}">
                <a16:creationId xmlns:a16="http://schemas.microsoft.com/office/drawing/2014/main" id="{5BF64E02-AC02-1A1D-B718-12BC32B10279}"/>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en-US" sz="1600">
                <a:latin typeface="Arial" pitchFamily="34" charset="0"/>
                <a:ea typeface="+mj-lt"/>
                <a:cs typeface="Arial" pitchFamily="34" charset="0"/>
              </a:rPr>
              <a:t>Types of </a:t>
            </a:r>
            <a:r>
              <a:rPr lang="pl-PL" sz="1600">
                <a:latin typeface="Arial" pitchFamily="34" charset="0"/>
                <a:ea typeface="+mj-lt"/>
                <a:cs typeface="Arial" pitchFamily="34" charset="0"/>
              </a:rPr>
              <a:t>ML</a:t>
            </a:r>
            <a:r>
              <a:rPr lang="en-US" sz="1600">
                <a:latin typeface="Arial" pitchFamily="34" charset="0"/>
                <a:ea typeface="+mj-lt"/>
                <a:cs typeface="Arial" pitchFamily="34" charset="0"/>
              </a:rPr>
              <a:t> tasks</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6926314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CDD6A73-65BB-BAD7-5019-DCD093455F4B}"/>
              </a:ext>
            </a:extLst>
          </p:cNvPr>
          <p:cNvSpPr>
            <a:spLocks noGrp="1"/>
          </p:cNvSpPr>
          <p:nvPr>
            <p:ph type="sldNum" sz="quarter" idx="12"/>
          </p:nvPr>
        </p:nvSpPr>
        <p:spPr/>
        <p:txBody>
          <a:bodyPr/>
          <a:lstStyle/>
          <a:p>
            <a:fld id="{20D4B2D9-DB10-4EB9-B7A6-032A6D4E75AC}" type="slidenum">
              <a:rPr lang="pl-PL" smtClean="0"/>
              <a:pPr/>
              <a:t>51</a:t>
            </a:fld>
            <a:endParaRPr lang="pl-PL" dirty="0"/>
          </a:p>
        </p:txBody>
      </p:sp>
      <p:sp>
        <p:nvSpPr>
          <p:cNvPr id="5" name="Rectangle 4">
            <a:extLst>
              <a:ext uri="{FF2B5EF4-FFF2-40B4-BE49-F238E27FC236}">
                <a16:creationId xmlns:a16="http://schemas.microsoft.com/office/drawing/2014/main" id="{3FDD4691-1475-0A4A-7A17-362EFFDF1219}"/>
              </a:ext>
            </a:extLst>
          </p:cNvPr>
          <p:cNvSpPr/>
          <p:nvPr/>
        </p:nvSpPr>
        <p:spPr>
          <a:xfrm>
            <a:off x="0" y="304800"/>
            <a:ext cx="11963400" cy="4154984"/>
          </a:xfrm>
          <a:prstGeom prst="rect">
            <a:avLst/>
          </a:prstGeom>
        </p:spPr>
        <p:txBody>
          <a:bodyPr wrap="square">
            <a:spAutoFit/>
          </a:bodyPr>
          <a:lstStyle/>
          <a:p>
            <a:pPr>
              <a:spcBef>
                <a:spcPts val="0"/>
              </a:spcBef>
            </a:pPr>
            <a:r>
              <a:rPr lang="pl-PL" sz="2400" b="1">
                <a:solidFill>
                  <a:srgbClr val="0000FF"/>
                </a:solidFill>
                <a:latin typeface="Arial Narrow" panose="020B0606020202030204" pitchFamily="34" charset="0"/>
                <a:cs typeface="Calibri" panose="020F0502020204030204" pitchFamily="34" charset="0"/>
              </a:rPr>
              <a:t>Reinforcement learning</a:t>
            </a:r>
            <a:r>
              <a:rPr lang="pl-PL" sz="2400">
                <a:solidFill>
                  <a:srgbClr val="000000"/>
                </a:solidFill>
                <a:latin typeface="Arial Narrow" panose="020B0606020202030204" pitchFamily="34" charset="0"/>
                <a:cs typeface="Calibri" panose="020F0502020204030204" pitchFamily="34" charset="0"/>
              </a:rPr>
              <a:t> – a</a:t>
            </a:r>
            <a:r>
              <a:rPr lang="en-US" sz="2400">
                <a:solidFill>
                  <a:srgbClr val="000000"/>
                </a:solidFill>
                <a:latin typeface="Arial Narrow" panose="020B0606020202030204" pitchFamily="34" charset="0"/>
                <a:cs typeface="Calibri" panose="020F0502020204030204" pitchFamily="34" charset="0"/>
              </a:rPr>
              <a:t>t the beginning, the model is given rules</a:t>
            </a:r>
            <a:r>
              <a:rPr lang="pl-PL" sz="2400">
                <a:solidFill>
                  <a:srgbClr val="000000"/>
                </a:solidFill>
                <a:latin typeface="Arial Narrow" panose="020B0606020202030204" pitchFamily="34" charset="0"/>
                <a:cs typeface="Calibri" panose="020F0502020204030204" pitchFamily="34" charset="0"/>
              </a:rPr>
              <a:t>. Then </a:t>
            </a:r>
            <a:r>
              <a:rPr lang="en-US" sz="2400">
                <a:solidFill>
                  <a:srgbClr val="000000"/>
                </a:solidFill>
                <a:latin typeface="Arial Narrow" panose="020B0606020202030204" pitchFamily="34" charset="0"/>
                <a:cs typeface="Calibri" panose="020F0502020204030204" pitchFamily="34" charset="0"/>
              </a:rPr>
              <a:t>model learns by trying actions and receiving rewards or penalties.</a:t>
            </a:r>
            <a:r>
              <a:rPr lang="pl-PL" sz="2400">
                <a:solidFill>
                  <a:srgbClr val="000000"/>
                </a:solidFill>
                <a:latin typeface="Arial Narrow" panose="020B0606020202030204" pitchFamily="34" charset="0"/>
                <a:cs typeface="Calibri" panose="020F0502020204030204" pitchFamily="34" charset="0"/>
              </a:rPr>
              <a:t> </a:t>
            </a:r>
          </a:p>
          <a:p>
            <a:pPr>
              <a:spcBef>
                <a:spcPts val="0"/>
              </a:spcBef>
            </a:pPr>
            <a:endParaRPr lang="pl-PL" sz="2400">
              <a:solidFill>
                <a:srgbClr val="000000"/>
              </a:solidFill>
              <a:latin typeface="Arial Narrow" panose="020B0606020202030204" pitchFamily="34" charset="0"/>
              <a:cs typeface="Calibri" panose="020F0502020204030204" pitchFamily="34" charset="0"/>
            </a:endParaRPr>
          </a:p>
          <a:p>
            <a:pPr>
              <a:spcBef>
                <a:spcPts val="0"/>
              </a:spcBef>
            </a:pPr>
            <a:r>
              <a:rPr lang="en-US" sz="2400">
                <a:solidFill>
                  <a:srgbClr val="000000"/>
                </a:solidFill>
                <a:latin typeface="Arial Narrow" panose="020B0606020202030204" pitchFamily="34" charset="0"/>
                <a:cs typeface="Calibri" panose="020F0502020204030204" pitchFamily="34" charset="0"/>
              </a:rPr>
              <a:t>In reinforcement learning, the fundamental concept is reward. The algorithm aims to maximize the reward. The system is not trained using a training dataset but learns through trial and error. </a:t>
            </a:r>
            <a:br>
              <a:rPr lang="en-US" sz="2400">
                <a:solidFill>
                  <a:srgbClr val="000000"/>
                </a:solidFill>
                <a:latin typeface="Arial Narrow" panose="020B0606020202030204" pitchFamily="34" charset="0"/>
                <a:cs typeface="Calibri" panose="020F0502020204030204" pitchFamily="34" charset="0"/>
              </a:rPr>
            </a:br>
            <a:br>
              <a:rPr lang="en-US" sz="2400">
                <a:solidFill>
                  <a:srgbClr val="000000"/>
                </a:solidFill>
                <a:latin typeface="Arial Narrow" panose="020B0606020202030204" pitchFamily="34" charset="0"/>
                <a:cs typeface="Calibri" panose="020F0502020204030204" pitchFamily="34" charset="0"/>
              </a:rPr>
            </a:br>
            <a:r>
              <a:rPr lang="en-US" sz="2400">
                <a:solidFill>
                  <a:srgbClr val="000000"/>
                </a:solidFill>
                <a:latin typeface="Arial Narrow" panose="020B0606020202030204" pitchFamily="34" charset="0"/>
                <a:cs typeface="Calibri" panose="020F0502020204030204" pitchFamily="34" charset="0"/>
              </a:rPr>
              <a:t>This technique is used primarily in games (chess, Go). It has the potential for application in autonomous vehicles, robotics, management, and education. </a:t>
            </a:r>
            <a:endParaRPr lang="pl-PL" sz="2400">
              <a:solidFill>
                <a:srgbClr val="000000"/>
              </a:solidFill>
              <a:latin typeface="Arial Narrow" panose="020B0606020202030204" pitchFamily="34" charset="0"/>
              <a:cs typeface="Calibri" panose="020F0502020204030204" pitchFamily="34" charset="0"/>
            </a:endParaRPr>
          </a:p>
          <a:p>
            <a:pPr>
              <a:spcBef>
                <a:spcPts val="0"/>
              </a:spcBef>
            </a:pPr>
            <a:endParaRPr lang="pl-PL" sz="2400">
              <a:solidFill>
                <a:srgbClr val="000000"/>
              </a:solidFill>
              <a:latin typeface="Arial Narrow" panose="020B0606020202030204" pitchFamily="34" charset="0"/>
              <a:cs typeface="Calibri" panose="020F0502020204030204" pitchFamily="34" charset="0"/>
            </a:endParaRPr>
          </a:p>
          <a:p>
            <a:pPr>
              <a:spcBef>
                <a:spcPts val="0"/>
              </a:spcBef>
            </a:pPr>
            <a:r>
              <a:rPr lang="en-US" sz="2400">
                <a:solidFill>
                  <a:srgbClr val="000000"/>
                </a:solidFill>
                <a:latin typeface="Arial Narrow" panose="020B0606020202030204" pitchFamily="34" charset="0"/>
                <a:cs typeface="Calibri" panose="020F0502020204030204" pitchFamily="34" charset="0"/>
              </a:rPr>
              <a:t>Reinforcement learning can be compared to a person who uses a device without reading the user manual</a:t>
            </a:r>
            <a:r>
              <a:rPr lang="pl-PL" sz="2400">
                <a:solidFill>
                  <a:srgbClr val="000000"/>
                </a:solidFill>
                <a:latin typeface="Arial Narrow" panose="020B0606020202030204" pitchFamily="34" charset="0"/>
                <a:cs typeface="Calibri" panose="020F0502020204030204" pitchFamily="34" charset="0"/>
              </a:rPr>
              <a:t> – </a:t>
            </a:r>
            <a:r>
              <a:rPr lang="en-US" sz="2400">
                <a:solidFill>
                  <a:srgbClr val="000000"/>
                </a:solidFill>
                <a:latin typeface="Arial Narrow" panose="020B0606020202030204" pitchFamily="34" charset="0"/>
                <a:cs typeface="Calibri" panose="020F0502020204030204" pitchFamily="34" charset="0"/>
              </a:rPr>
              <a:t>they learn how to use it through trial and error.</a:t>
            </a:r>
            <a:endParaRPr lang="en-US" sz="2400" dirty="0"/>
          </a:p>
        </p:txBody>
      </p:sp>
      <p:sp>
        <p:nvSpPr>
          <p:cNvPr id="6" name="Rectangle 2">
            <a:extLst>
              <a:ext uri="{FF2B5EF4-FFF2-40B4-BE49-F238E27FC236}">
                <a16:creationId xmlns:a16="http://schemas.microsoft.com/office/drawing/2014/main" id="{E11B3ABD-3FEA-3EF6-D715-0438CD7239BA}"/>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en-US" sz="1600">
                <a:latin typeface="Arial" pitchFamily="34" charset="0"/>
                <a:ea typeface="+mj-lt"/>
                <a:cs typeface="Arial" pitchFamily="34" charset="0"/>
              </a:rPr>
              <a:t>Types of </a:t>
            </a:r>
            <a:r>
              <a:rPr lang="pl-PL" sz="1600">
                <a:latin typeface="Arial" pitchFamily="34" charset="0"/>
                <a:ea typeface="+mj-lt"/>
                <a:cs typeface="Arial" pitchFamily="34" charset="0"/>
              </a:rPr>
              <a:t>ML</a:t>
            </a:r>
            <a:r>
              <a:rPr lang="en-US" sz="1600">
                <a:latin typeface="Arial" pitchFamily="34" charset="0"/>
                <a:ea typeface="+mj-lt"/>
                <a:cs typeface="Arial" pitchFamily="34" charset="0"/>
              </a:rPr>
              <a:t> tasks</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16138395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FF2977E-3268-9091-8222-07509FBC63BF}"/>
              </a:ext>
            </a:extLst>
          </p:cNvPr>
          <p:cNvSpPr>
            <a:spLocks noGrp="1"/>
          </p:cNvSpPr>
          <p:nvPr>
            <p:ph type="sldNum" sz="quarter" idx="12"/>
          </p:nvPr>
        </p:nvSpPr>
        <p:spPr/>
        <p:txBody>
          <a:bodyPr/>
          <a:lstStyle/>
          <a:p>
            <a:fld id="{20D4B2D9-DB10-4EB9-B7A6-032A6D4E75AC}" type="slidenum">
              <a:rPr lang="pl-PL" smtClean="0"/>
              <a:pPr/>
              <a:t>52</a:t>
            </a:fld>
            <a:endParaRPr lang="pl-PL" dirty="0"/>
          </a:p>
        </p:txBody>
      </p:sp>
      <p:sp>
        <p:nvSpPr>
          <p:cNvPr id="3" name="Prostokąt 4">
            <a:extLst>
              <a:ext uri="{FF2B5EF4-FFF2-40B4-BE49-F238E27FC236}">
                <a16:creationId xmlns:a16="http://schemas.microsoft.com/office/drawing/2014/main" id="{D8B06832-1F7D-0CC0-079C-3DB70DAC8CD8}"/>
              </a:ext>
            </a:extLst>
          </p:cNvPr>
          <p:cNvSpPr/>
          <p:nvPr/>
        </p:nvSpPr>
        <p:spPr>
          <a:xfrm>
            <a:off x="1534886" y="472857"/>
            <a:ext cx="8915400" cy="2923877"/>
          </a:xfrm>
          <a:prstGeom prst="rect">
            <a:avLst/>
          </a:prstGeom>
        </p:spPr>
        <p:txBody>
          <a:bodyPr wrap="square">
            <a:spAutoFit/>
          </a:bodyPr>
          <a:lstStyle/>
          <a:p>
            <a:r>
              <a:rPr lang="pl-PL" sz="3200" b="1">
                <a:solidFill>
                  <a:srgbClr val="0000FF"/>
                </a:solidFill>
                <a:latin typeface="Arial Narrow" panose="020B0606020202030204" pitchFamily="34" charset="0"/>
                <a:cs typeface="Calibri" panose="020F0502020204030204" pitchFamily="34" charset="0"/>
              </a:rPr>
              <a:t>The t</a:t>
            </a:r>
            <a:r>
              <a:rPr lang="en-US" sz="3200" b="1">
                <a:solidFill>
                  <a:srgbClr val="0000FF"/>
                </a:solidFill>
                <a:latin typeface="Arial Narrow" panose="020B0606020202030204" pitchFamily="34" charset="0"/>
                <a:cs typeface="Calibri" panose="020F0502020204030204" pitchFamily="34" charset="0"/>
              </a:rPr>
              <a:t>ypes of </a:t>
            </a:r>
            <a:r>
              <a:rPr lang="pl-PL" sz="3200" b="1">
                <a:solidFill>
                  <a:srgbClr val="0000FF"/>
                </a:solidFill>
                <a:latin typeface="Arial Narrow" panose="020B0606020202030204" pitchFamily="34" charset="0"/>
                <a:cs typeface="Calibri" panose="020F0502020204030204" pitchFamily="34" charset="0"/>
              </a:rPr>
              <a:t>M</a:t>
            </a:r>
            <a:r>
              <a:rPr lang="en-US" sz="3200" b="1">
                <a:solidFill>
                  <a:srgbClr val="0000FF"/>
                </a:solidFill>
                <a:latin typeface="Arial Narrow" panose="020B0606020202030204" pitchFamily="34" charset="0"/>
                <a:cs typeface="Calibri" panose="020F0502020204030204" pitchFamily="34" charset="0"/>
              </a:rPr>
              <a:t>achine </a:t>
            </a:r>
            <a:r>
              <a:rPr lang="pl-PL" sz="3200" b="1">
                <a:solidFill>
                  <a:srgbClr val="0000FF"/>
                </a:solidFill>
                <a:latin typeface="Arial Narrow" panose="020B0606020202030204" pitchFamily="34" charset="0"/>
                <a:cs typeface="Calibri" panose="020F0502020204030204" pitchFamily="34" charset="0"/>
              </a:rPr>
              <a:t>L</a:t>
            </a:r>
            <a:r>
              <a:rPr lang="en-US" sz="3200" b="1">
                <a:solidFill>
                  <a:srgbClr val="0000FF"/>
                </a:solidFill>
                <a:latin typeface="Arial Narrow" panose="020B0606020202030204" pitchFamily="34" charset="0"/>
                <a:cs typeface="Calibri" panose="020F0502020204030204" pitchFamily="34" charset="0"/>
              </a:rPr>
              <a:t>earning tasks</a:t>
            </a:r>
            <a:r>
              <a:rPr lang="pl-PL" sz="3200" b="1">
                <a:solidFill>
                  <a:srgbClr val="0000FF"/>
                </a:solidFill>
                <a:latin typeface="Arial Narrow" panose="020B0606020202030204" pitchFamily="34" charset="0"/>
                <a:cs typeface="Calibri" panose="020F0502020204030204" pitchFamily="34" charset="0"/>
              </a:rPr>
              <a:t>:</a:t>
            </a:r>
          </a:p>
          <a:p>
            <a:pPr marL="355600" indent="-355600">
              <a:buFont typeface="+mj-lt"/>
              <a:buAutoNum type="arabicPeriod"/>
            </a:pPr>
            <a:r>
              <a:rPr lang="en-US" sz="3200">
                <a:latin typeface="Arial Narrow" panose="020B0606020202030204" pitchFamily="34" charset="0"/>
                <a:cs typeface="Calibri" panose="020F0502020204030204" pitchFamily="34" charset="0"/>
              </a:rPr>
              <a:t>Based on the type of </a:t>
            </a:r>
            <a:r>
              <a:rPr lang="pl-PL" sz="3200">
                <a:latin typeface="Arial Narrow" panose="020B0606020202030204" pitchFamily="34" charset="0"/>
                <a:cs typeface="Calibri" panose="020F0502020204030204" pitchFamily="34" charset="0"/>
              </a:rPr>
              <a:t>the </a:t>
            </a:r>
            <a:r>
              <a:rPr lang="en-US" sz="3200">
                <a:latin typeface="Arial Narrow" panose="020B0606020202030204" pitchFamily="34" charset="0"/>
                <a:cs typeface="Calibri" panose="020F0502020204030204" pitchFamily="34" charset="0"/>
              </a:rPr>
              <a:t>problem being solved</a:t>
            </a:r>
            <a:endParaRPr lang="pl-PL" sz="3200">
              <a:latin typeface="Arial Narrow" panose="020B0606020202030204" pitchFamily="34" charset="0"/>
              <a:cs typeface="Calibri" panose="020F0502020204030204" pitchFamily="34" charset="0"/>
            </a:endParaRPr>
          </a:p>
          <a:p>
            <a:pPr marL="355600" indent="-355600">
              <a:buFont typeface="+mj-lt"/>
              <a:buAutoNum type="arabicPeriod"/>
            </a:pPr>
            <a:r>
              <a:rPr lang="en-US" sz="3200">
                <a:latin typeface="Arial Narrow" panose="020B0606020202030204" pitchFamily="34" charset="0"/>
                <a:cs typeface="Calibri" panose="020F0502020204030204" pitchFamily="34" charset="0"/>
              </a:rPr>
              <a:t>Based on the learning method</a:t>
            </a:r>
            <a:endParaRPr lang="pl-PL" sz="3200">
              <a:latin typeface="Arial Narrow" panose="020B0606020202030204" pitchFamily="34" charset="0"/>
              <a:cs typeface="Calibri" panose="020F0502020204030204" pitchFamily="34" charset="0"/>
            </a:endParaRPr>
          </a:p>
          <a:p>
            <a:pPr marL="355600" indent="-355600">
              <a:buFont typeface="+mj-lt"/>
              <a:buAutoNum type="arabicPeriod"/>
            </a:pPr>
            <a:r>
              <a:rPr lang="en-US" sz="3200">
                <a:solidFill>
                  <a:srgbClr val="0000FF"/>
                </a:solidFill>
                <a:latin typeface="Arial Narrow" panose="020B0606020202030204" pitchFamily="34" charset="0"/>
                <a:cs typeface="Calibri" panose="020F0502020204030204" pitchFamily="34" charset="0"/>
              </a:rPr>
              <a:t>Based on the method of data streaming</a:t>
            </a:r>
            <a:endParaRPr lang="pl-PL" sz="2800">
              <a:solidFill>
                <a:srgbClr val="0000FF"/>
              </a:solidFill>
              <a:latin typeface="Arial Narrow" panose="020B0606020202030204" pitchFamily="34" charset="0"/>
              <a:cs typeface="Calibri" panose="020F0502020204030204" pitchFamily="34" charset="0"/>
            </a:endParaRPr>
          </a:p>
          <a:p>
            <a:endParaRPr lang="pl-PL" sz="2800" b="1">
              <a:solidFill>
                <a:srgbClr val="0000FF"/>
              </a:solidFill>
              <a:latin typeface="Arial Narrow" panose="020B0606020202030204" pitchFamily="34" charset="0"/>
              <a:cs typeface="Calibri" panose="020F0502020204030204" pitchFamily="34" charset="0"/>
            </a:endParaRPr>
          </a:p>
          <a:p>
            <a:endParaRPr lang="pl-PL" sz="2800" dirty="0">
              <a:solidFill>
                <a:srgbClr val="0000FF"/>
              </a:solidFill>
              <a:latin typeface="Arial Narrow" panose="020B0606020202030204" pitchFamily="34" charset="0"/>
              <a:cs typeface="Calibri" panose="020F0502020204030204" pitchFamily="34" charset="0"/>
            </a:endParaRPr>
          </a:p>
        </p:txBody>
      </p:sp>
    </p:spTree>
    <p:extLst>
      <p:ext uri="{BB962C8B-B14F-4D97-AF65-F5344CB8AC3E}">
        <p14:creationId xmlns:p14="http://schemas.microsoft.com/office/powerpoint/2010/main" val="34168229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fld id="{20D4B2D9-DB10-4EB9-B7A6-032A6D4E75AC}" type="slidenum">
              <a:rPr lang="pl-PL" smtClean="0"/>
              <a:pPr/>
              <a:t>53</a:t>
            </a:fld>
            <a:endParaRPr lang="pl-PL" dirty="0"/>
          </a:p>
        </p:txBody>
      </p:sp>
      <p:sp>
        <p:nvSpPr>
          <p:cNvPr id="6" name="Rectangle 4">
            <a:extLst>
              <a:ext uri="{FF2B5EF4-FFF2-40B4-BE49-F238E27FC236}">
                <a16:creationId xmlns:a16="http://schemas.microsoft.com/office/drawing/2014/main" id="{82C72AA5-E19F-44A0-BF55-1D4044BB9377}"/>
              </a:ext>
            </a:extLst>
          </p:cNvPr>
          <p:cNvSpPr/>
          <p:nvPr/>
        </p:nvSpPr>
        <p:spPr>
          <a:xfrm>
            <a:off x="0" y="304800"/>
            <a:ext cx="12039600" cy="4955203"/>
          </a:xfrm>
          <a:prstGeom prst="rect">
            <a:avLst/>
          </a:prstGeom>
        </p:spPr>
        <p:txBody>
          <a:bodyPr wrap="square">
            <a:spAutoFit/>
          </a:bodyPr>
          <a:lstStyle/>
          <a:p>
            <a:r>
              <a:rPr lang="pl-PL" sz="2400" b="1">
                <a:solidFill>
                  <a:srgbClr val="000000"/>
                </a:solidFill>
                <a:latin typeface="Arial Narrow" panose="020B0606020202030204" pitchFamily="34" charset="0"/>
                <a:cs typeface="Calibri" panose="020F0502020204030204" pitchFamily="34" charset="0"/>
              </a:rPr>
              <a:t>T</a:t>
            </a:r>
            <a:r>
              <a:rPr lang="en-US" sz="2400" b="1">
                <a:solidFill>
                  <a:srgbClr val="000000"/>
                </a:solidFill>
                <a:latin typeface="Arial Narrow" panose="020B0606020202030204" pitchFamily="34" charset="0"/>
                <a:cs typeface="Calibri" panose="020F0502020204030204" pitchFamily="34" charset="0"/>
              </a:rPr>
              <a:t>ypes of machine learning tasks based on how the data stream is </a:t>
            </a:r>
            <a:r>
              <a:rPr lang="pl-PL" sz="2400" b="1">
                <a:solidFill>
                  <a:srgbClr val="000000"/>
                </a:solidFill>
                <a:latin typeface="Arial Narrow" panose="020B0606020202030204" pitchFamily="34" charset="0"/>
                <a:cs typeface="Calibri" panose="020F0502020204030204" pitchFamily="34" charset="0"/>
              </a:rPr>
              <a:t>delivered</a:t>
            </a:r>
            <a:r>
              <a:rPr lang="en-US" sz="2400" b="1">
                <a:solidFill>
                  <a:srgbClr val="000000"/>
                </a:solidFill>
                <a:latin typeface="Arial Narrow" panose="020B0606020202030204" pitchFamily="34" charset="0"/>
                <a:cs typeface="Calibri" panose="020F0502020204030204" pitchFamily="34" charset="0"/>
              </a:rPr>
              <a:t>:</a:t>
            </a:r>
            <a:endParaRPr lang="pl-PL" sz="2400" b="1" dirty="0">
              <a:solidFill>
                <a:srgbClr val="000000"/>
              </a:solidFill>
              <a:latin typeface="Arial Narrow" panose="020B0606020202030204" pitchFamily="34" charset="0"/>
              <a:cs typeface="Calibri" panose="020F0502020204030204" pitchFamily="34" charset="0"/>
            </a:endParaRPr>
          </a:p>
          <a:p>
            <a:endParaRPr lang="pl-PL" sz="2000" b="1">
              <a:solidFill>
                <a:srgbClr val="000000"/>
              </a:solidFill>
              <a:latin typeface="Arial Narrow" panose="020B0606020202030204" pitchFamily="34" charset="0"/>
              <a:cs typeface="Calibri" panose="020F0502020204030204" pitchFamily="34" charset="0"/>
            </a:endParaRPr>
          </a:p>
          <a:p>
            <a:r>
              <a:rPr lang="pl-PL" sz="2400" b="1">
                <a:solidFill>
                  <a:srgbClr val="000000"/>
                </a:solidFill>
                <a:latin typeface="Arial Narrow" panose="020B0606020202030204" pitchFamily="34" charset="0"/>
                <a:cs typeface="Calibri" panose="020F0502020204030204" pitchFamily="34" charset="0"/>
              </a:rPr>
              <a:t>1. Batch learning</a:t>
            </a:r>
            <a:endParaRPr lang="pl-PL" sz="2400" b="1" dirty="0">
              <a:solidFill>
                <a:srgbClr val="000000"/>
              </a:solidFill>
              <a:latin typeface="Arial Narrow" panose="020B0606020202030204" pitchFamily="34" charset="0"/>
              <a:cs typeface="Calibri" panose="020F0502020204030204" pitchFamily="34" charset="0"/>
            </a:endParaRPr>
          </a:p>
          <a:p>
            <a:r>
              <a:rPr lang="en-US" sz="2000">
                <a:latin typeface="Arial Narrow" panose="020B0606020202030204" pitchFamily="34" charset="0"/>
              </a:rPr>
              <a:t>All available data is used for training. The system is first trained and then deployed to the production cycle, after which it is no longer trained. This type of training usually takes place offline.</a:t>
            </a:r>
            <a:r>
              <a:rPr lang="pl-PL" sz="2000">
                <a:latin typeface="Arial Narrow" panose="020B0606020202030204" pitchFamily="34" charset="0"/>
              </a:rPr>
              <a:t> </a:t>
            </a:r>
            <a:r>
              <a:rPr lang="en-US" sz="2000">
                <a:latin typeface="Arial Narrow" panose="020B0606020202030204" pitchFamily="34" charset="0"/>
              </a:rPr>
              <a:t>If new data becomes available, the model must be retrained from scratch using all available data, and then the old model is replaced with the new one.</a:t>
            </a:r>
            <a:endParaRPr lang="pl-PL" sz="2000" dirty="0">
              <a:latin typeface="Arial Narrow" panose="020B0606020202030204" pitchFamily="34" charset="0"/>
            </a:endParaRPr>
          </a:p>
          <a:p>
            <a:endParaRPr lang="pl-PL" sz="2000" dirty="0">
              <a:latin typeface="Arial Narrow" panose="020B0606020202030204" pitchFamily="34" charset="0"/>
            </a:endParaRPr>
          </a:p>
          <a:p>
            <a:r>
              <a:rPr lang="pl-PL" sz="2400" b="1">
                <a:solidFill>
                  <a:srgbClr val="000000"/>
                </a:solidFill>
                <a:latin typeface="Arial Narrow" panose="020B0606020202030204" pitchFamily="34" charset="0"/>
                <a:cs typeface="Calibri" panose="020F0502020204030204" pitchFamily="34" charset="0"/>
              </a:rPr>
              <a:t>2. Online learning</a:t>
            </a:r>
            <a:endParaRPr lang="pl-PL" sz="2400" dirty="0">
              <a:latin typeface="Arial Narrow" panose="020B0606020202030204" pitchFamily="34" charset="0"/>
            </a:endParaRPr>
          </a:p>
          <a:p>
            <a:r>
              <a:rPr lang="en-US" sz="2000">
                <a:latin typeface="Arial Narrow" panose="020B0606020202030204" pitchFamily="34" charset="0"/>
              </a:rPr>
              <a:t>The system is trained on an ongoing basis through the sequential delivery of data.</a:t>
            </a:r>
            <a:endParaRPr lang="pl-PL" sz="2000" dirty="0">
              <a:latin typeface="Arial Narrow" panose="020B0606020202030204" pitchFamily="34" charset="0"/>
            </a:endParaRPr>
          </a:p>
          <a:p>
            <a:endParaRPr lang="pl-PL" sz="2000">
              <a:latin typeface="Arial Narrow" panose="020B0606020202030204" pitchFamily="34" charset="0"/>
            </a:endParaRPr>
          </a:p>
          <a:p>
            <a:r>
              <a:rPr lang="pl-PL" sz="2400" b="1">
                <a:solidFill>
                  <a:srgbClr val="000000"/>
                </a:solidFill>
                <a:latin typeface="Arial Narrow" panose="020B0606020202030204" pitchFamily="34" charset="0"/>
                <a:cs typeface="Calibri" panose="020F0502020204030204" pitchFamily="34" charset="0"/>
              </a:rPr>
              <a:t>3. Transfer learning</a:t>
            </a:r>
          </a:p>
          <a:p>
            <a:r>
              <a:rPr lang="en-US" sz="2000">
                <a:latin typeface="Arial Narrow" panose="020B0606020202030204" pitchFamily="34" charset="0"/>
              </a:rPr>
              <a:t>It involves using the knowledge gained from solving one task and applying it to solve another (in a related domain). </a:t>
            </a:r>
            <a:endParaRPr lang="pl-PL" sz="2000">
              <a:latin typeface="Arial Narrow" panose="020B0606020202030204" pitchFamily="34" charset="0"/>
            </a:endParaRPr>
          </a:p>
          <a:p>
            <a:r>
              <a:rPr lang="en-US" sz="2000">
                <a:latin typeface="Arial Narrow" panose="020B0606020202030204" pitchFamily="34" charset="0"/>
              </a:rPr>
              <a:t>This allows for better results, faster model training times, and savings in computational resources. </a:t>
            </a:r>
            <a:endParaRPr lang="pl-PL" sz="2000">
              <a:latin typeface="Arial Narrow" panose="020B0606020202030204" pitchFamily="34" charset="0"/>
            </a:endParaRPr>
          </a:p>
          <a:p>
            <a:r>
              <a:rPr lang="en-US" sz="2000">
                <a:latin typeface="Arial Narrow" panose="020B0606020202030204" pitchFamily="34" charset="0"/>
              </a:rPr>
              <a:t>Applying this technique is not trivial. It will only work in situations where the learned representations and data structures are well-generalized, and the domains of both tasks are related.</a:t>
            </a:r>
            <a:endParaRPr lang="pl-PL" sz="2000" b="1" dirty="0">
              <a:solidFill>
                <a:srgbClr val="000000"/>
              </a:solidFill>
              <a:latin typeface="Arial Narrow" panose="020B0606020202030204" pitchFamily="34" charset="0"/>
              <a:cs typeface="Calibri" panose="020F0502020204030204" pitchFamily="34" charset="0"/>
            </a:endParaRPr>
          </a:p>
        </p:txBody>
      </p:sp>
      <p:sp>
        <p:nvSpPr>
          <p:cNvPr id="5" name="Rectangle 2">
            <a:extLst>
              <a:ext uri="{FF2B5EF4-FFF2-40B4-BE49-F238E27FC236}">
                <a16:creationId xmlns:a16="http://schemas.microsoft.com/office/drawing/2014/main" id="{82050AFF-E3F8-043D-AD06-B5E946519183}"/>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en-US" sz="1600">
                <a:latin typeface="Arial" pitchFamily="34" charset="0"/>
                <a:ea typeface="+mj-lt"/>
                <a:cs typeface="Arial" pitchFamily="34" charset="0"/>
              </a:rPr>
              <a:t>Types of </a:t>
            </a:r>
            <a:r>
              <a:rPr lang="pl-PL" sz="1600">
                <a:latin typeface="Arial" pitchFamily="34" charset="0"/>
                <a:ea typeface="+mj-lt"/>
                <a:cs typeface="Arial" pitchFamily="34" charset="0"/>
              </a:rPr>
              <a:t>ML</a:t>
            </a:r>
            <a:r>
              <a:rPr lang="en-US" sz="1600">
                <a:latin typeface="Arial" pitchFamily="34" charset="0"/>
                <a:ea typeface="+mj-lt"/>
                <a:cs typeface="Arial" pitchFamily="34" charset="0"/>
              </a:rPr>
              <a:t> tasks</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38630061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809319C-0545-E365-36EE-3217B2DE598C}"/>
              </a:ext>
            </a:extLst>
          </p:cNvPr>
          <p:cNvSpPr>
            <a:spLocks noGrp="1"/>
          </p:cNvSpPr>
          <p:nvPr>
            <p:ph type="sldNum" sz="quarter" idx="12"/>
          </p:nvPr>
        </p:nvSpPr>
        <p:spPr/>
        <p:txBody>
          <a:bodyPr/>
          <a:lstStyle/>
          <a:p>
            <a:fld id="{20D4B2D9-DB10-4EB9-B7A6-032A6D4E75AC}" type="slidenum">
              <a:rPr lang="pl-PL" smtClean="0"/>
              <a:pPr/>
              <a:t>54</a:t>
            </a:fld>
            <a:endParaRPr lang="pl-PL" dirty="0"/>
          </a:p>
        </p:txBody>
      </p:sp>
      <p:graphicFrame>
        <p:nvGraphicFramePr>
          <p:cNvPr id="6" name="Table 5">
            <a:extLst>
              <a:ext uri="{FF2B5EF4-FFF2-40B4-BE49-F238E27FC236}">
                <a16:creationId xmlns:a16="http://schemas.microsoft.com/office/drawing/2014/main" id="{4AB0D121-5205-91FF-201F-4E2AD5940C9B}"/>
              </a:ext>
            </a:extLst>
          </p:cNvPr>
          <p:cNvGraphicFramePr>
            <a:graphicFrameLocks noGrp="1"/>
          </p:cNvGraphicFramePr>
          <p:nvPr>
            <p:extLst>
              <p:ext uri="{D42A27DB-BD31-4B8C-83A1-F6EECF244321}">
                <p14:modId xmlns:p14="http://schemas.microsoft.com/office/powerpoint/2010/main" val="3653777333"/>
              </p:ext>
            </p:extLst>
          </p:nvPr>
        </p:nvGraphicFramePr>
        <p:xfrm>
          <a:off x="2743200" y="1295400"/>
          <a:ext cx="6705600" cy="5029200"/>
        </p:xfrm>
        <a:graphic>
          <a:graphicData uri="http://schemas.openxmlformats.org/drawingml/2006/table">
            <a:tbl>
              <a:tblPr/>
              <a:tblGrid>
                <a:gridCol w="1600200">
                  <a:extLst>
                    <a:ext uri="{9D8B030D-6E8A-4147-A177-3AD203B41FA5}">
                      <a16:colId xmlns:a16="http://schemas.microsoft.com/office/drawing/2014/main" val="401101533"/>
                    </a:ext>
                  </a:extLst>
                </a:gridCol>
                <a:gridCol w="1676400">
                  <a:extLst>
                    <a:ext uri="{9D8B030D-6E8A-4147-A177-3AD203B41FA5}">
                      <a16:colId xmlns:a16="http://schemas.microsoft.com/office/drawing/2014/main" val="2621035504"/>
                    </a:ext>
                  </a:extLst>
                </a:gridCol>
                <a:gridCol w="1828800">
                  <a:extLst>
                    <a:ext uri="{9D8B030D-6E8A-4147-A177-3AD203B41FA5}">
                      <a16:colId xmlns:a16="http://schemas.microsoft.com/office/drawing/2014/main" val="43639714"/>
                    </a:ext>
                  </a:extLst>
                </a:gridCol>
                <a:gridCol w="1600200">
                  <a:extLst>
                    <a:ext uri="{9D8B030D-6E8A-4147-A177-3AD203B41FA5}">
                      <a16:colId xmlns:a16="http://schemas.microsoft.com/office/drawing/2014/main" val="2269007487"/>
                    </a:ext>
                  </a:extLst>
                </a:gridCol>
              </a:tblGrid>
              <a:tr h="0">
                <a:tc gridSpan="2">
                  <a:txBody>
                    <a:bodyPr/>
                    <a:lstStyle/>
                    <a:p>
                      <a:pPr algn="ctr">
                        <a:buNone/>
                      </a:pPr>
                      <a:r>
                        <a:rPr lang="pl-PL" sz="2000" b="1">
                          <a:latin typeface="Arial Narrow" panose="020B0606020202030204" pitchFamily="34" charset="0"/>
                        </a:rPr>
                        <a:t>Type </a:t>
                      </a:r>
                      <a:br>
                        <a:rPr lang="pl-PL" sz="2000" b="1">
                          <a:latin typeface="Arial Narrow" panose="020B0606020202030204" pitchFamily="34" charset="0"/>
                        </a:rPr>
                      </a:br>
                      <a:r>
                        <a:rPr lang="pl-PL" sz="2000" b="1">
                          <a:latin typeface="Arial Narrow" panose="020B0606020202030204" pitchFamily="34" charset="0"/>
                        </a:rPr>
                        <a:t>of the problem being solved</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buNone/>
                      </a:pPr>
                      <a:endParaRPr lang="pl-PL" sz="2000" b="1">
                        <a:latin typeface="Arial Narrow" panose="020B0606020202030204" pitchFamily="34"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pl-PL" sz="2000" b="1">
                          <a:latin typeface="Arial Narrow" panose="020B0606020202030204" pitchFamily="34" charset="0"/>
                        </a:rPr>
                        <a:t>Learning</a:t>
                      </a:r>
                      <a:br>
                        <a:rPr lang="pl-PL" sz="2000" b="1">
                          <a:latin typeface="Arial Narrow" panose="020B0606020202030204" pitchFamily="34" charset="0"/>
                        </a:rPr>
                      </a:br>
                      <a:r>
                        <a:rPr lang="pl-PL" sz="2000" b="1">
                          <a:latin typeface="Arial Narrow" panose="020B0606020202030204" pitchFamily="34" charset="0"/>
                        </a:rPr>
                        <a:t>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pl-PL" sz="2000" b="1">
                          <a:latin typeface="Arial Narrow" panose="020B0606020202030204" pitchFamily="34" charset="0"/>
                        </a:rPr>
                        <a:t>Data streaming</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88361258"/>
                  </a:ext>
                </a:extLst>
              </a:tr>
              <a:tr h="0">
                <a:tc>
                  <a:txBody>
                    <a:bodyPr/>
                    <a:lstStyle/>
                    <a:p>
                      <a:pPr>
                        <a:buNone/>
                      </a:pPr>
                      <a:r>
                        <a:rPr lang="pl-PL" sz="2000">
                          <a:latin typeface="Arial Narrow" panose="020B0606020202030204" pitchFamily="34" charset="0"/>
                        </a:rPr>
                        <a:t>Classification</a:t>
                      </a:r>
                    </a:p>
                  </a:txBody>
                  <a:tcPr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pl-PL" sz="2000">
                          <a:latin typeface="Arial Narrow" panose="020B0606020202030204" pitchFamily="34" charset="0"/>
                        </a:rPr>
                        <a:t>binary</a:t>
                      </a:r>
                    </a:p>
                    <a:p>
                      <a:pPr>
                        <a:buNone/>
                      </a:pPr>
                      <a:r>
                        <a:rPr lang="pl-PL" sz="2000">
                          <a:latin typeface="Arial Narrow" panose="020B0606020202030204" pitchFamily="34" charset="0"/>
                        </a:rPr>
                        <a:t>multiclass</a:t>
                      </a:r>
                    </a:p>
                    <a:p>
                      <a:pPr>
                        <a:buNone/>
                      </a:pPr>
                      <a:r>
                        <a:rPr lang="pl-PL" sz="2000">
                          <a:latin typeface="Arial Narrow" panose="020B0606020202030204" pitchFamily="34" charset="0"/>
                        </a:rPr>
                        <a:t>multilabel</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pl-PL" sz="2000">
                          <a:latin typeface="Arial Narrow" panose="020B0606020202030204" pitchFamily="34" charset="0"/>
                        </a:rPr>
                        <a:t>Supervised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buNone/>
                      </a:pPr>
                      <a:r>
                        <a:rPr lang="pl-PL" sz="2000">
                          <a:latin typeface="Arial Narrow" panose="020B0606020202030204" pitchFamily="34" charset="0"/>
                        </a:rPr>
                        <a:t>Batch</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2678092383"/>
                  </a:ext>
                </a:extLst>
              </a:tr>
              <a:tr h="0">
                <a:tc>
                  <a:txBody>
                    <a:bodyPr/>
                    <a:lstStyle/>
                    <a:p>
                      <a:pPr>
                        <a:buNone/>
                      </a:pPr>
                      <a:r>
                        <a:rPr lang="pl-PL" sz="2000">
                          <a:latin typeface="Arial Narrow" panose="020B0606020202030204" pitchFamily="34" charset="0"/>
                        </a:rPr>
                        <a:t>Regression</a:t>
                      </a:r>
                    </a:p>
                  </a:txBody>
                  <a:tcPr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pl-PL" sz="2000">
                          <a:latin typeface="Arial Narrow" panose="020B0606020202030204" pitchFamily="34" charset="0"/>
                        </a:rPr>
                        <a:t>scalar</a:t>
                      </a:r>
                    </a:p>
                    <a:p>
                      <a:pPr>
                        <a:buNone/>
                      </a:pPr>
                      <a:r>
                        <a:rPr lang="pl-PL" sz="2000">
                          <a:latin typeface="Arial Narrow" panose="020B0606020202030204" pitchFamily="34" charset="0"/>
                        </a:rPr>
                        <a:t>vector</a:t>
                      </a:r>
                    </a:p>
                    <a:p>
                      <a:pPr>
                        <a:buNone/>
                      </a:pPr>
                      <a:r>
                        <a:rPr lang="pl-PL" sz="2000">
                          <a:latin typeface="Arial Narrow" panose="020B0606020202030204" pitchFamily="34" charset="0"/>
                        </a:rPr>
                        <a:t>single factor</a:t>
                      </a:r>
                    </a:p>
                    <a:p>
                      <a:pPr>
                        <a:buNone/>
                      </a:pPr>
                      <a:r>
                        <a:rPr lang="pl-PL" sz="2000">
                          <a:latin typeface="Arial Narrow" panose="020B0606020202030204" pitchFamily="34" charset="0"/>
                        </a:rPr>
                        <a:t>multi factor</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pl-PL" sz="2000">
                          <a:latin typeface="Arial Narrow" panose="020B0606020202030204" pitchFamily="34" charset="0"/>
                        </a:rPr>
                        <a:t>Unsupervised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buNone/>
                      </a:pPr>
                      <a:r>
                        <a:rPr lang="pl-PL" sz="2000">
                          <a:latin typeface="Arial Narrow" panose="020B0606020202030204" pitchFamily="34" charset="0"/>
                        </a:rPr>
                        <a:t>Online</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459732986"/>
                  </a:ext>
                </a:extLst>
              </a:tr>
              <a:tr h="0">
                <a:tc>
                  <a:txBody>
                    <a:bodyPr/>
                    <a:lstStyle/>
                    <a:p>
                      <a:pPr>
                        <a:buNone/>
                      </a:pPr>
                      <a:endParaRPr lang="pl-PL" sz="2000">
                        <a:latin typeface="Arial Narrow" panose="020B0606020202030204" pitchFamily="34" charset="0"/>
                      </a:endParaRPr>
                    </a:p>
                    <a:p>
                      <a:pPr>
                        <a:buNone/>
                      </a:pPr>
                      <a:r>
                        <a:rPr lang="pl-PL" sz="2000">
                          <a:latin typeface="Arial Narrow" panose="020B0606020202030204" pitchFamily="34" charset="0"/>
                        </a:rPr>
                        <a:t>Clustering</a:t>
                      </a:r>
                    </a:p>
                    <a:p>
                      <a:pPr>
                        <a:buNone/>
                      </a:pPr>
                      <a:endParaRPr lang="pl-PL" sz="2000">
                        <a:latin typeface="Arial Narrow" panose="020B0606020202030204" pitchFamily="34" charset="0"/>
                      </a:endParaRPr>
                    </a:p>
                  </a:txBody>
                  <a:tcPr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endParaRPr lang="pl-PL" sz="2000">
                        <a:latin typeface="Arial Narrow" panose="020B060602020203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buNone/>
                      </a:pPr>
                      <a:r>
                        <a:rPr lang="pl-PL" sz="2000">
                          <a:latin typeface="Arial Narrow" panose="020B0606020202030204" pitchFamily="34" charset="0"/>
                        </a:rPr>
                        <a:t>Semi-supervised</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buNone/>
                      </a:pPr>
                      <a:r>
                        <a:rPr lang="pl-PL" sz="2000">
                          <a:latin typeface="Arial Narrow" panose="020B0606020202030204" pitchFamily="34" charset="0"/>
                        </a:rPr>
                        <a:t>Transfer</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56252641"/>
                  </a:ext>
                </a:extLst>
              </a:tr>
              <a:tr h="0">
                <a:tc>
                  <a:txBody>
                    <a:bodyPr/>
                    <a:lstStyle/>
                    <a:p>
                      <a:pPr>
                        <a:buNone/>
                      </a:pPr>
                      <a:endParaRPr lang="pl-PL" sz="2000">
                        <a:latin typeface="Arial Narrow" panose="020B0606020202030204" pitchFamily="34" charset="0"/>
                      </a:endParaRPr>
                    </a:p>
                  </a:txBody>
                  <a:tcPr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buNone/>
                      </a:pPr>
                      <a:endParaRPr lang="pl-PL" sz="2000">
                        <a:latin typeface="Arial Narrow" panose="020B060602020203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buNone/>
                      </a:pPr>
                      <a:endParaRPr lang="pl-PL" sz="2000">
                        <a:latin typeface="Arial Narrow" panose="020B0606020202030204" pitchFamily="34" charset="0"/>
                      </a:endParaRPr>
                    </a:p>
                    <a:p>
                      <a:pPr>
                        <a:buNone/>
                      </a:pPr>
                      <a:r>
                        <a:rPr lang="pl-PL" sz="2000">
                          <a:latin typeface="Arial Narrow" panose="020B0606020202030204" pitchFamily="34" charset="0"/>
                        </a:rPr>
                        <a:t>Reinforcement</a:t>
                      </a:r>
                    </a:p>
                    <a:p>
                      <a:pPr>
                        <a:buNone/>
                      </a:pPr>
                      <a:endParaRPr lang="pl-PL" sz="2000">
                        <a:latin typeface="Arial Narrow" panose="020B060602020203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buNone/>
                      </a:pPr>
                      <a:endParaRPr lang="pl-PL" sz="2000">
                        <a:latin typeface="Arial Narrow" panose="020B0606020202030204" pitchFamily="34" charset="0"/>
                      </a:endParaRPr>
                    </a:p>
                  </a:txBody>
                  <a:tcPr anchor="ct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578940612"/>
                  </a:ext>
                </a:extLst>
              </a:tr>
            </a:tbl>
          </a:graphicData>
        </a:graphic>
      </p:graphicFrame>
      <p:sp>
        <p:nvSpPr>
          <p:cNvPr id="8" name="Rectangle 2">
            <a:extLst>
              <a:ext uri="{FF2B5EF4-FFF2-40B4-BE49-F238E27FC236}">
                <a16:creationId xmlns:a16="http://schemas.microsoft.com/office/drawing/2014/main" id="{CCAA8EF7-7814-7EB9-6FCC-BCA633DD152C}"/>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en-US" sz="1600">
                <a:latin typeface="Arial" pitchFamily="34" charset="0"/>
                <a:ea typeface="+mj-lt"/>
                <a:cs typeface="Arial" pitchFamily="34" charset="0"/>
              </a:rPr>
              <a:t>Types of </a:t>
            </a:r>
            <a:r>
              <a:rPr lang="pl-PL" sz="1600">
                <a:latin typeface="Arial" pitchFamily="34" charset="0"/>
                <a:ea typeface="+mj-lt"/>
                <a:cs typeface="Arial" pitchFamily="34" charset="0"/>
              </a:rPr>
              <a:t>ML</a:t>
            </a:r>
            <a:r>
              <a:rPr lang="en-US" sz="1600">
                <a:latin typeface="Arial" pitchFamily="34" charset="0"/>
                <a:ea typeface="+mj-lt"/>
                <a:cs typeface="Arial" pitchFamily="34" charset="0"/>
              </a:rPr>
              <a:t> tasks</a:t>
            </a:r>
            <a:endParaRPr lang="en-GB" sz="4400" dirty="0">
              <a:latin typeface="Arial" pitchFamily="34" charset="0"/>
              <a:ea typeface="+mj-lt"/>
              <a:cs typeface="Arial" pitchFamily="34" charset="0"/>
            </a:endParaRPr>
          </a:p>
        </p:txBody>
      </p:sp>
      <p:sp>
        <p:nvSpPr>
          <p:cNvPr id="10" name="TextBox 9">
            <a:extLst>
              <a:ext uri="{FF2B5EF4-FFF2-40B4-BE49-F238E27FC236}">
                <a16:creationId xmlns:a16="http://schemas.microsoft.com/office/drawing/2014/main" id="{9DA22E26-94E7-421F-BE40-647772C066D5}"/>
              </a:ext>
            </a:extLst>
          </p:cNvPr>
          <p:cNvSpPr txBox="1"/>
          <p:nvPr/>
        </p:nvSpPr>
        <p:spPr>
          <a:xfrm>
            <a:off x="3886200" y="641351"/>
            <a:ext cx="4343400" cy="461665"/>
          </a:xfrm>
          <a:prstGeom prst="rect">
            <a:avLst/>
          </a:prstGeom>
          <a:noFill/>
        </p:spPr>
        <p:txBody>
          <a:bodyPr wrap="square">
            <a:spAutoFit/>
          </a:bodyPr>
          <a:lstStyle/>
          <a:p>
            <a:r>
              <a:rPr lang="pl-PL" sz="2400" b="1">
                <a:solidFill>
                  <a:srgbClr val="000000"/>
                </a:solidFill>
                <a:latin typeface="Arial Narrow" panose="020B0606020202030204" pitchFamily="34" charset="0"/>
                <a:cs typeface="Calibri" panose="020F0502020204030204" pitchFamily="34" charset="0"/>
              </a:rPr>
              <a:t>Machine learning tasks – summary </a:t>
            </a:r>
            <a:endParaRPr lang="pl-PL" sz="2400"/>
          </a:p>
        </p:txBody>
      </p:sp>
    </p:spTree>
    <p:extLst>
      <p:ext uri="{BB962C8B-B14F-4D97-AF65-F5344CB8AC3E}">
        <p14:creationId xmlns:p14="http://schemas.microsoft.com/office/powerpoint/2010/main" val="30221160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3823C91-15BB-8318-A092-8EF9A6CB05AC}"/>
              </a:ext>
            </a:extLst>
          </p:cNvPr>
          <p:cNvSpPr>
            <a:spLocks noGrp="1"/>
          </p:cNvSpPr>
          <p:nvPr>
            <p:ph type="sldNum" sz="quarter" idx="12"/>
          </p:nvPr>
        </p:nvSpPr>
        <p:spPr/>
        <p:txBody>
          <a:bodyPr/>
          <a:lstStyle/>
          <a:p>
            <a:fld id="{20D4B2D9-DB10-4EB9-B7A6-032A6D4E75AC}" type="slidenum">
              <a:rPr lang="pl-PL" smtClean="0"/>
              <a:pPr/>
              <a:t>55</a:t>
            </a:fld>
            <a:endParaRPr lang="pl-PL" dirty="0"/>
          </a:p>
        </p:txBody>
      </p:sp>
      <p:sp>
        <p:nvSpPr>
          <p:cNvPr id="7" name="Prostokąt 4">
            <a:extLst>
              <a:ext uri="{FF2B5EF4-FFF2-40B4-BE49-F238E27FC236}">
                <a16:creationId xmlns:a16="http://schemas.microsoft.com/office/drawing/2014/main" id="{B86DD307-FDD5-29CB-579F-A3800D319652}"/>
              </a:ext>
            </a:extLst>
          </p:cNvPr>
          <p:cNvSpPr/>
          <p:nvPr/>
        </p:nvSpPr>
        <p:spPr>
          <a:xfrm>
            <a:off x="3276600" y="1295400"/>
            <a:ext cx="6096000" cy="1877437"/>
          </a:xfrm>
          <a:prstGeom prst="rect">
            <a:avLst/>
          </a:prstGeom>
        </p:spPr>
        <p:txBody>
          <a:bodyPr wrap="square">
            <a:spAutoFit/>
          </a:bodyPr>
          <a:lstStyle/>
          <a:p>
            <a:r>
              <a:rPr lang="pl-PL" sz="3200" b="1">
                <a:solidFill>
                  <a:srgbClr val="0000FF"/>
                </a:solidFill>
                <a:latin typeface="Arial Narrow" panose="020B0606020202030204" pitchFamily="34" charset="0"/>
                <a:cs typeface="Calibri" panose="020F0502020204030204" pitchFamily="34" charset="0"/>
              </a:rPr>
              <a:t>Python libraries used in ML tasks</a:t>
            </a:r>
            <a:endParaRPr lang="pl-PL" sz="2800">
              <a:solidFill>
                <a:srgbClr val="0000FF"/>
              </a:solidFill>
              <a:latin typeface="Arial Narrow" panose="020B0606020202030204" pitchFamily="34" charset="0"/>
              <a:cs typeface="Calibri" panose="020F0502020204030204" pitchFamily="34" charset="0"/>
            </a:endParaRPr>
          </a:p>
          <a:p>
            <a:endParaRPr lang="pl-PL" sz="2800">
              <a:latin typeface="Arial Narrow" panose="020B0606020202030204" pitchFamily="34" charset="0"/>
              <a:cs typeface="Calibri" panose="020F0502020204030204" pitchFamily="34" charset="0"/>
            </a:endParaRPr>
          </a:p>
          <a:p>
            <a:endParaRPr lang="pl-PL" sz="2800" b="1">
              <a:solidFill>
                <a:srgbClr val="0000FF"/>
              </a:solidFill>
              <a:latin typeface="Arial Narrow" panose="020B0606020202030204" pitchFamily="34" charset="0"/>
              <a:cs typeface="Calibri" panose="020F0502020204030204" pitchFamily="34" charset="0"/>
            </a:endParaRPr>
          </a:p>
          <a:p>
            <a:endParaRPr lang="pl-PL" sz="2800" dirty="0">
              <a:solidFill>
                <a:srgbClr val="0000FF"/>
              </a:solidFill>
              <a:latin typeface="Arial Narrow" panose="020B0606020202030204" pitchFamily="34" charset="0"/>
              <a:cs typeface="Calibri" panose="020F0502020204030204" pitchFamily="34" charset="0"/>
            </a:endParaRPr>
          </a:p>
        </p:txBody>
      </p:sp>
    </p:spTree>
    <p:extLst>
      <p:ext uri="{BB962C8B-B14F-4D97-AF65-F5344CB8AC3E}">
        <p14:creationId xmlns:p14="http://schemas.microsoft.com/office/powerpoint/2010/main" val="26571764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p:cNvSpPr>
            <a:spLocks noGrp="1"/>
          </p:cNvSpPr>
          <p:nvPr>
            <p:ph type="sldNum" sz="quarter" idx="12"/>
          </p:nvPr>
        </p:nvSpPr>
        <p:spPr/>
        <p:txBody>
          <a:bodyPr/>
          <a:lstStyle/>
          <a:p>
            <a:fld id="{20D4B2D9-DB10-4EB9-B7A6-032A6D4E75AC}" type="slidenum">
              <a:rPr lang="pl-PL" smtClean="0"/>
              <a:pPr/>
              <a:t>56</a:t>
            </a:fld>
            <a:endParaRPr lang="pl-PL" dirty="0"/>
          </a:p>
        </p:txBody>
      </p:sp>
      <p:sp>
        <p:nvSpPr>
          <p:cNvPr id="6" name="Rectangle 2">
            <a:extLst>
              <a:ext uri="{FF2B5EF4-FFF2-40B4-BE49-F238E27FC236}">
                <a16:creationId xmlns:a16="http://schemas.microsoft.com/office/drawing/2014/main" id="{D5A748CA-9C13-2671-0533-2A3C185E1E3B}"/>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pl-PL" sz="1600">
                <a:latin typeface="Arial" pitchFamily="34" charset="0"/>
                <a:ea typeface="+mj-lt"/>
                <a:cs typeface="Arial" pitchFamily="34" charset="0"/>
              </a:rPr>
              <a:t>Python libraries</a:t>
            </a:r>
            <a:endParaRPr lang="en-GB" sz="4400" dirty="0">
              <a:latin typeface="Arial" pitchFamily="34" charset="0"/>
              <a:ea typeface="+mj-lt"/>
              <a:cs typeface="Arial" pitchFamily="34" charset="0"/>
            </a:endParaRPr>
          </a:p>
        </p:txBody>
      </p:sp>
      <p:sp>
        <p:nvSpPr>
          <p:cNvPr id="8" name="TextBox 7">
            <a:extLst>
              <a:ext uri="{FF2B5EF4-FFF2-40B4-BE49-F238E27FC236}">
                <a16:creationId xmlns:a16="http://schemas.microsoft.com/office/drawing/2014/main" id="{6E7F6EB1-F72D-2347-D330-EDD70A1438A0}"/>
              </a:ext>
            </a:extLst>
          </p:cNvPr>
          <p:cNvSpPr txBox="1"/>
          <p:nvPr/>
        </p:nvSpPr>
        <p:spPr>
          <a:xfrm>
            <a:off x="0" y="381000"/>
            <a:ext cx="12192000" cy="1200329"/>
          </a:xfrm>
          <a:prstGeom prst="rect">
            <a:avLst/>
          </a:prstGeom>
          <a:noFill/>
        </p:spPr>
        <p:txBody>
          <a:bodyPr wrap="square">
            <a:spAutoFit/>
          </a:bodyPr>
          <a:lstStyle/>
          <a:p>
            <a:r>
              <a:rPr lang="en-US" sz="2400">
                <a:solidFill>
                  <a:srgbClr val="000000"/>
                </a:solidFill>
                <a:latin typeface="Arial Narrow" panose="020B0606020202030204" pitchFamily="34" charset="0"/>
                <a:cs typeface="Calibri" panose="020F0502020204030204" pitchFamily="34" charset="0"/>
              </a:rPr>
              <a:t>The most popular tool used in ML is the </a:t>
            </a:r>
            <a:r>
              <a:rPr lang="en-US" sz="2400" b="1">
                <a:solidFill>
                  <a:srgbClr val="000000"/>
                </a:solidFill>
                <a:latin typeface="Arial Narrow" panose="020B0606020202030204" pitchFamily="34" charset="0"/>
                <a:cs typeface="Calibri" panose="020F0502020204030204" pitchFamily="34" charset="0"/>
              </a:rPr>
              <a:t>Python programming language</a:t>
            </a:r>
            <a:r>
              <a:rPr lang="en-US" sz="2400">
                <a:solidFill>
                  <a:srgbClr val="000000"/>
                </a:solidFill>
                <a:latin typeface="Arial Narrow" panose="020B0606020202030204" pitchFamily="34" charset="0"/>
                <a:cs typeface="Calibri" panose="020F0502020204030204" pitchFamily="34" charset="0"/>
              </a:rPr>
              <a:t>. </a:t>
            </a:r>
            <a:endParaRPr lang="pl-PL" sz="2400">
              <a:solidFill>
                <a:srgbClr val="000000"/>
              </a:solidFill>
              <a:latin typeface="Arial Narrow" panose="020B0606020202030204" pitchFamily="34" charset="0"/>
              <a:cs typeface="Calibri" panose="020F0502020204030204" pitchFamily="34" charset="0"/>
            </a:endParaRPr>
          </a:p>
          <a:p>
            <a:r>
              <a:rPr lang="en-US" sz="2400">
                <a:solidFill>
                  <a:srgbClr val="000000"/>
                </a:solidFill>
                <a:latin typeface="Arial Narrow" panose="020B0606020202030204" pitchFamily="34" charset="0"/>
                <a:cs typeface="Calibri" panose="020F0502020204030204" pitchFamily="34" charset="0"/>
              </a:rPr>
              <a:t>The Python </a:t>
            </a:r>
            <a:r>
              <a:rPr lang="pl-PL" sz="2400">
                <a:solidFill>
                  <a:srgbClr val="000000"/>
                </a:solidFill>
                <a:latin typeface="Arial Narrow" panose="020B0606020202030204" pitchFamily="34" charset="0"/>
                <a:cs typeface="Calibri" panose="020F0502020204030204" pitchFamily="34" charset="0"/>
              </a:rPr>
              <a:t>environment</a:t>
            </a:r>
            <a:r>
              <a:rPr lang="en-US" sz="2400">
                <a:solidFill>
                  <a:srgbClr val="000000"/>
                </a:solidFill>
                <a:latin typeface="Arial Narrow" panose="020B0606020202030204" pitchFamily="34" charset="0"/>
                <a:cs typeface="Calibri" panose="020F0502020204030204" pitchFamily="34" charset="0"/>
              </a:rPr>
              <a:t> offers many tools and libraries to assist with data preparation, exploratory analysis, visualization, and the development, training, and validation of machine learning models.</a:t>
            </a:r>
            <a:endParaRPr lang="pl-PL" sz="2400"/>
          </a:p>
        </p:txBody>
      </p:sp>
      <p:graphicFrame>
        <p:nvGraphicFramePr>
          <p:cNvPr id="9" name="Table 8">
            <a:extLst>
              <a:ext uri="{FF2B5EF4-FFF2-40B4-BE49-F238E27FC236}">
                <a16:creationId xmlns:a16="http://schemas.microsoft.com/office/drawing/2014/main" id="{11F7A0C8-4A0F-689F-7510-E8EBE74521EA}"/>
              </a:ext>
            </a:extLst>
          </p:cNvPr>
          <p:cNvGraphicFramePr>
            <a:graphicFrameLocks noGrp="1"/>
          </p:cNvGraphicFramePr>
          <p:nvPr>
            <p:extLst>
              <p:ext uri="{D42A27DB-BD31-4B8C-83A1-F6EECF244321}">
                <p14:modId xmlns:p14="http://schemas.microsoft.com/office/powerpoint/2010/main" val="8564952"/>
              </p:ext>
            </p:extLst>
          </p:nvPr>
        </p:nvGraphicFramePr>
        <p:xfrm>
          <a:off x="609600" y="1733809"/>
          <a:ext cx="10820400" cy="4335975"/>
        </p:xfrm>
        <a:graphic>
          <a:graphicData uri="http://schemas.openxmlformats.org/drawingml/2006/table">
            <a:tbl>
              <a:tblPr/>
              <a:tblGrid>
                <a:gridCol w="1371600">
                  <a:extLst>
                    <a:ext uri="{9D8B030D-6E8A-4147-A177-3AD203B41FA5}">
                      <a16:colId xmlns:a16="http://schemas.microsoft.com/office/drawing/2014/main" val="2616979219"/>
                    </a:ext>
                  </a:extLst>
                </a:gridCol>
                <a:gridCol w="6934200">
                  <a:extLst>
                    <a:ext uri="{9D8B030D-6E8A-4147-A177-3AD203B41FA5}">
                      <a16:colId xmlns:a16="http://schemas.microsoft.com/office/drawing/2014/main" val="3188459630"/>
                    </a:ext>
                  </a:extLst>
                </a:gridCol>
                <a:gridCol w="2514600">
                  <a:extLst>
                    <a:ext uri="{9D8B030D-6E8A-4147-A177-3AD203B41FA5}">
                      <a16:colId xmlns:a16="http://schemas.microsoft.com/office/drawing/2014/main" val="2475772967"/>
                    </a:ext>
                  </a:extLst>
                </a:gridCol>
              </a:tblGrid>
              <a:tr h="291998">
                <a:tc>
                  <a:txBody>
                    <a:bodyPr/>
                    <a:lstStyle/>
                    <a:p>
                      <a:pPr>
                        <a:buNone/>
                      </a:pPr>
                      <a:r>
                        <a:rPr lang="pl-PL" sz="2000" b="1">
                          <a:latin typeface="Arial Narrow" panose="020B0606020202030204" pitchFamily="34" charset="0"/>
                        </a:rPr>
                        <a:t>Library</a:t>
                      </a:r>
                    </a:p>
                  </a:txBody>
                  <a:tcPr marL="72999" marR="72999" marT="36500" marB="3650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buNone/>
                      </a:pPr>
                      <a:r>
                        <a:rPr lang="pl-PL" sz="2000" b="1">
                          <a:latin typeface="Arial Narrow" panose="020B0606020202030204" pitchFamily="34" charset="0"/>
                        </a:rPr>
                        <a:t>Main use</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buNone/>
                      </a:pPr>
                      <a:endParaRPr lang="pl-PL" sz="2000" b="1">
                        <a:latin typeface="Arial Narrow" panose="020B0606020202030204" pitchFamily="34" charset="0"/>
                      </a:endParaRPr>
                    </a:p>
                  </a:txBody>
                  <a:tcPr marL="72999" marR="72999" marT="36500" marB="36500"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4268784"/>
                  </a:ext>
                </a:extLst>
              </a:tr>
              <a:tr h="402991">
                <a:tc>
                  <a:txBody>
                    <a:bodyPr/>
                    <a:lstStyle/>
                    <a:p>
                      <a:pPr>
                        <a:buNone/>
                      </a:pPr>
                      <a:r>
                        <a:rPr lang="pl-PL" sz="2000" b="1">
                          <a:latin typeface="Arial Narrow" panose="020B0606020202030204" pitchFamily="34" charset="0"/>
                        </a:rPr>
                        <a:t>NumPy</a:t>
                      </a:r>
                      <a:endParaRPr lang="pl-PL" sz="2000">
                        <a:latin typeface="Arial Narrow" panose="020B0606020202030204" pitchFamily="34" charset="0"/>
                      </a:endParaRPr>
                    </a:p>
                  </a:txBody>
                  <a:tcPr marL="72999" marR="72999" marT="36500" marB="3650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pl-PL" sz="2000">
                          <a:latin typeface="Arial Narrow" panose="020B0606020202030204" pitchFamily="34" charset="0"/>
                        </a:rPr>
                        <a:t>Working with numbers, arrays, and mathematical operations</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rowSpan="3">
                  <a:txBody>
                    <a:bodyPr/>
                    <a:lstStyle/>
                    <a:p>
                      <a:pPr>
                        <a:buNone/>
                      </a:pPr>
                      <a:r>
                        <a:rPr lang="pl-PL" sz="2000">
                          <a:latin typeface="Arial Narrow" panose="020B0606020202030204" pitchFamily="34" charset="0"/>
                        </a:rPr>
                        <a:t>Working with data</a:t>
                      </a:r>
                    </a:p>
                  </a:txBody>
                  <a:tcPr marL="72999" marR="72999" marT="36500" marB="3650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4150129476"/>
                  </a:ext>
                </a:extLst>
              </a:tr>
              <a:tr h="291998">
                <a:tc>
                  <a:txBody>
                    <a:bodyPr/>
                    <a:lstStyle/>
                    <a:p>
                      <a:pPr>
                        <a:buNone/>
                      </a:pPr>
                      <a:r>
                        <a:rPr lang="pl-PL" sz="2000" b="1">
                          <a:latin typeface="Arial Narrow" panose="020B0606020202030204" pitchFamily="34" charset="0"/>
                        </a:rPr>
                        <a:t>Pandas</a:t>
                      </a:r>
                      <a:endParaRPr lang="pl-PL" sz="2000">
                        <a:latin typeface="Arial Narrow" panose="020B0606020202030204" pitchFamily="34" charset="0"/>
                      </a:endParaRPr>
                    </a:p>
                  </a:txBody>
                  <a:tcPr marL="72999" marR="72999" marT="36500" marB="3650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pl-PL" sz="2000">
                          <a:latin typeface="Arial Narrow" panose="020B0606020202030204" pitchFamily="34" charset="0"/>
                        </a:rPr>
                        <a:t>Loading, cleaning, and organizing data in tables</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vMerge="1">
                  <a:txBody>
                    <a:bodyPr/>
                    <a:lstStyle/>
                    <a:p>
                      <a:pPr>
                        <a:buNone/>
                      </a:pPr>
                      <a:endParaRPr lang="pl-PL" sz="2000">
                        <a:latin typeface="Arial Narrow" panose="020B0606020202030204" pitchFamily="34" charset="0"/>
                      </a:endParaRPr>
                    </a:p>
                  </a:txBody>
                  <a:tcPr marL="72999" marR="72999" marT="36500" marB="3650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484266460"/>
                  </a:ext>
                </a:extLst>
              </a:tr>
              <a:tr h="291998">
                <a:tc>
                  <a:txBody>
                    <a:bodyPr/>
                    <a:lstStyle/>
                    <a:p>
                      <a:pPr>
                        <a:buNone/>
                      </a:pPr>
                      <a:r>
                        <a:rPr lang="pl-PL" sz="2000" b="1">
                          <a:latin typeface="Arial Narrow" panose="020B0606020202030204" pitchFamily="34" charset="0"/>
                        </a:rPr>
                        <a:t>SciPy</a:t>
                      </a:r>
                      <a:endParaRPr lang="pl-PL" sz="2000">
                        <a:latin typeface="Arial Narrow" panose="020B0606020202030204" pitchFamily="34" charset="0"/>
                      </a:endParaRPr>
                    </a:p>
                  </a:txBody>
                  <a:tcPr marL="72999" marR="72999" marT="36500" marB="3650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pl-PL" sz="2000">
                          <a:latin typeface="Arial Narrow" panose="020B0606020202030204" pitchFamily="34" charset="0"/>
                        </a:rPr>
                        <a:t>Scientific computing, statistics, and advanced math</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vMerge="1">
                  <a:txBody>
                    <a:bodyPr/>
                    <a:lstStyle/>
                    <a:p>
                      <a:pPr>
                        <a:buNone/>
                      </a:pPr>
                      <a:endParaRPr lang="pl-PL" sz="2000">
                        <a:latin typeface="Arial Narrow" panose="020B0606020202030204" pitchFamily="34" charset="0"/>
                      </a:endParaRPr>
                    </a:p>
                  </a:txBody>
                  <a:tcPr marL="72999" marR="72999" marT="36500" marB="3650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357415529"/>
                  </a:ext>
                </a:extLst>
              </a:tr>
              <a:tr h="291998">
                <a:tc>
                  <a:txBody>
                    <a:bodyPr/>
                    <a:lstStyle/>
                    <a:p>
                      <a:pPr>
                        <a:buNone/>
                      </a:pPr>
                      <a:r>
                        <a:rPr lang="pl-PL" sz="2000" b="1">
                          <a:latin typeface="Arial Narrow" panose="020B0606020202030204" pitchFamily="34" charset="0"/>
                        </a:rPr>
                        <a:t>Matplotlib</a:t>
                      </a:r>
                      <a:endParaRPr lang="pl-PL" sz="2000">
                        <a:latin typeface="Arial Narrow" panose="020B0606020202030204" pitchFamily="34" charset="0"/>
                      </a:endParaRPr>
                    </a:p>
                  </a:txBody>
                  <a:tcPr marL="72999" marR="72999" marT="36500" marB="3650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buNone/>
                      </a:pPr>
                      <a:r>
                        <a:rPr lang="pl-PL" sz="2000">
                          <a:latin typeface="Arial Narrow" panose="020B0606020202030204" pitchFamily="34" charset="0"/>
                        </a:rPr>
                        <a:t>Creating basic graphs and charts</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rowSpan="2">
                  <a:txBody>
                    <a:bodyPr/>
                    <a:lstStyle/>
                    <a:p>
                      <a:pPr>
                        <a:buNone/>
                      </a:pPr>
                      <a:r>
                        <a:rPr lang="pl-PL" sz="2000">
                          <a:latin typeface="Arial Narrow" panose="020B0606020202030204" pitchFamily="34" charset="0"/>
                        </a:rPr>
                        <a:t>Visualisation</a:t>
                      </a:r>
                    </a:p>
                  </a:txBody>
                  <a:tcPr marL="72999" marR="72999" marT="36500" marB="3650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362445922"/>
                  </a:ext>
                </a:extLst>
              </a:tr>
              <a:tr h="291998">
                <a:tc>
                  <a:txBody>
                    <a:bodyPr/>
                    <a:lstStyle/>
                    <a:p>
                      <a:pPr>
                        <a:buNone/>
                      </a:pPr>
                      <a:r>
                        <a:rPr lang="pl-PL" sz="2000" b="1">
                          <a:latin typeface="Arial Narrow" panose="020B0606020202030204" pitchFamily="34" charset="0"/>
                        </a:rPr>
                        <a:t>Seaborn</a:t>
                      </a:r>
                      <a:endParaRPr lang="pl-PL" sz="2000">
                        <a:latin typeface="Arial Narrow" panose="020B0606020202030204" pitchFamily="34" charset="0"/>
                      </a:endParaRPr>
                    </a:p>
                  </a:txBody>
                  <a:tcPr marL="72999" marR="72999" marT="36500" marB="3650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buNone/>
                      </a:pPr>
                      <a:r>
                        <a:rPr lang="pl-PL" sz="2000">
                          <a:latin typeface="Arial Narrow" panose="020B0606020202030204" pitchFamily="34" charset="0"/>
                        </a:rPr>
                        <a:t>Creating more attractive statistical charts</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vMerge="1">
                  <a:txBody>
                    <a:bodyPr/>
                    <a:lstStyle/>
                    <a:p>
                      <a:pPr>
                        <a:buNone/>
                      </a:pPr>
                      <a:endParaRPr lang="pl-PL" sz="2000">
                        <a:latin typeface="Arial Narrow" panose="020B0606020202030204" pitchFamily="34" charset="0"/>
                      </a:endParaRPr>
                    </a:p>
                  </a:txBody>
                  <a:tcPr marL="72999" marR="72999" marT="36500" marB="3650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271608813"/>
                  </a:ext>
                </a:extLst>
              </a:tr>
              <a:tr h="510996">
                <a:tc>
                  <a:txBody>
                    <a:bodyPr/>
                    <a:lstStyle/>
                    <a:p>
                      <a:pPr>
                        <a:buNone/>
                      </a:pPr>
                      <a:r>
                        <a:rPr lang="pl-PL" sz="2000" b="1">
                          <a:latin typeface="Arial Narrow" panose="020B0606020202030204" pitchFamily="34" charset="0"/>
                        </a:rPr>
                        <a:t>Scikit-learn</a:t>
                      </a:r>
                      <a:endParaRPr lang="pl-PL" sz="2000">
                        <a:latin typeface="Arial Narrow" panose="020B0606020202030204" pitchFamily="34" charset="0"/>
                      </a:endParaRPr>
                    </a:p>
                  </a:txBody>
                  <a:tcPr marL="72999" marR="72999" marT="36500" marB="3650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pl-PL" sz="2000">
                          <a:latin typeface="Arial Narrow" panose="020B0606020202030204" pitchFamily="34" charset="0"/>
                        </a:rPr>
                        <a:t>Building common ML models like regression, classification, clustering</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pl-PL" sz="2000">
                          <a:latin typeface="Arial Narrow" panose="020B0606020202030204" pitchFamily="34" charset="0"/>
                        </a:rPr>
                        <a:t>Machine Learning</a:t>
                      </a:r>
                    </a:p>
                  </a:txBody>
                  <a:tcPr marL="72999" marR="72999" marT="36500" marB="3650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269309722"/>
                  </a:ext>
                </a:extLst>
              </a:tr>
              <a:tr h="510996">
                <a:tc>
                  <a:txBody>
                    <a:bodyPr/>
                    <a:lstStyle/>
                    <a:p>
                      <a:pPr>
                        <a:buNone/>
                      </a:pPr>
                      <a:r>
                        <a:rPr lang="pl-PL" sz="2000" b="1">
                          <a:latin typeface="Arial Narrow" panose="020B0606020202030204" pitchFamily="34" charset="0"/>
                        </a:rPr>
                        <a:t>TensorFlow</a:t>
                      </a:r>
                      <a:endParaRPr lang="pl-PL" sz="2000">
                        <a:latin typeface="Arial Narrow" panose="020B0606020202030204" pitchFamily="34" charset="0"/>
                      </a:endParaRPr>
                    </a:p>
                  </a:txBody>
                  <a:tcPr marL="72999" marR="72999" marT="36500" marB="3650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buNone/>
                      </a:pPr>
                      <a:r>
                        <a:rPr lang="pl-PL" sz="2000">
                          <a:latin typeface="Arial Narrow" panose="020B0606020202030204" pitchFamily="34" charset="0"/>
                        </a:rPr>
                        <a:t>Building deep learning models, especially neural networks</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rowSpan="3">
                  <a:txBody>
                    <a:bodyPr/>
                    <a:lstStyle/>
                    <a:p>
                      <a:pPr>
                        <a:buNone/>
                      </a:pPr>
                      <a:r>
                        <a:rPr lang="pl-PL" sz="2000">
                          <a:latin typeface="Arial Narrow" panose="020B0606020202030204" pitchFamily="34" charset="0"/>
                        </a:rPr>
                        <a:t>Deep Learning</a:t>
                      </a:r>
                    </a:p>
                  </a:txBody>
                  <a:tcPr marL="72999" marR="72999" marT="36500" marB="3650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51389148"/>
                  </a:ext>
                </a:extLst>
              </a:tr>
              <a:tr h="510996">
                <a:tc>
                  <a:txBody>
                    <a:bodyPr/>
                    <a:lstStyle/>
                    <a:p>
                      <a:pPr>
                        <a:buNone/>
                      </a:pPr>
                      <a:r>
                        <a:rPr lang="pl-PL" sz="2000" b="1">
                          <a:latin typeface="Arial Narrow" panose="020B0606020202030204" pitchFamily="34" charset="0"/>
                        </a:rPr>
                        <a:t>Keras</a:t>
                      </a:r>
                      <a:endParaRPr lang="pl-PL" sz="2000">
                        <a:latin typeface="Arial Narrow" panose="020B0606020202030204" pitchFamily="34" charset="0"/>
                      </a:endParaRPr>
                    </a:p>
                  </a:txBody>
                  <a:tcPr marL="72999" marR="72999" marT="36500" marB="3650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buNone/>
                      </a:pPr>
                      <a:r>
                        <a:rPr lang="pl-PL" sz="2000">
                          <a:latin typeface="Arial Narrow" panose="020B0606020202030204" pitchFamily="34" charset="0"/>
                        </a:rPr>
                        <a:t>Simple interface for building neural networks, often used with TensorFlow</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vMerge="1">
                  <a:txBody>
                    <a:bodyPr/>
                    <a:lstStyle/>
                    <a:p>
                      <a:pPr>
                        <a:buNone/>
                      </a:pPr>
                      <a:endParaRPr lang="pl-PL" sz="2000">
                        <a:latin typeface="Arial Narrow" panose="020B0606020202030204" pitchFamily="34" charset="0"/>
                      </a:endParaRPr>
                    </a:p>
                  </a:txBody>
                  <a:tcPr marL="72999" marR="72999" marT="36500" marB="3650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654875158"/>
                  </a:ext>
                </a:extLst>
              </a:tr>
              <a:tr h="510996">
                <a:tc>
                  <a:txBody>
                    <a:bodyPr/>
                    <a:lstStyle/>
                    <a:p>
                      <a:pPr>
                        <a:buNone/>
                      </a:pPr>
                      <a:r>
                        <a:rPr lang="pl-PL" sz="2000" b="1">
                          <a:latin typeface="Arial Narrow" panose="020B0606020202030204" pitchFamily="34" charset="0"/>
                        </a:rPr>
                        <a:t>PyTorch</a:t>
                      </a:r>
                      <a:endParaRPr lang="pl-PL" sz="2000">
                        <a:latin typeface="Arial Narrow" panose="020B0606020202030204" pitchFamily="34" charset="0"/>
                      </a:endParaRPr>
                    </a:p>
                  </a:txBody>
                  <a:tcPr marL="72999" marR="72999" marT="36500" marB="3650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buNone/>
                      </a:pPr>
                      <a:r>
                        <a:rPr lang="pl-PL" sz="2000">
                          <a:latin typeface="Arial Narrow" panose="020B0606020202030204" pitchFamily="34" charset="0"/>
                        </a:rPr>
                        <a:t>Building deep learning and AI models, popular in research</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vMerge="1">
                  <a:txBody>
                    <a:bodyPr/>
                    <a:lstStyle/>
                    <a:p>
                      <a:pPr>
                        <a:buNone/>
                      </a:pPr>
                      <a:endParaRPr lang="pl-PL" sz="2000">
                        <a:latin typeface="Arial Narrow" panose="020B0606020202030204" pitchFamily="34" charset="0"/>
                      </a:endParaRPr>
                    </a:p>
                  </a:txBody>
                  <a:tcPr marL="72999" marR="72999" marT="36500" marB="3650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28806395"/>
                  </a:ext>
                </a:extLst>
              </a:tr>
            </a:tbl>
          </a:graphicData>
        </a:graphic>
      </p:graphicFrame>
    </p:spTree>
    <p:extLst>
      <p:ext uri="{BB962C8B-B14F-4D97-AF65-F5344CB8AC3E}">
        <p14:creationId xmlns:p14="http://schemas.microsoft.com/office/powerpoint/2010/main" val="261586697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7E7D105-B6EB-416C-171D-5B8951BCF5B1}"/>
              </a:ext>
            </a:extLst>
          </p:cNvPr>
          <p:cNvSpPr>
            <a:spLocks noGrp="1"/>
          </p:cNvSpPr>
          <p:nvPr>
            <p:ph type="sldNum" sz="quarter" idx="12"/>
          </p:nvPr>
        </p:nvSpPr>
        <p:spPr/>
        <p:txBody>
          <a:bodyPr/>
          <a:lstStyle/>
          <a:p>
            <a:fld id="{20D4B2D9-DB10-4EB9-B7A6-032A6D4E75AC}" type="slidenum">
              <a:rPr lang="pl-PL" smtClean="0"/>
              <a:pPr/>
              <a:t>57</a:t>
            </a:fld>
            <a:endParaRPr lang="pl-PL" dirty="0"/>
          </a:p>
        </p:txBody>
      </p:sp>
      <p:sp>
        <p:nvSpPr>
          <p:cNvPr id="4" name="Prostokąt 4">
            <a:extLst>
              <a:ext uri="{FF2B5EF4-FFF2-40B4-BE49-F238E27FC236}">
                <a16:creationId xmlns:a16="http://schemas.microsoft.com/office/drawing/2014/main" id="{C41962F7-CE0D-4363-7FE4-C3B980FAAB90}"/>
              </a:ext>
            </a:extLst>
          </p:cNvPr>
          <p:cNvSpPr/>
          <p:nvPr/>
        </p:nvSpPr>
        <p:spPr>
          <a:xfrm>
            <a:off x="2743200" y="1295400"/>
            <a:ext cx="6096000" cy="1877437"/>
          </a:xfrm>
          <a:prstGeom prst="rect">
            <a:avLst/>
          </a:prstGeom>
          <a:noFill/>
        </p:spPr>
        <p:txBody>
          <a:bodyPr wrap="square">
            <a:spAutoFit/>
          </a:bodyPr>
          <a:lstStyle/>
          <a:p>
            <a:pPr algn="ctr"/>
            <a:r>
              <a:rPr lang="pl-PL" sz="3200" b="1">
                <a:solidFill>
                  <a:srgbClr val="0000FF"/>
                </a:solidFill>
                <a:latin typeface="Arial Narrow" panose="020B0606020202030204" pitchFamily="34" charset="0"/>
                <a:cs typeface="Calibri" panose="020F0502020204030204" pitchFamily="34" charset="0"/>
              </a:rPr>
              <a:t>Data in ML</a:t>
            </a:r>
            <a:endParaRPr lang="pl-PL" sz="2800">
              <a:solidFill>
                <a:srgbClr val="0000FF"/>
              </a:solidFill>
              <a:latin typeface="Arial Narrow" panose="020B0606020202030204" pitchFamily="34" charset="0"/>
              <a:cs typeface="Calibri" panose="020F0502020204030204" pitchFamily="34" charset="0"/>
            </a:endParaRPr>
          </a:p>
          <a:p>
            <a:endParaRPr lang="pl-PL" sz="2800">
              <a:latin typeface="Arial Narrow" panose="020B0606020202030204" pitchFamily="34" charset="0"/>
              <a:cs typeface="Calibri" panose="020F0502020204030204" pitchFamily="34" charset="0"/>
            </a:endParaRPr>
          </a:p>
          <a:p>
            <a:endParaRPr lang="pl-PL" sz="2800" b="1">
              <a:solidFill>
                <a:srgbClr val="0000FF"/>
              </a:solidFill>
              <a:latin typeface="Arial Narrow" panose="020B0606020202030204" pitchFamily="34" charset="0"/>
              <a:cs typeface="Calibri" panose="020F0502020204030204" pitchFamily="34" charset="0"/>
            </a:endParaRPr>
          </a:p>
          <a:p>
            <a:endParaRPr lang="pl-PL" sz="2800" dirty="0">
              <a:solidFill>
                <a:srgbClr val="0000FF"/>
              </a:solidFill>
              <a:latin typeface="Arial Narrow" panose="020B0606020202030204" pitchFamily="34" charset="0"/>
              <a:cs typeface="Calibri" panose="020F0502020204030204" pitchFamily="34" charset="0"/>
            </a:endParaRPr>
          </a:p>
        </p:txBody>
      </p:sp>
    </p:spTree>
    <p:extLst>
      <p:ext uri="{BB962C8B-B14F-4D97-AF65-F5344CB8AC3E}">
        <p14:creationId xmlns:p14="http://schemas.microsoft.com/office/powerpoint/2010/main" val="37218245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2F4498E-8AF7-FCFB-DDBE-9A812EF7099A}"/>
              </a:ext>
            </a:extLst>
          </p:cNvPr>
          <p:cNvSpPr>
            <a:spLocks noGrp="1"/>
          </p:cNvSpPr>
          <p:nvPr>
            <p:ph type="sldNum" sz="quarter" idx="12"/>
          </p:nvPr>
        </p:nvSpPr>
        <p:spPr/>
        <p:txBody>
          <a:bodyPr/>
          <a:lstStyle/>
          <a:p>
            <a:fld id="{20D4B2D9-DB10-4EB9-B7A6-032A6D4E75AC}" type="slidenum">
              <a:rPr lang="pl-PL" smtClean="0"/>
              <a:pPr/>
              <a:t>58</a:t>
            </a:fld>
            <a:endParaRPr lang="pl-PL" dirty="0"/>
          </a:p>
        </p:txBody>
      </p:sp>
      <p:sp>
        <p:nvSpPr>
          <p:cNvPr id="4" name="Prostokąt 2">
            <a:extLst>
              <a:ext uri="{FF2B5EF4-FFF2-40B4-BE49-F238E27FC236}">
                <a16:creationId xmlns:a16="http://schemas.microsoft.com/office/drawing/2014/main" id="{D8717C5F-C0EB-ADC2-1EB8-2171D2927AA0}"/>
              </a:ext>
            </a:extLst>
          </p:cNvPr>
          <p:cNvSpPr/>
          <p:nvPr/>
        </p:nvSpPr>
        <p:spPr>
          <a:xfrm>
            <a:off x="0" y="304800"/>
            <a:ext cx="12192000" cy="6217087"/>
          </a:xfrm>
          <a:prstGeom prst="rect">
            <a:avLst/>
          </a:prstGeom>
        </p:spPr>
        <p:txBody>
          <a:bodyPr wrap="square">
            <a:spAutoFit/>
          </a:bodyPr>
          <a:lstStyle/>
          <a:p>
            <a:r>
              <a:rPr lang="pl-PL" sz="2400" b="1">
                <a:latin typeface="Arial Narrow" panose="020B0606020202030204" pitchFamily="34" charset="0"/>
              </a:rPr>
              <a:t>The importance of accurate data</a:t>
            </a:r>
          </a:p>
          <a:p>
            <a:endParaRPr lang="pl-PL" sz="2400">
              <a:latin typeface="Avenir Next W1G"/>
            </a:endParaRPr>
          </a:p>
          <a:p>
            <a:endParaRPr lang="pl-PL" sz="2400">
              <a:latin typeface="Avenir Next W1G"/>
            </a:endParaRPr>
          </a:p>
          <a:p>
            <a:r>
              <a:rPr lang="pl-PL" sz="2400">
                <a:latin typeface="Avenir Next W1G"/>
              </a:rPr>
              <a:t>T</a:t>
            </a:r>
            <a:r>
              <a:rPr lang="en-US" sz="2400" dirty="0">
                <a:latin typeface="Avenir Next W1G"/>
              </a:rPr>
              <a:t>he output of a machine learning algorithm is </a:t>
            </a:r>
            <a:r>
              <a:rPr lang="en-US" sz="2400">
                <a:latin typeface="Avenir Next W1G"/>
              </a:rPr>
              <a:t>entirely </a:t>
            </a:r>
            <a:br>
              <a:rPr lang="pl-PL" sz="2400">
                <a:latin typeface="Avenir Next W1G"/>
              </a:rPr>
            </a:br>
            <a:r>
              <a:rPr lang="en-US" sz="3200" b="1">
                <a:latin typeface="Avenir Next W1G"/>
              </a:rPr>
              <a:t>dependent </a:t>
            </a:r>
            <a:r>
              <a:rPr lang="en-US" sz="3200" b="1" dirty="0">
                <a:latin typeface="Avenir Next W1G"/>
              </a:rPr>
              <a:t>on the data it is exposed to</a:t>
            </a:r>
            <a:r>
              <a:rPr lang="en-US" sz="2400" dirty="0">
                <a:latin typeface="Avenir Next W1G"/>
              </a:rPr>
              <a:t>. </a:t>
            </a:r>
            <a:endParaRPr lang="pl-PL" sz="2400" dirty="0">
              <a:latin typeface="Avenir Next W1G"/>
            </a:endParaRPr>
          </a:p>
          <a:p>
            <a:r>
              <a:rPr lang="en-US" sz="2400" dirty="0">
                <a:latin typeface="Avenir Next W1G"/>
              </a:rPr>
              <a:t>Change the data, change the result. </a:t>
            </a:r>
            <a:endParaRPr lang="pl-PL" sz="2400" dirty="0">
              <a:latin typeface="Avenir Next W1G"/>
            </a:endParaRPr>
          </a:p>
          <a:p>
            <a:endParaRPr lang="pl-PL" dirty="0"/>
          </a:p>
          <a:p>
            <a:r>
              <a:rPr lang="en-US" sz="2000" b="1" dirty="0">
                <a:latin typeface="Arial Narrow" panose="020B0606020202030204" pitchFamily="34" charset="0"/>
              </a:rPr>
              <a:t>K</a:t>
            </a:r>
            <a:r>
              <a:rPr lang="pl-PL" sz="2000" b="1" dirty="0" err="1">
                <a:latin typeface="Arial Narrow" panose="020B0606020202030204" pitchFamily="34" charset="0"/>
              </a:rPr>
              <a:t>imberly</a:t>
            </a:r>
            <a:r>
              <a:rPr lang="en-US" sz="2000" b="1" dirty="0">
                <a:latin typeface="Arial Narrow" panose="020B0606020202030204" pitchFamily="34" charset="0"/>
              </a:rPr>
              <a:t> N</a:t>
            </a:r>
            <a:r>
              <a:rPr lang="pl-PL" sz="2000" b="1" dirty="0" err="1">
                <a:latin typeface="Arial Narrow" panose="020B0606020202030204" pitchFamily="34" charset="0"/>
              </a:rPr>
              <a:t>evala</a:t>
            </a:r>
            <a:r>
              <a:rPr lang="en-US" sz="2000" b="1" dirty="0">
                <a:latin typeface="Arial Narrow" panose="020B0606020202030204" pitchFamily="34" charset="0"/>
              </a:rPr>
              <a:t> </a:t>
            </a:r>
            <a:r>
              <a:rPr lang="pl-PL" sz="2000" dirty="0">
                <a:latin typeface="Arial Narrow" panose="020B0606020202030204" pitchFamily="34" charset="0"/>
              </a:rPr>
              <a:t>– </a:t>
            </a:r>
            <a:r>
              <a:rPr lang="en-US" sz="2000" dirty="0">
                <a:latin typeface="Arial Narrow" panose="020B0606020202030204" pitchFamily="34" charset="0"/>
              </a:rPr>
              <a:t>the </a:t>
            </a:r>
            <a:r>
              <a:rPr lang="pl-PL" sz="2000" dirty="0">
                <a:latin typeface="Arial Narrow" panose="020B0606020202030204" pitchFamily="34" charset="0"/>
              </a:rPr>
              <a:t>d</a:t>
            </a:r>
            <a:r>
              <a:rPr lang="en-US" sz="2000" dirty="0">
                <a:latin typeface="Arial Narrow" panose="020B0606020202030204" pitchFamily="34" charset="0"/>
              </a:rPr>
              <a:t>irector of Business Strategies for SAS </a:t>
            </a:r>
            <a:r>
              <a:rPr lang="en-US" sz="2000">
                <a:latin typeface="Arial Narrow" panose="020B0606020202030204" pitchFamily="34" charset="0"/>
              </a:rPr>
              <a:t>Best Practices</a:t>
            </a:r>
            <a:endParaRPr lang="pl-PL" sz="2000">
              <a:latin typeface="Arial Narrow" panose="020B0606020202030204" pitchFamily="34" charset="0"/>
            </a:endParaRPr>
          </a:p>
          <a:p>
            <a:endParaRPr lang="pl-PL" sz="2000">
              <a:latin typeface="Arial Narrow" panose="020B0606020202030204" pitchFamily="34" charset="0"/>
            </a:endParaRPr>
          </a:p>
          <a:p>
            <a:endParaRPr lang="pl-PL" sz="2000">
              <a:latin typeface="Arial Narrow" panose="020B0606020202030204" pitchFamily="34" charset="0"/>
            </a:endParaRPr>
          </a:p>
          <a:p>
            <a:r>
              <a:rPr lang="pl-PL" sz="2400">
                <a:latin typeface="Arial Narrow" panose="020B0606020202030204" pitchFamily="34" charset="0"/>
              </a:rPr>
              <a:t>A model learns solely from the data available to it.</a:t>
            </a:r>
          </a:p>
          <a:p>
            <a:r>
              <a:rPr lang="pl-PL" sz="2400">
                <a:latin typeface="Arial Narrow" panose="020B0606020202030204" pitchFamily="34" charset="0"/>
              </a:rPr>
              <a:t>Incomplete, incorrect, or biased data can lead to inaccurate results.</a:t>
            </a:r>
          </a:p>
          <a:p>
            <a:r>
              <a:rPr lang="pl-PL" sz="2400">
                <a:latin typeface="Arial Narrow" panose="020B0606020202030204" pitchFamily="34" charset="0"/>
              </a:rPr>
              <a:t>A large amount of data does not always mean high quality.</a:t>
            </a:r>
          </a:p>
          <a:p>
            <a:endParaRPr lang="pl-PL" sz="2400">
              <a:latin typeface="Arial Narrow" panose="020B0606020202030204" pitchFamily="34" charset="0"/>
            </a:endParaRPr>
          </a:p>
          <a:p>
            <a:r>
              <a:rPr lang="en-US" sz="2400">
                <a:latin typeface="Arial Narrow" panose="020B0606020202030204" pitchFamily="34" charset="0"/>
              </a:rPr>
              <a:t>Like traditional analytics, a majority of time on machine</a:t>
            </a:r>
            <a:r>
              <a:rPr lang="pl-PL" sz="2400">
                <a:latin typeface="Arial Narrow" panose="020B0606020202030204" pitchFamily="34" charset="0"/>
              </a:rPr>
              <a:t> </a:t>
            </a:r>
            <a:r>
              <a:rPr lang="en-US" sz="2400">
                <a:latin typeface="Arial Narrow" panose="020B0606020202030204" pitchFamily="34" charset="0"/>
              </a:rPr>
              <a:t>learning projects is spent munging, validating and formatting data. Sometimes a simple algorithm with more data can often</a:t>
            </a:r>
            <a:r>
              <a:rPr lang="pl-PL" sz="2400">
                <a:latin typeface="Arial Narrow" panose="020B0606020202030204" pitchFamily="34" charset="0"/>
              </a:rPr>
              <a:t> </a:t>
            </a:r>
            <a:r>
              <a:rPr lang="en-US" sz="2400">
                <a:latin typeface="Arial Narrow" panose="020B0606020202030204" pitchFamily="34" charset="0"/>
              </a:rPr>
              <a:t>beat a complicated algorithm with less data. Even when the bigger</a:t>
            </a:r>
            <a:r>
              <a:rPr lang="pl-PL" sz="2400">
                <a:latin typeface="Arial Narrow" panose="020B0606020202030204" pitchFamily="34" charset="0"/>
              </a:rPr>
              <a:t> </a:t>
            </a:r>
            <a:r>
              <a:rPr lang="en-US" sz="2400">
                <a:latin typeface="Arial Narrow" panose="020B0606020202030204" pitchFamily="34" charset="0"/>
              </a:rPr>
              <a:t>data set is slightly dirtier.</a:t>
            </a:r>
            <a:endParaRPr lang="pl-PL" sz="2400">
              <a:latin typeface="Arial Narrow" panose="020B0606020202030204" pitchFamily="34" charset="0"/>
            </a:endParaRPr>
          </a:p>
        </p:txBody>
      </p:sp>
      <p:sp>
        <p:nvSpPr>
          <p:cNvPr id="5" name="Rectangle 2">
            <a:extLst>
              <a:ext uri="{FF2B5EF4-FFF2-40B4-BE49-F238E27FC236}">
                <a16:creationId xmlns:a16="http://schemas.microsoft.com/office/drawing/2014/main" id="{D461E6EA-DC12-A67E-D05F-D92FA1E7B4E8}"/>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pl-PL" sz="1600">
                <a:latin typeface="Arial" pitchFamily="34" charset="0"/>
                <a:ea typeface="+mj-lt"/>
                <a:cs typeface="Arial" pitchFamily="34" charset="0"/>
              </a:rPr>
              <a:t>Data in ML</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1650823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9" end="9"/>
                                            </p:txEl>
                                          </p:spTgt>
                                        </p:tgtEl>
                                        <p:attrNameLst>
                                          <p:attrName>style.visibility</p:attrName>
                                        </p:attrNameLst>
                                      </p:cBhvr>
                                      <p:to>
                                        <p:strVal val="visible"/>
                                      </p:to>
                                    </p:set>
                                    <p:anim calcmode="lin" valueType="num">
                                      <p:cBhvr additive="base">
                                        <p:cTn id="7"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9" end="9"/>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10" end="10"/>
                                            </p:txEl>
                                          </p:spTgt>
                                        </p:tgtEl>
                                        <p:attrNameLst>
                                          <p:attrName>style.visibility</p:attrName>
                                        </p:attrNameLst>
                                      </p:cBhvr>
                                      <p:to>
                                        <p:strVal val="visible"/>
                                      </p:to>
                                    </p:set>
                                    <p:anim calcmode="lin" valueType="num">
                                      <p:cBhvr additive="base">
                                        <p:cTn id="11"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0" end="1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11" end="11"/>
                                            </p:txEl>
                                          </p:spTgt>
                                        </p:tgtEl>
                                        <p:attrNameLst>
                                          <p:attrName>style.visibility</p:attrName>
                                        </p:attrNameLst>
                                      </p:cBhvr>
                                      <p:to>
                                        <p:strVal val="visible"/>
                                      </p:to>
                                    </p:set>
                                    <p:anim calcmode="lin" valueType="num">
                                      <p:cBhvr additive="base">
                                        <p:cTn id="15"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4">
                                            <p:txEl>
                                              <p:pRg st="13" end="13"/>
                                            </p:txEl>
                                          </p:spTgt>
                                        </p:tgtEl>
                                        <p:attrNameLst>
                                          <p:attrName>style.visibility</p:attrName>
                                        </p:attrNameLst>
                                      </p:cBhvr>
                                      <p:to>
                                        <p:strVal val="visible"/>
                                      </p:to>
                                    </p:set>
                                    <p:anim calcmode="lin" valueType="num">
                                      <p:cBhvr additive="base">
                                        <p:cTn id="21" dur="500" fill="hold"/>
                                        <p:tgtEl>
                                          <p:spTgt spid="4">
                                            <p:txEl>
                                              <p:pRg st="13" end="1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DF4228-BDD0-7951-CA38-7CE3E1F39E2B}"/>
              </a:ext>
            </a:extLst>
          </p:cNvPr>
          <p:cNvSpPr>
            <a:spLocks noGrp="1"/>
          </p:cNvSpPr>
          <p:nvPr>
            <p:ph type="sldNum" sz="quarter" idx="12"/>
          </p:nvPr>
        </p:nvSpPr>
        <p:spPr/>
        <p:txBody>
          <a:bodyPr/>
          <a:lstStyle/>
          <a:p>
            <a:fld id="{20D4B2D9-DB10-4EB9-B7A6-032A6D4E75AC}" type="slidenum">
              <a:rPr lang="pl-PL" smtClean="0"/>
              <a:pPr/>
              <a:t>59</a:t>
            </a:fld>
            <a:endParaRPr lang="pl-PL" dirty="0"/>
          </a:p>
        </p:txBody>
      </p:sp>
      <p:sp>
        <p:nvSpPr>
          <p:cNvPr id="4" name="Rectangle 2">
            <a:extLst>
              <a:ext uri="{FF2B5EF4-FFF2-40B4-BE49-F238E27FC236}">
                <a16:creationId xmlns:a16="http://schemas.microsoft.com/office/drawing/2014/main" id="{4A5E20EF-94AC-7A27-1BC7-289293306EED}"/>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algn="ctr">
              <a:defRPr/>
            </a:pPr>
            <a:r>
              <a:rPr lang="pl-PL" sz="1600">
                <a:latin typeface="Arial" pitchFamily="34" charset="0"/>
                <a:ea typeface="+mj-lt"/>
                <a:cs typeface="Arial" pitchFamily="34" charset="0"/>
              </a:rPr>
              <a:t>Concepts</a:t>
            </a:r>
            <a:endParaRPr lang="en-GB" sz="4400" dirty="0">
              <a:latin typeface="Arial" pitchFamily="34" charset="0"/>
              <a:ea typeface="+mj-lt"/>
              <a:cs typeface="Arial" pitchFamily="34" charset="0"/>
            </a:endParaRPr>
          </a:p>
        </p:txBody>
      </p:sp>
      <p:sp>
        <p:nvSpPr>
          <p:cNvPr id="6" name="TextBox 1">
            <a:extLst>
              <a:ext uri="{FF2B5EF4-FFF2-40B4-BE49-F238E27FC236}">
                <a16:creationId xmlns:a16="http://schemas.microsoft.com/office/drawing/2014/main" id="{0FD20213-4D83-2264-1DB7-A1CAFE53C973}"/>
              </a:ext>
            </a:extLst>
          </p:cNvPr>
          <p:cNvSpPr txBox="1"/>
          <p:nvPr/>
        </p:nvSpPr>
        <p:spPr>
          <a:xfrm>
            <a:off x="0" y="304800"/>
            <a:ext cx="6781800" cy="4038600"/>
          </a:xfrm>
          <a:prstGeom prst="rect">
            <a:avLst/>
          </a:prstGeom>
          <a:noFill/>
        </p:spPr>
        <p:txBody>
          <a:bodyPr wrap="square" lIns="36000" tIns="36000" rIns="36000" bIns="36000" rtlCol="0">
            <a:noAutofit/>
          </a:bodyPr>
          <a:lstStyle/>
          <a:p>
            <a:r>
              <a:rPr lang="pl-PL" sz="2400" b="1">
                <a:latin typeface="Arial Narrow" panose="020B0606020202030204" pitchFamily="34" charset="0"/>
              </a:rPr>
              <a:t>Input data</a:t>
            </a:r>
            <a:r>
              <a:rPr lang="pl-PL" sz="2400">
                <a:latin typeface="Arial Narrow" panose="020B0606020202030204" pitchFamily="34" charset="0"/>
              </a:rPr>
              <a:t> – data provided to the model </a:t>
            </a:r>
            <a:r>
              <a:rPr lang="pl-PL" sz="2400" dirty="0">
                <a:latin typeface="Arial Narrow" panose="020B0606020202030204" pitchFamily="34" charset="0"/>
              </a:rPr>
              <a:t>(x</a:t>
            </a:r>
            <a:r>
              <a:rPr lang="pl-PL" sz="2400" baseline="-25000" dirty="0">
                <a:latin typeface="Arial Narrow" panose="020B0606020202030204" pitchFamily="34" charset="0"/>
              </a:rPr>
              <a:t>i</a:t>
            </a:r>
            <a:r>
              <a:rPr lang="pl-PL" sz="2400" dirty="0">
                <a:latin typeface="Arial Narrow" panose="020B0606020202030204" pitchFamily="34" charset="0"/>
              </a:rPr>
              <a:t>).</a:t>
            </a:r>
            <a:endParaRPr lang="pl-PL" sz="2400" b="1" dirty="0">
              <a:latin typeface="Arial Narrow" panose="020B0606020202030204" pitchFamily="34" charset="0"/>
            </a:endParaRPr>
          </a:p>
          <a:p>
            <a:endParaRPr lang="pl-PL" sz="2400" b="1">
              <a:latin typeface="Arial Narrow" panose="020B0606020202030204" pitchFamily="34" charset="0"/>
            </a:endParaRPr>
          </a:p>
          <a:p>
            <a:r>
              <a:rPr lang="pl-PL" sz="2400" b="1">
                <a:solidFill>
                  <a:srgbClr val="0070C0"/>
                </a:solidFill>
                <a:latin typeface="Arial Narrow" panose="020B0606020202030204" pitchFamily="34" charset="0"/>
              </a:rPr>
              <a:t>Actual (target, real, true) values</a:t>
            </a:r>
            <a:endParaRPr lang="pl-PL" sz="2400">
              <a:solidFill>
                <a:srgbClr val="0070C0"/>
              </a:solidFill>
              <a:latin typeface="Arial Narrow" panose="020B0606020202030204" pitchFamily="34" charset="0"/>
            </a:endParaRPr>
          </a:p>
          <a:p>
            <a:r>
              <a:rPr lang="pl-PL" sz="2400" b="1">
                <a:solidFill>
                  <a:srgbClr val="0070C0"/>
                </a:solidFill>
                <a:latin typeface="Arial Narrow" panose="020B0606020202030204" pitchFamily="34" charset="0"/>
              </a:rPr>
              <a:t>● </a:t>
            </a:r>
            <a:r>
              <a:rPr lang="pl-PL" sz="2400">
                <a:latin typeface="Arial Narrow" panose="020B0606020202030204" pitchFamily="34" charset="0"/>
              </a:rPr>
              <a:t>– the actual values </a:t>
            </a:r>
            <a:r>
              <a:rPr lang="pl-PL" sz="2400" dirty="0">
                <a:latin typeface="Arial Narrow" panose="020B0606020202030204" pitchFamily="34" charset="0"/>
              </a:rPr>
              <a:t>(</a:t>
            </a:r>
            <a:r>
              <a:rPr lang="pl-PL" sz="2400">
                <a:latin typeface="Arial Narrow" panose="020B0606020202030204" pitchFamily="34" charset="0"/>
              </a:rPr>
              <a:t>y</a:t>
            </a:r>
            <a:r>
              <a:rPr lang="pl-PL" sz="2400" baseline="-25000">
                <a:latin typeface="Arial Narrow" panose="020B0606020202030204" pitchFamily="34" charset="0"/>
              </a:rPr>
              <a:t>i</a:t>
            </a:r>
            <a:r>
              <a:rPr lang="pl-PL" sz="2400">
                <a:latin typeface="Arial Narrow" panose="020B0606020202030204" pitchFamily="34" charset="0"/>
              </a:rPr>
              <a:t>), e.g. the actual car price</a:t>
            </a:r>
            <a:endParaRPr lang="pl-PL" sz="2400" dirty="0">
              <a:latin typeface="Arial Narrow" panose="020B0606020202030204" pitchFamily="34" charset="0"/>
            </a:endParaRPr>
          </a:p>
          <a:p>
            <a:endParaRPr lang="pl-PL" sz="2400" b="1">
              <a:latin typeface="Arial Narrow" panose="020B0606020202030204" pitchFamily="34" charset="0"/>
            </a:endParaRPr>
          </a:p>
          <a:p>
            <a:r>
              <a:rPr lang="pl-PL" sz="2400" b="1">
                <a:solidFill>
                  <a:srgbClr val="FF0000"/>
                </a:solidFill>
                <a:latin typeface="Arial Narrow" panose="020B0606020202030204" pitchFamily="34" charset="0"/>
              </a:rPr>
              <a:t>Predicted (estimated) values</a:t>
            </a:r>
          </a:p>
          <a:p>
            <a:r>
              <a:rPr lang="pl-PL" sz="2400" b="1">
                <a:solidFill>
                  <a:srgbClr val="FF0000"/>
                </a:solidFill>
                <a:latin typeface="Arial Narrow" panose="020B0606020202030204" pitchFamily="34" charset="0"/>
              </a:rPr>
              <a:t>●</a:t>
            </a:r>
            <a:r>
              <a:rPr lang="pl-PL" sz="2400">
                <a:latin typeface="Arial Narrow" panose="020B0606020202030204" pitchFamily="34" charset="0"/>
              </a:rPr>
              <a:t> – results estimated by the model </a:t>
            </a:r>
            <a:r>
              <a:rPr lang="pl-PL" sz="2400" dirty="0">
                <a:latin typeface="Arial Narrow" panose="020B0606020202030204" pitchFamily="34" charset="0"/>
              </a:rPr>
              <a:t>(</a:t>
            </a:r>
            <a:r>
              <a:rPr lang="cy-GB" sz="2400">
                <a:latin typeface="Arial Narrow" panose="020B0606020202030204" pitchFamily="34" charset="0"/>
              </a:rPr>
              <a:t>ŷ</a:t>
            </a:r>
            <a:r>
              <a:rPr lang="pl-PL" sz="2400" baseline="-25000" dirty="0">
                <a:latin typeface="Arial Narrow" panose="020B0606020202030204" pitchFamily="34" charset="0"/>
              </a:rPr>
              <a:t>i</a:t>
            </a:r>
            <a:r>
              <a:rPr lang="pl-PL" sz="2400" dirty="0">
                <a:latin typeface="Arial Narrow" panose="020B0606020202030204" pitchFamily="34" charset="0"/>
              </a:rPr>
              <a:t>). </a:t>
            </a:r>
          </a:p>
          <a:p>
            <a:endParaRPr lang="pl-PL" sz="2400" b="1" dirty="0">
              <a:latin typeface="Arial Narrow" panose="020B0606020202030204" pitchFamily="34" charset="0"/>
            </a:endParaRPr>
          </a:p>
          <a:p>
            <a:r>
              <a:rPr lang="pl-PL" sz="2400" b="1">
                <a:latin typeface="Arial Narrow" panose="020B0606020202030204" pitchFamily="34" charset="0"/>
              </a:rPr>
              <a:t>Loss value </a:t>
            </a:r>
          </a:p>
          <a:p>
            <a:r>
              <a:rPr lang="en-US" sz="2400">
                <a:latin typeface="Arial Narrow" panose="020B0606020202030204" pitchFamily="34" charset="0"/>
              </a:rPr>
              <a:t>the </a:t>
            </a:r>
            <a:r>
              <a:rPr lang="pl-PL" sz="2400">
                <a:latin typeface="Arial Narrow" panose="020B0606020202030204" pitchFamily="34" charset="0"/>
              </a:rPr>
              <a:t>gap</a:t>
            </a:r>
            <a:r>
              <a:rPr lang="en-US" sz="2400">
                <a:latin typeface="Arial Narrow" panose="020B0606020202030204" pitchFamily="34" charset="0"/>
              </a:rPr>
              <a:t> between the </a:t>
            </a:r>
            <a:r>
              <a:rPr lang="pl-PL" sz="2400">
                <a:latin typeface="Arial Narrow" panose="020B0606020202030204" pitchFamily="34" charset="0"/>
              </a:rPr>
              <a:t>actual</a:t>
            </a:r>
            <a:r>
              <a:rPr lang="en-US" sz="2400">
                <a:latin typeface="Arial Narrow" panose="020B0606020202030204" pitchFamily="34" charset="0"/>
              </a:rPr>
              <a:t> and </a:t>
            </a:r>
            <a:r>
              <a:rPr lang="pl-PL" sz="2400">
                <a:latin typeface="Arial Narrow" panose="020B0606020202030204" pitchFamily="34" charset="0"/>
              </a:rPr>
              <a:t>predicted</a:t>
            </a:r>
            <a:r>
              <a:rPr lang="en-US" sz="2400">
                <a:latin typeface="Arial Narrow" panose="020B0606020202030204" pitchFamily="34" charset="0"/>
              </a:rPr>
              <a:t> values</a:t>
            </a:r>
            <a:r>
              <a:rPr lang="pl-PL" sz="2400">
                <a:latin typeface="Arial Narrow" panose="020B0606020202030204" pitchFamily="34" charset="0"/>
              </a:rPr>
              <a:t> (</a:t>
            </a:r>
            <a:r>
              <a:rPr lang="pl-PL" sz="2400" dirty="0">
                <a:latin typeface="Arial Narrow" panose="020B0606020202030204" pitchFamily="34" charset="0"/>
              </a:rPr>
              <a:t>y</a:t>
            </a:r>
            <a:r>
              <a:rPr lang="pl-PL" sz="2400" baseline="-25000" dirty="0">
                <a:latin typeface="Arial Narrow" panose="020B0606020202030204" pitchFamily="34" charset="0"/>
              </a:rPr>
              <a:t>i</a:t>
            </a:r>
            <a:r>
              <a:rPr lang="pl-PL" sz="2400" dirty="0">
                <a:latin typeface="Arial Narrow" panose="020B0606020202030204" pitchFamily="34" charset="0"/>
              </a:rPr>
              <a:t> – </a:t>
            </a:r>
            <a:r>
              <a:rPr lang="cy-GB" sz="2400">
                <a:latin typeface="Arial Narrow" panose="020B0606020202030204" pitchFamily="34" charset="0"/>
              </a:rPr>
              <a:t>ŷ</a:t>
            </a:r>
            <a:r>
              <a:rPr lang="pl-PL" sz="2400" baseline="-25000" dirty="0">
                <a:latin typeface="Arial Narrow" panose="020B0606020202030204" pitchFamily="34" charset="0"/>
              </a:rPr>
              <a:t>i</a:t>
            </a:r>
            <a:r>
              <a:rPr lang="pl-PL" sz="2400" dirty="0">
                <a:latin typeface="Arial Narrow" panose="020B0606020202030204" pitchFamily="34" charset="0"/>
              </a:rPr>
              <a:t>)</a:t>
            </a:r>
          </a:p>
        </p:txBody>
      </p:sp>
      <p:pic>
        <p:nvPicPr>
          <p:cNvPr id="8" name="Obraz 4">
            <a:extLst>
              <a:ext uri="{FF2B5EF4-FFF2-40B4-BE49-F238E27FC236}">
                <a16:creationId xmlns:a16="http://schemas.microsoft.com/office/drawing/2014/main" id="{2BE764C9-1829-E2AB-D48C-DBA0CE4769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9400" y="2270125"/>
            <a:ext cx="5232063" cy="4062543"/>
          </a:xfrm>
          <a:prstGeom prst="rect">
            <a:avLst/>
          </a:prstGeom>
        </p:spPr>
      </p:pic>
      <p:sp>
        <p:nvSpPr>
          <p:cNvPr id="9" name="TextBox 8">
            <a:extLst>
              <a:ext uri="{FF2B5EF4-FFF2-40B4-BE49-F238E27FC236}">
                <a16:creationId xmlns:a16="http://schemas.microsoft.com/office/drawing/2014/main" id="{D58F22DA-E053-F9ED-27BC-B9DFA657902B}"/>
              </a:ext>
            </a:extLst>
          </p:cNvPr>
          <p:cNvSpPr txBox="1"/>
          <p:nvPr/>
        </p:nvSpPr>
        <p:spPr>
          <a:xfrm>
            <a:off x="11035995" y="2438400"/>
            <a:ext cx="965329" cy="461665"/>
          </a:xfrm>
          <a:prstGeom prst="rect">
            <a:avLst/>
          </a:prstGeom>
          <a:noFill/>
        </p:spPr>
        <p:txBody>
          <a:bodyPr wrap="none" rtlCol="0">
            <a:spAutoFit/>
          </a:bodyPr>
          <a:lstStyle/>
          <a:p>
            <a:r>
              <a:rPr lang="pl-PL" sz="2400">
                <a:solidFill>
                  <a:srgbClr val="FF0000"/>
                </a:solidFill>
                <a:latin typeface="Aptos Narrow" panose="020B0004020202020204" pitchFamily="34" charset="0"/>
              </a:rPr>
              <a:t>model</a:t>
            </a:r>
            <a:endParaRPr lang="pl-PL">
              <a:solidFill>
                <a:srgbClr val="FF0000"/>
              </a:solidFill>
              <a:latin typeface="Aptos Narrow" panose="020B0004020202020204" pitchFamily="34" charset="0"/>
            </a:endParaRPr>
          </a:p>
        </p:txBody>
      </p:sp>
    </p:spTree>
    <p:extLst>
      <p:ext uri="{BB962C8B-B14F-4D97-AF65-F5344CB8AC3E}">
        <p14:creationId xmlns:p14="http://schemas.microsoft.com/office/powerpoint/2010/main" val="358071450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E95C1DF-5D05-5A9C-1BE3-9311E40CDB48}"/>
              </a:ext>
            </a:extLst>
          </p:cNvPr>
          <p:cNvSpPr>
            <a:spLocks noGrp="1"/>
          </p:cNvSpPr>
          <p:nvPr>
            <p:ph type="sldNum" sz="quarter" idx="12"/>
          </p:nvPr>
        </p:nvSpPr>
        <p:spPr/>
        <p:txBody>
          <a:bodyPr/>
          <a:lstStyle/>
          <a:p>
            <a:fld id="{20D4B2D9-DB10-4EB9-B7A6-032A6D4E75AC}" type="slidenum">
              <a:rPr lang="pl-PL" smtClean="0"/>
              <a:pPr/>
              <a:t>60</a:t>
            </a:fld>
            <a:endParaRPr lang="pl-PL" dirty="0"/>
          </a:p>
        </p:txBody>
      </p:sp>
      <p:sp>
        <p:nvSpPr>
          <p:cNvPr id="4" name="TextBox 1">
            <a:extLst>
              <a:ext uri="{FF2B5EF4-FFF2-40B4-BE49-F238E27FC236}">
                <a16:creationId xmlns:a16="http://schemas.microsoft.com/office/drawing/2014/main" id="{E11DDD71-F0BD-183F-6AE5-23A0EC6D3E1B}"/>
              </a:ext>
            </a:extLst>
          </p:cNvPr>
          <p:cNvSpPr txBox="1"/>
          <p:nvPr/>
        </p:nvSpPr>
        <p:spPr>
          <a:xfrm>
            <a:off x="0" y="304800"/>
            <a:ext cx="12192000" cy="5334000"/>
          </a:xfrm>
          <a:prstGeom prst="rect">
            <a:avLst/>
          </a:prstGeom>
          <a:noFill/>
        </p:spPr>
        <p:txBody>
          <a:bodyPr wrap="square" lIns="36000" tIns="36000" rIns="36000" bIns="36000" rtlCol="0">
            <a:noAutofit/>
          </a:bodyPr>
          <a:lstStyle/>
          <a:p>
            <a:r>
              <a:rPr lang="pl-PL" sz="2800" b="1">
                <a:latin typeface="Arial Narrow" panose="020B0606020202030204" pitchFamily="34" charset="0"/>
              </a:rPr>
              <a:t>Data classification</a:t>
            </a:r>
            <a:endParaRPr lang="pl-PL" sz="2000" b="1" dirty="0">
              <a:latin typeface="Arial Narrow" panose="020B0606020202030204" pitchFamily="34" charset="0"/>
            </a:endParaRPr>
          </a:p>
          <a:p>
            <a:pPr marL="273050" indent="-273050"/>
            <a:r>
              <a:rPr lang="pl-PL" sz="2000">
                <a:latin typeface="Arial Narrow" panose="020B0606020202030204" pitchFamily="34" charset="0"/>
              </a:rPr>
              <a:t>1. 	Numerical</a:t>
            </a:r>
          </a:p>
          <a:p>
            <a:pPr marL="447675" indent="-174625">
              <a:buFont typeface="Arial" panose="020B0604020202020204" pitchFamily="34" charset="0"/>
              <a:buChar char="•"/>
            </a:pPr>
            <a:r>
              <a:rPr lang="pl-PL" sz="2000">
                <a:latin typeface="Arial Narrow" panose="020B0606020202030204" pitchFamily="34" charset="0"/>
              </a:rPr>
              <a:t>discrete (whole numbers)</a:t>
            </a:r>
            <a:br>
              <a:rPr lang="pl-PL" sz="2000">
                <a:latin typeface="Arial Narrow" panose="020B0606020202030204" pitchFamily="34" charset="0"/>
              </a:rPr>
            </a:br>
            <a:r>
              <a:rPr lang="pl-PL" sz="2000">
                <a:latin typeface="Arial Narrow" panose="020B0606020202030204" pitchFamily="34" charset="0"/>
              </a:rPr>
              <a:t>– interval – t</a:t>
            </a:r>
            <a:r>
              <a:rPr lang="en-US" sz="2000">
                <a:latin typeface="Arial Narrow" panose="020B0606020202030204" pitchFamily="34" charset="0"/>
              </a:rPr>
              <a:t>he difference, or distance, between values is meaningful, for example the number of products</a:t>
            </a:r>
            <a:r>
              <a:rPr lang="pl-PL" sz="2000">
                <a:latin typeface="Arial Narrow" panose="020B0606020202030204" pitchFamily="34" charset="0"/>
              </a:rPr>
              <a:t> (1, 5, 99)</a:t>
            </a:r>
            <a:r>
              <a:rPr lang="en-US" sz="2000">
                <a:latin typeface="Arial Narrow" panose="020B0606020202030204" pitchFamily="34" charset="0"/>
              </a:rPr>
              <a:t>.</a:t>
            </a:r>
            <a:br>
              <a:rPr lang="pl-PL" sz="2000">
                <a:latin typeface="Arial Narrow" panose="020B0606020202030204" pitchFamily="34" charset="0"/>
              </a:rPr>
            </a:br>
            <a:r>
              <a:rPr lang="pl-PL" sz="2000">
                <a:latin typeface="Arial Narrow" panose="020B0606020202030204" pitchFamily="34" charset="0"/>
              </a:rPr>
              <a:t>– </a:t>
            </a:r>
            <a:r>
              <a:rPr lang="pl-PL" sz="2000" b="1">
                <a:solidFill>
                  <a:srgbClr val="00B050"/>
                </a:solidFill>
                <a:latin typeface="Arial Narrow" panose="020B0606020202030204" pitchFamily="34" charset="0"/>
              </a:rPr>
              <a:t>ordinal </a:t>
            </a:r>
            <a:r>
              <a:rPr lang="pl-PL" sz="2000">
                <a:latin typeface="Arial Narrow" panose="020B0606020202030204" pitchFamily="34" charset="0"/>
              </a:rPr>
              <a:t>– </a:t>
            </a:r>
            <a:r>
              <a:rPr lang="en-US" sz="2000">
                <a:latin typeface="Arial Narrow" panose="020B0606020202030204" pitchFamily="34" charset="0"/>
              </a:rPr>
              <a:t>The order is meaningful, but the difference between values is not.</a:t>
            </a:r>
            <a:r>
              <a:rPr lang="pl-PL" sz="2000">
                <a:latin typeface="Arial Narrow" panose="020B0606020202030204" pitchFamily="34" charset="0"/>
              </a:rPr>
              <a:t> </a:t>
            </a:r>
            <a:br>
              <a:rPr lang="pl-PL" sz="2000">
                <a:latin typeface="Arial Narrow" panose="020B0606020202030204" pitchFamily="34" charset="0"/>
              </a:rPr>
            </a:br>
            <a:r>
              <a:rPr lang="pl-PL" sz="2000">
                <a:latin typeface="Arial Narrow" panose="020B0606020202030204" pitchFamily="34" charset="0"/>
              </a:rPr>
              <a:t>	e.g. </a:t>
            </a:r>
            <a:r>
              <a:rPr lang="pl-PL" sz="2000" i="1">
                <a:latin typeface="Arial Narrow" panose="020B0606020202030204" pitchFamily="34" charset="0"/>
              </a:rPr>
              <a:t>h</a:t>
            </a:r>
            <a:r>
              <a:rPr lang="en-US" sz="2000" i="1">
                <a:latin typeface="Arial Narrow" panose="020B0606020202030204" pitchFamily="34" charset="0"/>
              </a:rPr>
              <a:t>igh</a:t>
            </a:r>
            <a:r>
              <a:rPr lang="en-US" sz="2000">
                <a:latin typeface="Arial Narrow" panose="020B0606020202030204" pitchFamily="34" charset="0"/>
              </a:rPr>
              <a:t> has a value of 2, </a:t>
            </a:r>
            <a:r>
              <a:rPr lang="en-US" sz="2000" i="1">
                <a:latin typeface="Arial Narrow" panose="020B0606020202030204" pitchFamily="34" charset="0"/>
              </a:rPr>
              <a:t>medium </a:t>
            </a:r>
            <a:r>
              <a:rPr lang="en-US" sz="2000">
                <a:latin typeface="Arial Narrow" panose="020B0606020202030204" pitchFamily="34" charset="0"/>
              </a:rPr>
              <a:t>has a value of 1, and </a:t>
            </a:r>
            <a:r>
              <a:rPr lang="en-US" sz="2000" i="1">
                <a:latin typeface="Arial Narrow" panose="020B0606020202030204" pitchFamily="34" charset="0"/>
              </a:rPr>
              <a:t>low</a:t>
            </a:r>
            <a:r>
              <a:rPr lang="en-US" sz="2000">
                <a:latin typeface="Arial Narrow" panose="020B0606020202030204" pitchFamily="34" charset="0"/>
              </a:rPr>
              <a:t> has a value of 0.</a:t>
            </a:r>
            <a:endParaRPr lang="pl-PL" sz="2000">
              <a:latin typeface="Arial Narrow" panose="020B0606020202030204" pitchFamily="34" charset="0"/>
            </a:endParaRPr>
          </a:p>
          <a:p>
            <a:pPr marL="447675" indent="-174625">
              <a:buFont typeface="Arial" panose="020B0604020202020204" pitchFamily="34" charset="0"/>
              <a:buChar char="•"/>
            </a:pPr>
            <a:r>
              <a:rPr lang="pl-PL" sz="2000">
                <a:latin typeface="Arial Narrow" panose="020B0606020202030204" pitchFamily="34" charset="0"/>
              </a:rPr>
              <a:t>continuous (float, real, e.g. product price)</a:t>
            </a:r>
          </a:p>
          <a:p>
            <a:pPr marL="263525" indent="-263525">
              <a:buAutoNum type="arabicPeriod" startAt="2"/>
            </a:pPr>
            <a:r>
              <a:rPr lang="pl-PL" sz="2000">
                <a:latin typeface="Arial Narrow" panose="020B0606020202030204" pitchFamily="34" charset="0"/>
              </a:rPr>
              <a:t>Categorical</a:t>
            </a:r>
          </a:p>
          <a:p>
            <a:pPr marL="447675" indent="-184150">
              <a:buFont typeface="Arial" panose="020B0604020202020204" pitchFamily="34" charset="0"/>
              <a:buChar char="•"/>
            </a:pPr>
            <a:r>
              <a:rPr lang="pl-PL" sz="2000">
                <a:latin typeface="Arial Narrow" panose="020B0606020202030204" pitchFamily="34" charset="0"/>
              </a:rPr>
              <a:t>nominal – no</a:t>
            </a:r>
            <a:r>
              <a:rPr lang="en-US" sz="2000">
                <a:latin typeface="Arial Narrow" panose="020B0606020202030204" pitchFamily="34" charset="0"/>
              </a:rPr>
              <a:t> compared with one another; there is no order (e.g., colo</a:t>
            </a:r>
            <a:r>
              <a:rPr lang="pl-PL" sz="2000">
                <a:latin typeface="Arial Narrow" panose="020B0606020202030204" pitchFamily="34" charset="0"/>
              </a:rPr>
              <a:t>u</a:t>
            </a:r>
            <a:r>
              <a:rPr lang="en-US" sz="2000">
                <a:latin typeface="Arial Narrow" panose="020B0606020202030204" pitchFamily="34" charset="0"/>
              </a:rPr>
              <a:t>r, occupation, location, unit of measurement)</a:t>
            </a:r>
            <a:endParaRPr lang="pl-PL" sz="2000">
              <a:latin typeface="Arial Narrow" panose="020B0606020202030204" pitchFamily="34" charset="0"/>
            </a:endParaRPr>
          </a:p>
          <a:p>
            <a:pPr marL="447675" indent="-184150">
              <a:buFont typeface="Arial" panose="020B0604020202020204" pitchFamily="34" charset="0"/>
              <a:buChar char="•"/>
            </a:pPr>
            <a:r>
              <a:rPr lang="pl-PL" sz="2000" b="1">
                <a:solidFill>
                  <a:srgbClr val="00B050"/>
                </a:solidFill>
                <a:latin typeface="Arial Narrow" panose="020B0606020202030204" pitchFamily="34" charset="0"/>
              </a:rPr>
              <a:t>ordinal</a:t>
            </a:r>
            <a:r>
              <a:rPr lang="pl-PL" sz="2000">
                <a:solidFill>
                  <a:srgbClr val="0070C0"/>
                </a:solidFill>
                <a:latin typeface="Arial Narrow" panose="020B0606020202030204" pitchFamily="34" charset="0"/>
              </a:rPr>
              <a:t> </a:t>
            </a:r>
            <a:r>
              <a:rPr lang="pl-PL" sz="2000">
                <a:latin typeface="Arial Narrow" panose="020B0606020202030204" pitchFamily="34" charset="0"/>
              </a:rPr>
              <a:t>– </a:t>
            </a:r>
            <a:r>
              <a:rPr lang="en-US" sz="2000">
                <a:latin typeface="Arial Narrow" panose="020B0606020202030204" pitchFamily="34" charset="0"/>
              </a:rPr>
              <a:t>comparable to one another </a:t>
            </a:r>
            <a:br>
              <a:rPr lang="pl-PL" sz="2000">
                <a:latin typeface="Arial Narrow" panose="020B0606020202030204" pitchFamily="34" charset="0"/>
              </a:rPr>
            </a:br>
            <a:r>
              <a:rPr lang="en-US" sz="2000">
                <a:latin typeface="Arial Narrow" panose="020B0606020202030204" pitchFamily="34" charset="0"/>
              </a:rPr>
              <a:t>e.g., </a:t>
            </a:r>
            <a:br>
              <a:rPr lang="pl-PL" sz="2000">
                <a:latin typeface="Arial Narrow" panose="020B0606020202030204" pitchFamily="34" charset="0"/>
              </a:rPr>
            </a:br>
            <a:r>
              <a:rPr lang="en-US" sz="2000">
                <a:latin typeface="Arial Narrow" panose="020B0606020202030204" pitchFamily="34" charset="0"/>
              </a:rPr>
              <a:t>grade A is better than grade B</a:t>
            </a:r>
            <a:br>
              <a:rPr lang="pl-PL" sz="2000">
                <a:latin typeface="Arial Narrow" panose="020B0606020202030204" pitchFamily="34" charset="0"/>
              </a:rPr>
            </a:br>
            <a:r>
              <a:rPr lang="pl-PL" sz="2000">
                <a:latin typeface="Arial Narrow" panose="020B0606020202030204" pitchFamily="34" charset="0"/>
              </a:rPr>
              <a:t>height</a:t>
            </a:r>
            <a:r>
              <a:rPr lang="en-US" sz="2000">
                <a:latin typeface="Arial Narrow" panose="020B0606020202030204" pitchFamily="34" charset="0"/>
              </a:rPr>
              <a:t> can be high, </a:t>
            </a:r>
            <a:r>
              <a:rPr lang="pl-PL" sz="2000">
                <a:latin typeface="Arial Narrow" panose="020B0606020202030204" pitchFamily="34" charset="0"/>
              </a:rPr>
              <a:t>medium</a:t>
            </a:r>
            <a:r>
              <a:rPr lang="en-US" sz="2000">
                <a:latin typeface="Arial Narrow" panose="020B0606020202030204" pitchFamily="34" charset="0"/>
              </a:rPr>
              <a:t>, or low </a:t>
            </a:r>
            <a:br>
              <a:rPr lang="pl-PL" sz="2000">
                <a:latin typeface="Arial Narrow" panose="020B0606020202030204" pitchFamily="34" charset="0"/>
              </a:rPr>
            </a:br>
            <a:r>
              <a:rPr lang="en-US" sz="2000">
                <a:latin typeface="Arial Narrow" panose="020B0606020202030204" pitchFamily="34" charset="0"/>
              </a:rPr>
              <a:t>test can be difficult, neutral, or easy</a:t>
            </a:r>
            <a:endParaRPr lang="pl-PL" sz="2000">
              <a:latin typeface="Arial Narrow" panose="020B0606020202030204" pitchFamily="34" charset="0"/>
            </a:endParaRPr>
          </a:p>
          <a:p>
            <a:endParaRPr lang="pl-PL" sz="2000">
              <a:latin typeface="Arial Narrow" panose="020B0606020202030204" pitchFamily="34" charset="0"/>
            </a:endParaRPr>
          </a:p>
          <a:p>
            <a:r>
              <a:rPr lang="en-US" sz="2000">
                <a:latin typeface="Arial Narrow" panose="020B0606020202030204" pitchFamily="34" charset="0"/>
              </a:rPr>
              <a:t>Only numerical data can be fed into </a:t>
            </a:r>
            <a:r>
              <a:rPr lang="pl-PL" sz="2000">
                <a:latin typeface="Arial Narrow" panose="020B0606020202030204" pitchFamily="34" charset="0"/>
              </a:rPr>
              <a:t>ML</a:t>
            </a:r>
            <a:r>
              <a:rPr lang="en-US" sz="2000">
                <a:latin typeface="Arial Narrow" panose="020B0606020202030204" pitchFamily="34" charset="0"/>
              </a:rPr>
              <a:t> models. All other data must be converted to a numerical format.</a:t>
            </a:r>
            <a:endParaRPr lang="pl-PL" sz="2000" dirty="0">
              <a:latin typeface="Arial Narrow" panose="020B0606020202030204" pitchFamily="34" charset="0"/>
            </a:endParaRPr>
          </a:p>
        </p:txBody>
      </p:sp>
      <p:sp>
        <p:nvSpPr>
          <p:cNvPr id="6" name="Rectangle 2">
            <a:extLst>
              <a:ext uri="{FF2B5EF4-FFF2-40B4-BE49-F238E27FC236}">
                <a16:creationId xmlns:a16="http://schemas.microsoft.com/office/drawing/2014/main" id="{6E5DEAF1-7F29-A5F3-10BE-A796C4422BB8}"/>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pl-PL" sz="1600">
                <a:latin typeface="Arial" pitchFamily="34" charset="0"/>
                <a:ea typeface="+mj-lt"/>
                <a:cs typeface="Arial" pitchFamily="34" charset="0"/>
              </a:rPr>
              <a:t>Data in ML</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394975430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F1E805D-B3F1-1164-EADD-874502AB3E36}"/>
              </a:ext>
            </a:extLst>
          </p:cNvPr>
          <p:cNvSpPr>
            <a:spLocks noGrp="1"/>
          </p:cNvSpPr>
          <p:nvPr>
            <p:ph type="sldNum" sz="quarter" idx="12"/>
          </p:nvPr>
        </p:nvSpPr>
        <p:spPr/>
        <p:txBody>
          <a:bodyPr/>
          <a:lstStyle/>
          <a:p>
            <a:fld id="{20D4B2D9-DB10-4EB9-B7A6-032A6D4E75AC}" type="slidenum">
              <a:rPr lang="pl-PL" sz="2400" smtClean="0">
                <a:latin typeface="Arial Narrow" panose="020B0606020202030204" pitchFamily="34" charset="0"/>
              </a:rPr>
              <a:pPr/>
              <a:t>61</a:t>
            </a:fld>
            <a:endParaRPr lang="pl-PL" sz="2400" dirty="0">
              <a:latin typeface="Arial Narrow" panose="020B0606020202030204" pitchFamily="34" charset="0"/>
            </a:endParaRPr>
          </a:p>
        </p:txBody>
      </p:sp>
      <p:sp>
        <p:nvSpPr>
          <p:cNvPr id="6" name="TextBox 1">
            <a:extLst>
              <a:ext uri="{FF2B5EF4-FFF2-40B4-BE49-F238E27FC236}">
                <a16:creationId xmlns:a16="http://schemas.microsoft.com/office/drawing/2014/main" id="{E0AC6596-8AD4-B925-DEC4-0DE9400F803B}"/>
              </a:ext>
            </a:extLst>
          </p:cNvPr>
          <p:cNvSpPr txBox="1"/>
          <p:nvPr/>
        </p:nvSpPr>
        <p:spPr>
          <a:xfrm>
            <a:off x="0" y="304800"/>
            <a:ext cx="12192000" cy="5334000"/>
          </a:xfrm>
          <a:prstGeom prst="rect">
            <a:avLst/>
          </a:prstGeom>
          <a:noFill/>
        </p:spPr>
        <p:txBody>
          <a:bodyPr wrap="square" lIns="36000" tIns="36000" rIns="36000" bIns="36000" rtlCol="0">
            <a:noAutofit/>
          </a:bodyPr>
          <a:lstStyle/>
          <a:p>
            <a:r>
              <a:rPr lang="pl-PL" sz="2400" b="1">
                <a:latin typeface="Arial Narrow" panose="020B0606020202030204" pitchFamily="34" charset="0"/>
              </a:rPr>
              <a:t>Independent variable (</a:t>
            </a:r>
            <a:r>
              <a:rPr lang="pl-PL" sz="2400">
                <a:latin typeface="Arial Narrow" panose="020B0606020202030204" pitchFamily="34" charset="0"/>
              </a:rPr>
              <a:t>predictor, explanatory, input, or manipulated variable).</a:t>
            </a:r>
          </a:p>
          <a:p>
            <a:r>
              <a:rPr lang="pl-PL" sz="2400" b="1">
                <a:latin typeface="Arial Narrow" panose="020B0606020202030204" pitchFamily="34" charset="0"/>
              </a:rPr>
              <a:t>Dependent variable</a:t>
            </a:r>
            <a:r>
              <a:rPr lang="pl-PL" sz="2400">
                <a:latin typeface="Arial Narrow" panose="020B0606020202030204" pitchFamily="34" charset="0"/>
              </a:rPr>
              <a:t> (outcome, response, output, or measured variable).</a:t>
            </a:r>
          </a:p>
          <a:p>
            <a:endParaRPr lang="pl-PL" sz="2400">
              <a:latin typeface="Arial Narrow" panose="020B0606020202030204" pitchFamily="34" charset="0"/>
            </a:endParaRPr>
          </a:p>
          <a:p>
            <a:r>
              <a:rPr lang="pl-PL" sz="2400">
                <a:latin typeface="Arial Narrow" panose="020B0606020202030204" pitchFamily="34" charset="0"/>
              </a:rPr>
              <a:t>An </a:t>
            </a:r>
            <a:r>
              <a:rPr lang="pl-PL" sz="2400" b="1">
                <a:latin typeface="Arial Narrow" panose="020B0606020202030204" pitchFamily="34" charset="0"/>
              </a:rPr>
              <a:t>independent variable</a:t>
            </a:r>
            <a:r>
              <a:rPr lang="pl-PL" sz="2400">
                <a:latin typeface="Arial Narrow" panose="020B0606020202030204" pitchFamily="34" charset="0"/>
              </a:rPr>
              <a:t> is the factor you intentionally change or control in an experiment.</a:t>
            </a:r>
          </a:p>
          <a:p>
            <a:r>
              <a:rPr lang="pl-PL" sz="2400">
                <a:latin typeface="Arial Narrow" panose="020B0606020202030204" pitchFamily="34" charset="0"/>
              </a:rPr>
              <a:t>A </a:t>
            </a:r>
            <a:r>
              <a:rPr lang="pl-PL" sz="2400" b="1">
                <a:latin typeface="Arial Narrow" panose="020B0606020202030204" pitchFamily="34" charset="0"/>
              </a:rPr>
              <a:t>dependent variable</a:t>
            </a:r>
            <a:r>
              <a:rPr lang="pl-PL" sz="2400">
                <a:latin typeface="Arial Narrow" panose="020B0606020202030204" pitchFamily="34" charset="0"/>
              </a:rPr>
              <a:t> is the result you measure. It changes in response to the independent variable.</a:t>
            </a:r>
          </a:p>
          <a:p>
            <a:endParaRPr lang="pl-PL" sz="2400" b="1">
              <a:latin typeface="Arial Narrow" panose="020B0606020202030204" pitchFamily="34" charset="0"/>
            </a:endParaRPr>
          </a:p>
          <a:p>
            <a:r>
              <a:rPr lang="pl-PL" sz="2400" b="1">
                <a:latin typeface="Arial Narrow" panose="020B0606020202030204" pitchFamily="34" charset="0"/>
              </a:rPr>
              <a:t>Example:</a:t>
            </a:r>
            <a:r>
              <a:rPr lang="pl-PL" sz="2400">
                <a:latin typeface="Arial Narrow" panose="020B0606020202030204" pitchFamily="34" charset="0"/>
              </a:rPr>
              <a:t> </a:t>
            </a:r>
          </a:p>
          <a:p>
            <a:r>
              <a:rPr lang="pl-PL" sz="2400">
                <a:latin typeface="Arial Narrow" panose="020B0606020202030204" pitchFamily="34" charset="0"/>
              </a:rPr>
              <a:t>You want to test whether study time, sleep time before exam and number of practice tests completed affects exam scores.</a:t>
            </a:r>
          </a:p>
          <a:p>
            <a:pPr marL="263525" indent="-263525">
              <a:buFont typeface="Arial" panose="020B0604020202020204" pitchFamily="34" charset="0"/>
              <a:buChar char="•"/>
            </a:pPr>
            <a:r>
              <a:rPr lang="pl-PL" sz="2400">
                <a:latin typeface="Arial Narrow" panose="020B0606020202030204" pitchFamily="34" charset="0"/>
              </a:rPr>
              <a:t>independent variables: study time, sleep time, number of tests.</a:t>
            </a:r>
          </a:p>
          <a:p>
            <a:pPr marL="263525" indent="-263525">
              <a:buFont typeface="Arial" panose="020B0604020202020204" pitchFamily="34" charset="0"/>
              <a:buChar char="•"/>
            </a:pPr>
            <a:r>
              <a:rPr lang="pl-PL" sz="2400">
                <a:latin typeface="Arial Narrow" panose="020B0606020202030204" pitchFamily="34" charset="0"/>
              </a:rPr>
              <a:t>dependent variable: exam score.</a:t>
            </a:r>
          </a:p>
          <a:p>
            <a:r>
              <a:rPr lang="pl-PL" sz="2400">
                <a:latin typeface="Arial Narrow" panose="020B0606020202030204" pitchFamily="34" charset="0"/>
              </a:rPr>
              <a:t>The exam score </a:t>
            </a:r>
            <a:r>
              <a:rPr lang="pl-PL" sz="2400" b="1">
                <a:latin typeface="Arial Narrow" panose="020B0606020202030204" pitchFamily="34" charset="0"/>
              </a:rPr>
              <a:t>depends on </a:t>
            </a:r>
            <a:r>
              <a:rPr lang="pl-PL" sz="2400">
                <a:latin typeface="Arial Narrow" panose="020B0606020202030204" pitchFamily="34" charset="0"/>
              </a:rPr>
              <a:t>study time, sleep time and number of tests completed.</a:t>
            </a:r>
          </a:p>
          <a:p>
            <a:endParaRPr lang="pl-PL" sz="2400" dirty="0">
              <a:latin typeface="Arial Narrow" panose="020B0606020202030204" pitchFamily="34" charset="0"/>
            </a:endParaRPr>
          </a:p>
        </p:txBody>
      </p:sp>
      <p:sp>
        <p:nvSpPr>
          <p:cNvPr id="4" name="Rectangle 2">
            <a:extLst>
              <a:ext uri="{FF2B5EF4-FFF2-40B4-BE49-F238E27FC236}">
                <a16:creationId xmlns:a16="http://schemas.microsoft.com/office/drawing/2014/main" id="{0E48606A-505B-8761-F8E2-A817E7EC89D8}"/>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pl-PL" sz="1600">
                <a:latin typeface="Arial" pitchFamily="34" charset="0"/>
                <a:ea typeface="+mj-lt"/>
                <a:cs typeface="Arial" pitchFamily="34" charset="0"/>
              </a:rPr>
              <a:t>Data in ML</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232285078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D2AE4A1-7C53-7947-C527-89D88411C606}"/>
              </a:ext>
            </a:extLst>
          </p:cNvPr>
          <p:cNvSpPr>
            <a:spLocks noGrp="1"/>
          </p:cNvSpPr>
          <p:nvPr>
            <p:ph type="sldNum" sz="quarter" idx="12"/>
          </p:nvPr>
        </p:nvSpPr>
        <p:spPr/>
        <p:txBody>
          <a:bodyPr/>
          <a:lstStyle/>
          <a:p>
            <a:fld id="{20D4B2D9-DB10-4EB9-B7A6-032A6D4E75AC}" type="slidenum">
              <a:rPr lang="pl-PL" smtClean="0"/>
              <a:pPr/>
              <a:t>62</a:t>
            </a:fld>
            <a:endParaRPr lang="pl-PL" dirty="0"/>
          </a:p>
        </p:txBody>
      </p:sp>
      <p:sp>
        <p:nvSpPr>
          <p:cNvPr id="4" name="TextBox 1">
            <a:extLst>
              <a:ext uri="{FF2B5EF4-FFF2-40B4-BE49-F238E27FC236}">
                <a16:creationId xmlns:a16="http://schemas.microsoft.com/office/drawing/2014/main" id="{9EDA599E-6FEC-8A4F-C967-BAB702EF0D46}"/>
              </a:ext>
            </a:extLst>
          </p:cNvPr>
          <p:cNvSpPr txBox="1"/>
          <p:nvPr/>
        </p:nvSpPr>
        <p:spPr>
          <a:xfrm>
            <a:off x="0" y="304800"/>
            <a:ext cx="12192000" cy="5334000"/>
          </a:xfrm>
          <a:prstGeom prst="rect">
            <a:avLst/>
          </a:prstGeom>
          <a:noFill/>
        </p:spPr>
        <p:txBody>
          <a:bodyPr wrap="square" lIns="36000" tIns="36000" rIns="36000" bIns="36000" rtlCol="0">
            <a:noAutofit/>
          </a:bodyPr>
          <a:lstStyle/>
          <a:p>
            <a:r>
              <a:rPr lang="pl-PL" sz="2800" b="1">
                <a:latin typeface="Arial Narrow" panose="020B0606020202030204" pitchFamily="34" charset="0"/>
              </a:rPr>
              <a:t>Data normalization</a:t>
            </a:r>
          </a:p>
          <a:p>
            <a:pPr marL="273050" indent="-273050"/>
            <a:r>
              <a:rPr lang="en-US" sz="2400">
                <a:latin typeface="Arial Narrow" panose="020B0606020202030204" pitchFamily="34" charset="0"/>
              </a:rPr>
              <a:t>Normalization is necessary when the method used requires it or when the data are on different scales </a:t>
            </a:r>
            <a:br>
              <a:rPr lang="pl-PL" sz="2400">
                <a:latin typeface="Arial Narrow" panose="020B0606020202030204" pitchFamily="34" charset="0"/>
              </a:rPr>
            </a:br>
            <a:r>
              <a:rPr lang="en-US" sz="2400">
                <a:latin typeface="Arial Narrow" panose="020B0606020202030204" pitchFamily="34" charset="0"/>
              </a:rPr>
              <a:t>(e.g., attribute A takes values from 5 to 10, and attribute B takes values from 2,000 to 3,000).</a:t>
            </a:r>
            <a:endParaRPr lang="pl-PL" sz="2400">
              <a:latin typeface="Arial Narrow" panose="020B0606020202030204" pitchFamily="34" charset="0"/>
            </a:endParaRPr>
          </a:p>
          <a:p>
            <a:pPr marL="273050" indent="-273050"/>
            <a:endParaRPr lang="pl-PL" sz="2400">
              <a:latin typeface="Arial Narrow" panose="020B0606020202030204" pitchFamily="34" charset="0"/>
            </a:endParaRPr>
          </a:p>
          <a:p>
            <a:pPr marL="273050" indent="-273050"/>
            <a:r>
              <a:rPr lang="en-US" sz="2400">
                <a:latin typeface="Arial Narrow" panose="020B0606020202030204" pitchFamily="34" charset="0"/>
              </a:rPr>
              <a:t>Normalization is the process of transforming data values to a common scale, usually to make features comparable and improve the performance of machine learning algorithms.</a:t>
            </a:r>
            <a:endParaRPr lang="pl-PL" sz="2400">
              <a:latin typeface="Arial Narrow" panose="020B0606020202030204" pitchFamily="34" charset="0"/>
            </a:endParaRPr>
          </a:p>
          <a:p>
            <a:pPr marL="273050" indent="-273050"/>
            <a:endParaRPr lang="pl-PL" sz="2400">
              <a:latin typeface="Arial Narrow" panose="020B0606020202030204" pitchFamily="34" charset="0"/>
            </a:endParaRPr>
          </a:p>
          <a:p>
            <a:pPr marL="273050" indent="-273050"/>
            <a:r>
              <a:rPr lang="en-US" sz="2400">
                <a:latin typeface="Arial Narrow" panose="020B0606020202030204" pitchFamily="34" charset="0"/>
              </a:rPr>
              <a:t>There are many normalization methods</a:t>
            </a:r>
            <a:r>
              <a:rPr lang="pl-PL" sz="2400">
                <a:latin typeface="Arial Narrow" panose="020B0606020202030204" pitchFamily="34" charset="0"/>
              </a:rPr>
              <a:t>, e.g.:</a:t>
            </a:r>
          </a:p>
          <a:p>
            <a:pPr marL="182563" indent="-182563">
              <a:buFont typeface="Arial" panose="020B0604020202020204" pitchFamily="34" charset="0"/>
              <a:buChar char="•"/>
            </a:pPr>
            <a:r>
              <a:rPr lang="pl-PL" sz="2400">
                <a:latin typeface="Arial Narrow" panose="020B0606020202030204" pitchFamily="34" charset="0"/>
              </a:rPr>
              <a:t>standardization</a:t>
            </a:r>
          </a:p>
          <a:p>
            <a:pPr marL="182563" indent="-182563">
              <a:buFont typeface="Arial" panose="020B0604020202020204" pitchFamily="34" charset="0"/>
              <a:buChar char="•"/>
            </a:pPr>
            <a:r>
              <a:rPr lang="pl-PL" sz="2400">
                <a:latin typeface="Arial Narrow" panose="020B0606020202030204" pitchFamily="34" charset="0"/>
              </a:rPr>
              <a:t>min-max normalization</a:t>
            </a:r>
          </a:p>
          <a:p>
            <a:pPr marL="182563" indent="-182563">
              <a:buFont typeface="Arial" panose="020B0604020202020204" pitchFamily="34" charset="0"/>
              <a:buChar char="•"/>
            </a:pPr>
            <a:r>
              <a:rPr lang="pl-PL" sz="2400">
                <a:latin typeface="Arial Narrow" panose="020B0606020202030204" pitchFamily="34" charset="0"/>
              </a:rPr>
              <a:t>normalization by maximum</a:t>
            </a:r>
          </a:p>
        </p:txBody>
      </p:sp>
      <p:sp>
        <p:nvSpPr>
          <p:cNvPr id="8" name="Rectangle 2">
            <a:extLst>
              <a:ext uri="{FF2B5EF4-FFF2-40B4-BE49-F238E27FC236}">
                <a16:creationId xmlns:a16="http://schemas.microsoft.com/office/drawing/2014/main" id="{87E26973-47A5-2ED7-F394-EC13C3CC7082}"/>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pl-PL" sz="1600">
                <a:latin typeface="Arial" pitchFamily="34" charset="0"/>
                <a:ea typeface="+mj-lt"/>
                <a:cs typeface="Arial" pitchFamily="34" charset="0"/>
              </a:rPr>
              <a:t>Data in ML – normalization</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224225021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8BA137-606C-E55D-631A-5B1739D073D9}"/>
              </a:ext>
            </a:extLst>
          </p:cNvPr>
          <p:cNvSpPr>
            <a:spLocks noGrp="1"/>
          </p:cNvSpPr>
          <p:nvPr>
            <p:ph type="sldNum" sz="quarter" idx="12"/>
          </p:nvPr>
        </p:nvSpPr>
        <p:spPr/>
        <p:txBody>
          <a:bodyPr/>
          <a:lstStyle/>
          <a:p>
            <a:fld id="{20D4B2D9-DB10-4EB9-B7A6-032A6D4E75AC}" type="slidenum">
              <a:rPr lang="pl-PL" smtClean="0"/>
              <a:pPr/>
              <a:t>63</a:t>
            </a:fld>
            <a:endParaRPr lang="pl-PL"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0B3E0B0-3237-AB12-E605-545A2A89B9F3}"/>
                  </a:ext>
                </a:extLst>
              </p:cNvPr>
              <p:cNvSpPr txBox="1"/>
              <p:nvPr/>
            </p:nvSpPr>
            <p:spPr>
              <a:xfrm>
                <a:off x="0" y="304800"/>
                <a:ext cx="12192000" cy="4154279"/>
              </a:xfrm>
              <a:prstGeom prst="rect">
                <a:avLst/>
              </a:prstGeom>
              <a:noFill/>
            </p:spPr>
            <p:txBody>
              <a:bodyPr wrap="square">
                <a:spAutoFit/>
              </a:bodyPr>
              <a:lstStyle/>
              <a:p>
                <a:pPr>
                  <a:buNone/>
                </a:pPr>
                <a:r>
                  <a:rPr lang="pl-PL" sz="2400" b="1">
                    <a:latin typeface="Arial Narrow" panose="020B0606020202030204" pitchFamily="34" charset="0"/>
                  </a:rPr>
                  <a:t>Standardization</a:t>
                </a:r>
                <a:r>
                  <a:rPr lang="pl-PL" sz="2400">
                    <a:latin typeface="Arial Narrow" panose="020B0606020202030204" pitchFamily="34" charset="0"/>
                  </a:rPr>
                  <a:t> is normalization method that transforms data so that it has a mean of 0 and a standard deviation of 1.</a:t>
                </a:r>
              </a:p>
              <a:p>
                <a:pPr>
                  <a:buNone/>
                </a:pPr>
                <a14:m>
                  <m:oMathPara xmlns:m="http://schemas.openxmlformats.org/officeDocument/2006/math">
                    <m:oMath>
                      <m:r>
                        <a:rPr lang="pl-PL" sz="2800" i="1">
                          <a:latin typeface="Cambria Math" panose="02040503050406030204" pitchFamily="18" charset="0"/>
                        </a:rPr>
                        <m:t>𝑧</m:t>
                      </m:r>
                      <m:r>
                        <a:rPr lang="pl-PL" sz="2800" i="0">
                          <a:latin typeface="Cambria Math" panose="02040503050406030204" pitchFamily="18" charset="0"/>
                        </a:rPr>
                        <m:t>=</m:t>
                      </m:r>
                      <m:f>
                        <m:fPr>
                          <m:ctrlPr>
                            <a:rPr lang="pl-PL" sz="2800" i="1">
                              <a:latin typeface="Cambria Math" panose="02040503050406030204" pitchFamily="18" charset="0"/>
                            </a:rPr>
                          </m:ctrlPr>
                        </m:fPr>
                        <m:num>
                          <m:r>
                            <a:rPr lang="pl-PL" sz="2800" i="1">
                              <a:latin typeface="Cambria Math" panose="02040503050406030204" pitchFamily="18" charset="0"/>
                            </a:rPr>
                            <m:t>𝑥</m:t>
                          </m:r>
                          <m:r>
                            <a:rPr lang="pl-PL" sz="2800" i="0">
                              <a:latin typeface="Cambria Math" panose="02040503050406030204" pitchFamily="18" charset="0"/>
                            </a:rPr>
                            <m:t>−</m:t>
                          </m:r>
                          <m:r>
                            <a:rPr lang="pl-PL" sz="2800" i="1">
                              <a:latin typeface="Cambria Math" panose="02040503050406030204" pitchFamily="18" charset="0"/>
                            </a:rPr>
                            <m:t>𝜇</m:t>
                          </m:r>
                        </m:num>
                        <m:den>
                          <m:r>
                            <a:rPr lang="pl-PL" sz="2800" i="1">
                              <a:latin typeface="Cambria Math" panose="02040503050406030204" pitchFamily="18" charset="0"/>
                            </a:rPr>
                            <m:t>𝜎</m:t>
                          </m:r>
                        </m:den>
                      </m:f>
                    </m:oMath>
                  </m:oMathPara>
                </a14:m>
                <a:endParaRPr lang="pl-PL" sz="2800"/>
              </a:p>
              <a:p>
                <a:pPr>
                  <a:buNone/>
                  <a:tabLst>
                    <a:tab pos="447675" algn="l"/>
                  </a:tabLst>
                </a:pPr>
                <a:r>
                  <a:rPr lang="pl-PL" sz="2400">
                    <a:latin typeface="Arial Narrow" panose="020B0606020202030204" pitchFamily="34" charset="0"/>
                  </a:rPr>
                  <a:t>where:</a:t>
                </a:r>
                <a:br>
                  <a:rPr lang="pl-PL" sz="2400" i="1">
                    <a:latin typeface="Cambria Math" panose="02040503050406030204" pitchFamily="18" charset="0"/>
                  </a:rPr>
                </a:br>
                <a14:m>
                  <m:oMath xmlns:m="http://schemas.openxmlformats.org/officeDocument/2006/math">
                    <m:r>
                      <a:rPr lang="pl-PL" sz="2400" i="1">
                        <a:latin typeface="Cambria Math" panose="02040503050406030204" pitchFamily="18" charset="0"/>
                      </a:rPr>
                      <m:t>𝑥</m:t>
                    </m:r>
                  </m:oMath>
                </a14:m>
                <a:r>
                  <a:rPr lang="pl-PL" sz="2400">
                    <a:latin typeface="Arial Narrow" panose="020B0606020202030204" pitchFamily="34" charset="0"/>
                  </a:rPr>
                  <a:t> 	is the original value </a:t>
                </a:r>
                <a:br>
                  <a:rPr lang="pl-PL" sz="2400">
                    <a:latin typeface="Arial Narrow" panose="020B0606020202030204" pitchFamily="34" charset="0"/>
                  </a:rPr>
                </a:br>
                <a14:m>
                  <m:oMath xmlns:m="http://schemas.openxmlformats.org/officeDocument/2006/math">
                    <m:r>
                      <a:rPr lang="pl-PL" sz="2400" i="1" smtClean="0">
                        <a:latin typeface="Cambria Math" panose="02040503050406030204" pitchFamily="18" charset="0"/>
                      </a:rPr>
                      <m:t>𝜇</m:t>
                    </m:r>
                    <m:r>
                      <a:rPr lang="pl-PL" sz="2400" b="0" i="1" smtClean="0">
                        <a:latin typeface="Cambria Math" panose="02040503050406030204" pitchFamily="18" charset="0"/>
                      </a:rPr>
                      <m:t> </m:t>
                    </m:r>
                  </m:oMath>
                </a14:m>
                <a:r>
                  <a:rPr lang="pl-PL" sz="2400">
                    <a:latin typeface="Arial Narrow" panose="020B0606020202030204" pitchFamily="34" charset="0"/>
                  </a:rPr>
                  <a:t>	is the mean, </a:t>
                </a:r>
                <a:br>
                  <a:rPr lang="pl-PL" sz="2400">
                    <a:latin typeface="Arial Narrow" panose="020B0606020202030204" pitchFamily="34" charset="0"/>
                  </a:rPr>
                </a:br>
                <a14:m>
                  <m:oMath xmlns:m="http://schemas.openxmlformats.org/officeDocument/2006/math">
                    <m:r>
                      <a:rPr lang="pl-PL" sz="2400" i="1">
                        <a:latin typeface="Cambria Math" panose="02040503050406030204" pitchFamily="18" charset="0"/>
                      </a:rPr>
                      <m:t>𝜎</m:t>
                    </m:r>
                    <m:r>
                      <a:rPr lang="pl-PL" sz="2400" b="0" i="1" smtClean="0">
                        <a:latin typeface="Cambria Math" panose="02040503050406030204" pitchFamily="18" charset="0"/>
                      </a:rPr>
                      <m:t> </m:t>
                    </m:r>
                  </m:oMath>
                </a14:m>
                <a:r>
                  <a:rPr lang="pl-PL" sz="2400">
                    <a:latin typeface="Arial Narrow" panose="020B0606020202030204" pitchFamily="34" charset="0"/>
                  </a:rPr>
                  <a:t>	is the standard deviation</a:t>
                </a:r>
              </a:p>
              <a:p>
                <a:pPr>
                  <a:buNone/>
                  <a:tabLst>
                    <a:tab pos="447675" algn="l"/>
                  </a:tabLst>
                </a:pPr>
                <a14:m>
                  <m:oMath xmlns:m="http://schemas.openxmlformats.org/officeDocument/2006/math">
                    <m:r>
                      <a:rPr lang="pl-PL" sz="2400" i="1">
                        <a:latin typeface="Cambria Math" panose="02040503050406030204" pitchFamily="18" charset="0"/>
                      </a:rPr>
                      <m:t>𝑧</m:t>
                    </m:r>
                    <m:r>
                      <a:rPr lang="pl-PL" sz="2400" b="0" i="1" smtClean="0">
                        <a:latin typeface="Cambria Math" panose="02040503050406030204" pitchFamily="18" charset="0"/>
                      </a:rPr>
                      <m:t> </m:t>
                    </m:r>
                  </m:oMath>
                </a14:m>
                <a:r>
                  <a:rPr lang="pl-PL" sz="2400">
                    <a:latin typeface="Arial Narrow" panose="020B0606020202030204" pitchFamily="34" charset="0"/>
                  </a:rPr>
                  <a:t>	is the standardized value</a:t>
                </a:r>
              </a:p>
              <a:p>
                <a:pPr>
                  <a:buNone/>
                </a:pPr>
                <a:endParaRPr lang="pl-PL" sz="2400">
                  <a:latin typeface="Arial Narrow" panose="020B0606020202030204" pitchFamily="34" charset="0"/>
                </a:endParaRPr>
              </a:p>
              <a:p>
                <a:pPr>
                  <a:buNone/>
                </a:pPr>
                <a:r>
                  <a:rPr lang="en-US" sz="2400">
                    <a:latin typeface="Arial Narrow" panose="020B0606020202030204" pitchFamily="34" charset="0"/>
                  </a:rPr>
                  <a:t>After standardization, most values usually fall approximately between -3 and 3, but this is not a fixed range.</a:t>
                </a:r>
                <a:endParaRPr lang="pl-PL" sz="2400">
                  <a:latin typeface="Arial Narrow" panose="020B0606020202030204" pitchFamily="34" charset="0"/>
                </a:endParaRPr>
              </a:p>
            </p:txBody>
          </p:sp>
        </mc:Choice>
        <mc:Fallback xmlns="">
          <p:sp>
            <p:nvSpPr>
              <p:cNvPr id="6" name="TextBox 5">
                <a:extLst>
                  <a:ext uri="{FF2B5EF4-FFF2-40B4-BE49-F238E27FC236}">
                    <a16:creationId xmlns:a16="http://schemas.microsoft.com/office/drawing/2014/main" id="{70B3E0B0-3237-AB12-E605-545A2A89B9F3}"/>
                  </a:ext>
                </a:extLst>
              </p:cNvPr>
              <p:cNvSpPr txBox="1">
                <a:spLocks noRot="1" noChangeAspect="1" noMove="1" noResize="1" noEditPoints="1" noAdjustHandles="1" noChangeArrowheads="1" noChangeShapeType="1" noTextEdit="1"/>
              </p:cNvSpPr>
              <p:nvPr/>
            </p:nvSpPr>
            <p:spPr>
              <a:xfrm>
                <a:off x="0" y="304800"/>
                <a:ext cx="12192000" cy="4154279"/>
              </a:xfrm>
              <a:prstGeom prst="rect">
                <a:avLst/>
              </a:prstGeom>
              <a:blipFill>
                <a:blip r:embed="rId2"/>
                <a:stretch>
                  <a:fillRect l="-750" t="-1175" b="-2643"/>
                </a:stretch>
              </a:blipFill>
            </p:spPr>
            <p:txBody>
              <a:bodyPr/>
              <a:lstStyle/>
              <a:p>
                <a:r>
                  <a:rPr lang="pl-PL">
                    <a:noFill/>
                  </a:rPr>
                  <a:t> </a:t>
                </a:r>
              </a:p>
            </p:txBody>
          </p:sp>
        </mc:Fallback>
      </mc:AlternateContent>
      <p:sp>
        <p:nvSpPr>
          <p:cNvPr id="7" name="Rectangle 2">
            <a:extLst>
              <a:ext uri="{FF2B5EF4-FFF2-40B4-BE49-F238E27FC236}">
                <a16:creationId xmlns:a16="http://schemas.microsoft.com/office/drawing/2014/main" id="{DB9C10E1-3931-9372-F264-3AD0EF176545}"/>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pl-PL" sz="1600">
                <a:latin typeface="Arial" pitchFamily="34" charset="0"/>
                <a:ea typeface="+mj-lt"/>
                <a:cs typeface="Arial" pitchFamily="34" charset="0"/>
              </a:rPr>
              <a:t>Data in ML – normalization</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32304108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F2B055-B353-56B8-0E7E-8B6712DD3EF9}"/>
              </a:ext>
            </a:extLst>
          </p:cNvPr>
          <p:cNvSpPr>
            <a:spLocks noGrp="1"/>
          </p:cNvSpPr>
          <p:nvPr>
            <p:ph type="sldNum" sz="quarter" idx="12"/>
          </p:nvPr>
        </p:nvSpPr>
        <p:spPr/>
        <p:txBody>
          <a:bodyPr/>
          <a:lstStyle/>
          <a:p>
            <a:fld id="{20D4B2D9-DB10-4EB9-B7A6-032A6D4E75AC}" type="slidenum">
              <a:rPr lang="pl-PL" smtClean="0"/>
              <a:pPr/>
              <a:t>64</a:t>
            </a:fld>
            <a:endParaRPr lang="pl-PL"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7EB8735-2918-5319-B2B8-D7D3900FEBC5}"/>
                  </a:ext>
                </a:extLst>
              </p:cNvPr>
              <p:cNvSpPr txBox="1"/>
              <p:nvPr/>
            </p:nvSpPr>
            <p:spPr>
              <a:xfrm>
                <a:off x="0" y="340421"/>
                <a:ext cx="12115800" cy="6356484"/>
              </a:xfrm>
              <a:prstGeom prst="rect">
                <a:avLst/>
              </a:prstGeom>
              <a:noFill/>
            </p:spPr>
            <p:txBody>
              <a:bodyPr wrap="square">
                <a:spAutoFit/>
              </a:bodyPr>
              <a:lstStyle/>
              <a:p>
                <a:pPr>
                  <a:buNone/>
                </a:pPr>
                <a:r>
                  <a:rPr lang="pl-PL" sz="2400" b="1">
                    <a:latin typeface="Arial Narrow" panose="020B0606020202030204" pitchFamily="34" charset="0"/>
                  </a:rPr>
                  <a:t>Min-max normalization</a:t>
                </a:r>
                <a:r>
                  <a:rPr lang="pl-PL" sz="2400">
                    <a:latin typeface="Arial Narrow" panose="020B0606020202030204" pitchFamily="34" charset="0"/>
                  </a:rPr>
                  <a:t> rescales numerical data into a fixed range, usually </a:t>
                </a:r>
                <a:r>
                  <a:rPr lang="pl-PL" sz="2400" b="1">
                    <a:latin typeface="Arial Narrow" panose="020B0606020202030204" pitchFamily="34" charset="0"/>
                  </a:rPr>
                  <a:t>0 to 1</a:t>
                </a:r>
                <a:r>
                  <a:rPr lang="pl-PL" sz="2400">
                    <a:latin typeface="Arial Narrow" panose="020B0606020202030204" pitchFamily="34" charset="0"/>
                  </a:rPr>
                  <a:t>.</a:t>
                </a:r>
              </a:p>
              <a:p>
                <a:pPr>
                  <a:buNone/>
                </a:pPr>
                <a:r>
                  <a:rPr lang="pl-PL" sz="2400">
                    <a:latin typeface="Arial Narrow" panose="020B0606020202030204" pitchFamily="34" charset="0"/>
                  </a:rPr>
                  <a:t>The formula is:</a:t>
                </a:r>
              </a:p>
              <a:p>
                <a:pPr>
                  <a:buNone/>
                </a:pPr>
                <a14:m>
                  <m:oMathPara xmlns:m="http://schemas.openxmlformats.org/officeDocument/2006/math">
                    <m:oMath>
                      <m:r>
                        <a:rPr lang="pl-PL" sz="2400" b="0" i="1" smtClean="0">
                          <a:latin typeface="Cambria Math" panose="02040503050406030204" pitchFamily="18" charset="0"/>
                        </a:rPr>
                        <m:t>𝑧</m:t>
                      </m:r>
                      <m:r>
                        <a:rPr lang="pl-PL" sz="2400" i="0">
                          <a:latin typeface="Cambria Math" panose="02040503050406030204" pitchFamily="18" charset="0"/>
                        </a:rPr>
                        <m:t>=</m:t>
                      </m:r>
                      <m:f>
                        <m:fPr>
                          <m:ctrlPr>
                            <a:rPr lang="pl-PL" sz="2400" i="1">
                              <a:latin typeface="Cambria Math" panose="02040503050406030204" pitchFamily="18" charset="0"/>
                            </a:rPr>
                          </m:ctrlPr>
                        </m:fPr>
                        <m:num>
                          <m:r>
                            <a:rPr lang="pl-PL" sz="2400" i="1">
                              <a:latin typeface="Cambria Math" panose="02040503050406030204" pitchFamily="18" charset="0"/>
                            </a:rPr>
                            <m:t>𝑥</m:t>
                          </m:r>
                          <m:r>
                            <a:rPr lang="pl-PL" sz="2400" i="0">
                              <a:latin typeface="Cambria Math" panose="02040503050406030204" pitchFamily="18" charset="0"/>
                            </a:rPr>
                            <m:t>−</m:t>
                          </m:r>
                          <m:r>
                            <m:rPr>
                              <m:sty m:val="p"/>
                            </m:rPr>
                            <a:rPr lang="pl-PL" sz="2400" i="0">
                              <a:latin typeface="Cambria Math" panose="02040503050406030204" pitchFamily="18" charset="0"/>
                            </a:rPr>
                            <m:t>min</m:t>
                          </m:r>
                          <m:r>
                            <a:rPr lang="pl-PL" sz="2400" i="0">
                              <a:latin typeface="Cambria Math" panose="02040503050406030204" pitchFamily="18" charset="0"/>
                            </a:rPr>
                            <m:t>⁡</m:t>
                          </m:r>
                          <m:d>
                            <m:dPr>
                              <m:ctrlPr>
                                <a:rPr lang="pl-PL" sz="2400" i="1">
                                  <a:latin typeface="Cambria Math" panose="02040503050406030204" pitchFamily="18" charset="0"/>
                                </a:rPr>
                              </m:ctrlPr>
                            </m:dPr>
                            <m:e>
                              <m:r>
                                <a:rPr lang="pl-PL" sz="2400" i="1">
                                  <a:latin typeface="Cambria Math" panose="02040503050406030204" pitchFamily="18" charset="0"/>
                                </a:rPr>
                                <m:t>𝑥</m:t>
                              </m:r>
                            </m:e>
                          </m:d>
                        </m:num>
                        <m:den>
                          <m:r>
                            <m:rPr>
                              <m:sty m:val="p"/>
                            </m:rPr>
                            <a:rPr lang="pl-PL" sz="2400" i="0">
                              <a:latin typeface="Cambria Math" panose="02040503050406030204" pitchFamily="18" charset="0"/>
                            </a:rPr>
                            <m:t>max</m:t>
                          </m:r>
                          <m:r>
                            <a:rPr lang="pl-PL" sz="2400" i="0">
                              <a:latin typeface="Cambria Math" panose="02040503050406030204" pitchFamily="18" charset="0"/>
                            </a:rPr>
                            <m:t>⁡</m:t>
                          </m:r>
                          <m:d>
                            <m:dPr>
                              <m:ctrlPr>
                                <a:rPr lang="pl-PL" sz="2400" i="1">
                                  <a:latin typeface="Cambria Math" panose="02040503050406030204" pitchFamily="18" charset="0"/>
                                </a:rPr>
                              </m:ctrlPr>
                            </m:dPr>
                            <m:e>
                              <m:r>
                                <a:rPr lang="pl-PL" sz="2400" i="1">
                                  <a:latin typeface="Cambria Math" panose="02040503050406030204" pitchFamily="18" charset="0"/>
                                </a:rPr>
                                <m:t>𝑥</m:t>
                              </m:r>
                            </m:e>
                          </m:d>
                          <m:r>
                            <a:rPr lang="pl-PL" sz="2400" i="0">
                              <a:latin typeface="Cambria Math" panose="02040503050406030204" pitchFamily="18" charset="0"/>
                            </a:rPr>
                            <m:t>−</m:t>
                          </m:r>
                          <m:r>
                            <m:rPr>
                              <m:sty m:val="p"/>
                            </m:rPr>
                            <a:rPr lang="pl-PL" sz="2400" i="0">
                              <a:latin typeface="Cambria Math" panose="02040503050406030204" pitchFamily="18" charset="0"/>
                            </a:rPr>
                            <m:t>min</m:t>
                          </m:r>
                          <m:r>
                            <a:rPr lang="pl-PL" sz="2400" i="0">
                              <a:latin typeface="Cambria Math" panose="02040503050406030204" pitchFamily="18" charset="0"/>
                            </a:rPr>
                            <m:t>⁡</m:t>
                          </m:r>
                          <m:d>
                            <m:dPr>
                              <m:ctrlPr>
                                <a:rPr lang="pl-PL" sz="2400" i="1">
                                  <a:latin typeface="Cambria Math" panose="02040503050406030204" pitchFamily="18" charset="0"/>
                                </a:rPr>
                              </m:ctrlPr>
                            </m:dPr>
                            <m:e>
                              <m:r>
                                <a:rPr lang="pl-PL" sz="2400" i="1">
                                  <a:latin typeface="Cambria Math" panose="02040503050406030204" pitchFamily="18" charset="0"/>
                                </a:rPr>
                                <m:t>𝑥</m:t>
                              </m:r>
                            </m:e>
                          </m:d>
                        </m:den>
                      </m:f>
                    </m:oMath>
                  </m:oMathPara>
                </a14:m>
                <a:endParaRPr lang="pl-PL" sz="2400">
                  <a:latin typeface="Arial Narrow" panose="020B0606020202030204" pitchFamily="34" charset="0"/>
                </a:endParaRPr>
              </a:p>
              <a:p>
                <a:pPr>
                  <a:buNone/>
                </a:pPr>
                <a:r>
                  <a:rPr lang="pl-PL" sz="2400">
                    <a:latin typeface="Arial Narrow" panose="020B0606020202030204" pitchFamily="34" charset="0"/>
                  </a:rPr>
                  <a:t>where:</a:t>
                </a:r>
              </a:p>
              <a:p>
                <a:pPr>
                  <a:tabLst>
                    <a:tab pos="1168400" algn="l"/>
                  </a:tabLst>
                </a:pPr>
                <a14:m>
                  <m:oMath xmlns:m="http://schemas.openxmlformats.org/officeDocument/2006/math">
                    <m:r>
                      <a:rPr lang="pl-PL" sz="2400" i="1">
                        <a:latin typeface="Cambria Math" panose="02040503050406030204" pitchFamily="18" charset="0"/>
                      </a:rPr>
                      <m:t>𝑥</m:t>
                    </m:r>
                  </m:oMath>
                </a14:m>
                <a:r>
                  <a:rPr lang="pl-PL" sz="2400">
                    <a:latin typeface="Arial Narrow" panose="020B0606020202030204" pitchFamily="34" charset="0"/>
                  </a:rPr>
                  <a:t> 	is the original value </a:t>
                </a:r>
              </a:p>
              <a:p>
                <a:pPr>
                  <a:tabLst>
                    <a:tab pos="1168400" algn="l"/>
                  </a:tabLst>
                </a:pPr>
                <a14:m>
                  <m:oMath xmlns:m="http://schemas.openxmlformats.org/officeDocument/2006/math">
                    <m:func>
                      <m:funcPr>
                        <m:ctrlPr>
                          <a:rPr lang="pl-PL" sz="2400">
                            <a:latin typeface="Cambria Math" panose="02040503050406030204" pitchFamily="18" charset="0"/>
                          </a:rPr>
                        </m:ctrlPr>
                      </m:funcPr>
                      <m:fName>
                        <m:r>
                          <m:rPr>
                            <m:sty m:val="p"/>
                          </m:rPr>
                          <a:rPr lang="pl-PL" sz="2400">
                            <a:latin typeface="Cambria Math" panose="02040503050406030204" pitchFamily="18" charset="0"/>
                          </a:rPr>
                          <m:t>min</m:t>
                        </m:r>
                      </m:fName>
                      <m:e>
                        <m:d>
                          <m:dPr>
                            <m:ctrlPr>
                              <a:rPr lang="pl-PL" sz="2400" i="1">
                                <a:latin typeface="Cambria Math" panose="02040503050406030204" pitchFamily="18" charset="0"/>
                              </a:rPr>
                            </m:ctrlPr>
                          </m:dPr>
                          <m:e>
                            <m:r>
                              <a:rPr lang="pl-PL" sz="2400" i="1">
                                <a:latin typeface="Cambria Math" panose="02040503050406030204" pitchFamily="18" charset="0"/>
                              </a:rPr>
                              <m:t>𝑥</m:t>
                            </m:r>
                          </m:e>
                        </m:d>
                      </m:e>
                    </m:func>
                  </m:oMath>
                </a14:m>
                <a:r>
                  <a:rPr lang="pl-PL" sz="2400">
                    <a:latin typeface="Arial Narrow" panose="020B0606020202030204" pitchFamily="34" charset="0"/>
                  </a:rPr>
                  <a:t> 	is the smallest value in the dataset </a:t>
                </a:r>
              </a:p>
              <a:p>
                <a:pPr>
                  <a:tabLst>
                    <a:tab pos="1168400" algn="l"/>
                  </a:tabLst>
                </a:pPr>
                <a14:m>
                  <m:oMath xmlns:m="http://schemas.openxmlformats.org/officeDocument/2006/math">
                    <m:r>
                      <m:rPr>
                        <m:sty m:val="p"/>
                      </m:rPr>
                      <a:rPr lang="pl-PL" sz="2400">
                        <a:latin typeface="Cambria Math" panose="02040503050406030204" pitchFamily="18" charset="0"/>
                      </a:rPr>
                      <m:t>max</m:t>
                    </m:r>
                    <m:r>
                      <a:rPr lang="pl-PL" sz="2400" i="0">
                        <a:latin typeface="Cambria Math" panose="02040503050406030204" pitchFamily="18" charset="0"/>
                      </a:rPr>
                      <m:t>⁡</m:t>
                    </m:r>
                    <m:d>
                      <m:dPr>
                        <m:ctrlPr>
                          <a:rPr lang="pl-PL" sz="2400" i="1">
                            <a:latin typeface="Cambria Math" panose="02040503050406030204" pitchFamily="18" charset="0"/>
                          </a:rPr>
                        </m:ctrlPr>
                      </m:dPr>
                      <m:e>
                        <m:r>
                          <a:rPr lang="pl-PL" sz="2400" i="1">
                            <a:latin typeface="Cambria Math" panose="02040503050406030204" pitchFamily="18" charset="0"/>
                          </a:rPr>
                          <m:t>𝑥</m:t>
                        </m:r>
                      </m:e>
                    </m:d>
                  </m:oMath>
                </a14:m>
                <a:r>
                  <a:rPr lang="pl-PL" sz="2400">
                    <a:latin typeface="Arial Narrow" panose="020B0606020202030204" pitchFamily="34" charset="0"/>
                  </a:rPr>
                  <a:t> 	is the largest value in the dataset </a:t>
                </a:r>
              </a:p>
              <a:p>
                <a:pPr>
                  <a:tabLst>
                    <a:tab pos="1168400" algn="l"/>
                  </a:tabLst>
                </a:pPr>
                <a14:m>
                  <m:oMath xmlns:m="http://schemas.openxmlformats.org/officeDocument/2006/math">
                    <m:r>
                      <a:rPr lang="pl-PL" sz="2400" b="0" i="1" smtClean="0">
                        <a:latin typeface="Cambria Math" panose="02040503050406030204" pitchFamily="18" charset="0"/>
                      </a:rPr>
                      <m:t>𝑧</m:t>
                    </m:r>
                  </m:oMath>
                </a14:m>
                <a:r>
                  <a:rPr lang="pl-PL" sz="2400">
                    <a:latin typeface="Arial Narrow" panose="020B0606020202030204" pitchFamily="34" charset="0"/>
                  </a:rPr>
                  <a:t> 	is the normalized value </a:t>
                </a:r>
              </a:p>
              <a:p>
                <a:pPr>
                  <a:buNone/>
                </a:pPr>
                <a:endParaRPr lang="pl-PL" sz="2400">
                  <a:latin typeface="Arial Narrow" panose="020B0606020202030204" pitchFamily="34" charset="0"/>
                </a:endParaRPr>
              </a:p>
              <a:p>
                <a:pPr>
                  <a:buNone/>
                </a:pPr>
                <a:r>
                  <a:rPr lang="pl-PL" sz="2400">
                    <a:latin typeface="Arial Narrow" panose="020B0606020202030204" pitchFamily="34" charset="0"/>
                  </a:rPr>
                  <a:t>For example, suppose your data is:</a:t>
                </a:r>
                <a14:m>
                  <m:oMath xmlns:m="http://schemas.openxmlformats.org/officeDocument/2006/math">
                    <m:r>
                      <a:rPr lang="pl-PL" sz="2400" b="0" i="0" smtClean="0">
                        <a:latin typeface="Cambria Math" panose="02040503050406030204" pitchFamily="18" charset="0"/>
                      </a:rPr>
                      <m:t> 1</m:t>
                    </m:r>
                    <m:r>
                      <a:rPr lang="pl-PL" sz="2400">
                        <a:latin typeface="Cambria Math" panose="02040503050406030204" pitchFamily="18" charset="0"/>
                      </a:rPr>
                      <m:t>0</m:t>
                    </m:r>
                    <m:r>
                      <a:rPr lang="pl-PL" sz="2400" i="0">
                        <a:latin typeface="Cambria Math" panose="02040503050406030204" pitchFamily="18" charset="0"/>
                      </a:rPr>
                      <m:t>,</m:t>
                    </m:r>
                    <m:r>
                      <m:rPr>
                        <m:nor/>
                      </m:rPr>
                      <a:rPr lang="pl-PL" sz="2400" b="0" i="0">
                        <a:latin typeface="Arial Narrow" panose="020B0606020202030204" pitchFamily="34" charset="0"/>
                      </a:rPr>
                      <m:t> </m:t>
                    </m:r>
                    <m:r>
                      <a:rPr lang="pl-PL" sz="2400" b="0" i="0">
                        <a:latin typeface="Cambria Math" panose="02040503050406030204" pitchFamily="18" charset="0"/>
                      </a:rPr>
                      <m:t>20,</m:t>
                    </m:r>
                    <m:r>
                      <m:rPr>
                        <m:nor/>
                      </m:rPr>
                      <a:rPr lang="pl-PL" sz="2400" b="0" i="0">
                        <a:latin typeface="Arial Narrow" panose="020B0606020202030204" pitchFamily="34" charset="0"/>
                      </a:rPr>
                      <m:t> </m:t>
                    </m:r>
                    <m:r>
                      <a:rPr lang="pl-PL" sz="2400" b="0" i="0">
                        <a:latin typeface="Cambria Math" panose="02040503050406030204" pitchFamily="18" charset="0"/>
                      </a:rPr>
                      <m:t>30,</m:t>
                    </m:r>
                    <m:r>
                      <m:rPr>
                        <m:nor/>
                      </m:rPr>
                      <a:rPr lang="pl-PL" sz="2400" b="0" i="0">
                        <a:latin typeface="Arial Narrow" panose="020B0606020202030204" pitchFamily="34" charset="0"/>
                      </a:rPr>
                      <m:t> </m:t>
                    </m:r>
                    <m:r>
                      <a:rPr lang="pl-PL" sz="2400" b="0" i="0">
                        <a:latin typeface="Cambria Math" panose="02040503050406030204" pitchFamily="18" charset="0"/>
                      </a:rPr>
                      <m:t>40,</m:t>
                    </m:r>
                    <m:r>
                      <m:rPr>
                        <m:nor/>
                      </m:rPr>
                      <a:rPr lang="pl-PL" sz="2400" b="0" i="0">
                        <a:latin typeface="Arial Narrow" panose="020B0606020202030204" pitchFamily="34" charset="0"/>
                      </a:rPr>
                      <m:t> </m:t>
                    </m:r>
                    <m:r>
                      <a:rPr lang="pl-PL" sz="2400" b="0" i="0">
                        <a:latin typeface="Cambria Math" panose="02040503050406030204" pitchFamily="18" charset="0"/>
                      </a:rPr>
                      <m:t>50</m:t>
                    </m:r>
                  </m:oMath>
                </a14:m>
                <a:endParaRPr lang="pl-PL" sz="2400" b="0">
                  <a:latin typeface="Arial Narrow" panose="020B0606020202030204" pitchFamily="34" charset="0"/>
                </a:endParaRPr>
              </a:p>
              <a:p>
                <a:pPr>
                  <a:buNone/>
                </a:pPr>
                <a:r>
                  <a:rPr lang="pl-PL" sz="2400">
                    <a:latin typeface="Arial Narrow" panose="020B0606020202030204" pitchFamily="34" charset="0"/>
                  </a:rPr>
                  <a:t>The minimum is </a:t>
                </a:r>
                <a14:m>
                  <m:oMath xmlns:m="http://schemas.openxmlformats.org/officeDocument/2006/math">
                    <m:r>
                      <a:rPr lang="pl-PL" sz="2400">
                        <a:latin typeface="Cambria Math" panose="02040503050406030204" pitchFamily="18" charset="0"/>
                      </a:rPr>
                      <m:t>10</m:t>
                    </m:r>
                  </m:oMath>
                </a14:m>
                <a:r>
                  <a:rPr lang="pl-PL" sz="2400">
                    <a:latin typeface="Arial Narrow" panose="020B0606020202030204" pitchFamily="34" charset="0"/>
                  </a:rPr>
                  <a:t>, and the maximum is </a:t>
                </a:r>
                <a14:m>
                  <m:oMath xmlns:m="http://schemas.openxmlformats.org/officeDocument/2006/math">
                    <m:r>
                      <a:rPr lang="pl-PL" sz="2400">
                        <a:latin typeface="Cambria Math" panose="02040503050406030204" pitchFamily="18" charset="0"/>
                      </a:rPr>
                      <m:t>50</m:t>
                    </m:r>
                  </m:oMath>
                </a14:m>
                <a:r>
                  <a:rPr lang="pl-PL" sz="2400">
                    <a:latin typeface="Arial Narrow" panose="020B0606020202030204" pitchFamily="34" charset="0"/>
                  </a:rPr>
                  <a:t>.</a:t>
                </a:r>
              </a:p>
              <a:p>
                <a:pPr>
                  <a:buNone/>
                </a:pPr>
                <a:r>
                  <a:rPr lang="pl-PL" sz="2400">
                    <a:latin typeface="Arial Narrow" panose="020B0606020202030204" pitchFamily="34" charset="0"/>
                  </a:rPr>
                  <a:t>To normalize </a:t>
                </a:r>
                <a14:m>
                  <m:oMath xmlns:m="http://schemas.openxmlformats.org/officeDocument/2006/math">
                    <m:r>
                      <a:rPr lang="pl-PL" sz="2400">
                        <a:latin typeface="Cambria Math" panose="02040503050406030204" pitchFamily="18" charset="0"/>
                      </a:rPr>
                      <m:t>30</m:t>
                    </m:r>
                  </m:oMath>
                </a14:m>
                <a:r>
                  <a:rPr lang="pl-PL" sz="2400">
                    <a:latin typeface="Arial Narrow" panose="020B0606020202030204" pitchFamily="34" charset="0"/>
                  </a:rPr>
                  <a:t>:</a:t>
                </a:r>
              </a:p>
              <a:p>
                <a:pPr>
                  <a:buNone/>
                </a:pPr>
                <a14:m>
                  <m:oMathPara xmlns:m="http://schemas.openxmlformats.org/officeDocument/2006/math">
                    <m:oMath>
                      <m:r>
                        <a:rPr lang="pl-PL" sz="2400" b="0" i="1" smtClean="0">
                          <a:latin typeface="Cambria Math" panose="02040503050406030204" pitchFamily="18" charset="0"/>
                        </a:rPr>
                        <m:t>𝑧</m:t>
                      </m:r>
                      <m:r>
                        <a:rPr lang="pl-PL" sz="2400" i="0">
                          <a:latin typeface="Cambria Math" panose="02040503050406030204" pitchFamily="18" charset="0"/>
                        </a:rPr>
                        <m:t>=</m:t>
                      </m:r>
                      <m:f>
                        <m:fPr>
                          <m:ctrlPr>
                            <a:rPr lang="pl-PL" sz="2400" i="0">
                              <a:latin typeface="Cambria Math" panose="02040503050406030204" pitchFamily="18" charset="0"/>
                            </a:rPr>
                          </m:ctrlPr>
                        </m:fPr>
                        <m:num>
                          <m:r>
                            <a:rPr lang="pl-PL" sz="2400" i="0">
                              <a:latin typeface="Cambria Math" panose="02040503050406030204" pitchFamily="18" charset="0"/>
                            </a:rPr>
                            <m:t>30−10</m:t>
                          </m:r>
                        </m:num>
                        <m:den>
                          <m:r>
                            <a:rPr lang="pl-PL" sz="2400" i="0">
                              <a:latin typeface="Cambria Math" panose="02040503050406030204" pitchFamily="18" charset="0"/>
                            </a:rPr>
                            <m:t>50−10</m:t>
                          </m:r>
                        </m:den>
                      </m:f>
                      <m:r>
                        <a:rPr lang="pl-PL" sz="2400" i="0">
                          <a:latin typeface="Cambria Math" panose="02040503050406030204" pitchFamily="18" charset="0"/>
                        </a:rPr>
                        <m:t>=</m:t>
                      </m:r>
                      <m:f>
                        <m:fPr>
                          <m:ctrlPr>
                            <a:rPr lang="pl-PL" sz="2400" i="0">
                              <a:latin typeface="Cambria Math" panose="02040503050406030204" pitchFamily="18" charset="0"/>
                            </a:rPr>
                          </m:ctrlPr>
                        </m:fPr>
                        <m:num>
                          <m:r>
                            <a:rPr lang="pl-PL" sz="2400" i="0">
                              <a:latin typeface="Cambria Math" panose="02040503050406030204" pitchFamily="18" charset="0"/>
                            </a:rPr>
                            <m:t>20</m:t>
                          </m:r>
                        </m:num>
                        <m:den>
                          <m:r>
                            <a:rPr lang="pl-PL" sz="2400" i="0">
                              <a:latin typeface="Cambria Math" panose="02040503050406030204" pitchFamily="18" charset="0"/>
                            </a:rPr>
                            <m:t>40</m:t>
                          </m:r>
                        </m:den>
                      </m:f>
                      <m:r>
                        <a:rPr lang="pl-PL" sz="2400" i="0">
                          <a:latin typeface="Cambria Math" panose="02040503050406030204" pitchFamily="18" charset="0"/>
                        </a:rPr>
                        <m:t>=0.5</m:t>
                      </m:r>
                    </m:oMath>
                  </m:oMathPara>
                </a14:m>
                <a:endParaRPr lang="pl-PL" sz="2400">
                  <a:latin typeface="Arial Narrow" panose="020B0606020202030204" pitchFamily="34" charset="0"/>
                </a:endParaRPr>
              </a:p>
              <a:p>
                <a:pPr>
                  <a:buNone/>
                </a:pPr>
                <a:r>
                  <a:rPr lang="pl-PL" sz="2400">
                    <a:latin typeface="Arial Narrow" panose="020B0606020202030204" pitchFamily="34" charset="0"/>
                  </a:rPr>
                  <a:t>The full normalized dataset becomes:</a:t>
                </a:r>
              </a:p>
              <a:p>
                <a:pPr>
                  <a:buNone/>
                </a:pPr>
                <a14:m>
                  <m:oMathPara xmlns:m="http://schemas.openxmlformats.org/officeDocument/2006/math">
                    <m:oMath>
                      <m:r>
                        <a:rPr lang="pl-PL" sz="2400">
                          <a:latin typeface="Cambria Math" panose="02040503050406030204" pitchFamily="18" charset="0"/>
                        </a:rPr>
                        <m:t>0</m:t>
                      </m:r>
                      <m:r>
                        <a:rPr lang="pl-PL" sz="2400" i="0">
                          <a:latin typeface="Cambria Math" panose="02040503050406030204" pitchFamily="18" charset="0"/>
                        </a:rPr>
                        <m:t>,</m:t>
                      </m:r>
                      <m:r>
                        <m:rPr>
                          <m:nor/>
                        </m:rPr>
                        <a:rPr lang="pl-PL" sz="2400" b="0" i="0">
                          <a:latin typeface="Arial Narrow" panose="020B0606020202030204" pitchFamily="34" charset="0"/>
                        </a:rPr>
                        <m:t> </m:t>
                      </m:r>
                      <m:r>
                        <a:rPr lang="pl-PL" sz="2400" b="0" i="0">
                          <a:latin typeface="Cambria Math" panose="02040503050406030204" pitchFamily="18" charset="0"/>
                        </a:rPr>
                        <m:t>0.25,</m:t>
                      </m:r>
                      <m:r>
                        <m:rPr>
                          <m:nor/>
                        </m:rPr>
                        <a:rPr lang="pl-PL" sz="2400" b="0" i="0">
                          <a:latin typeface="Arial Narrow" panose="020B0606020202030204" pitchFamily="34" charset="0"/>
                        </a:rPr>
                        <m:t> </m:t>
                      </m:r>
                      <m:r>
                        <a:rPr lang="pl-PL" sz="2400" b="0" i="0">
                          <a:latin typeface="Cambria Math" panose="02040503050406030204" pitchFamily="18" charset="0"/>
                        </a:rPr>
                        <m:t>0.5,</m:t>
                      </m:r>
                      <m:r>
                        <m:rPr>
                          <m:nor/>
                        </m:rPr>
                        <a:rPr lang="pl-PL" sz="2400" b="0" i="0">
                          <a:latin typeface="Arial Narrow" panose="020B0606020202030204" pitchFamily="34" charset="0"/>
                        </a:rPr>
                        <m:t> </m:t>
                      </m:r>
                      <m:r>
                        <a:rPr lang="pl-PL" sz="2400" b="0" i="0">
                          <a:latin typeface="Cambria Math" panose="02040503050406030204" pitchFamily="18" charset="0"/>
                        </a:rPr>
                        <m:t>0.75,</m:t>
                      </m:r>
                      <m:r>
                        <m:rPr>
                          <m:nor/>
                        </m:rPr>
                        <a:rPr lang="pl-PL" sz="2400" b="0" i="0">
                          <a:latin typeface="Arial Narrow" panose="020B0606020202030204" pitchFamily="34" charset="0"/>
                        </a:rPr>
                        <m:t> </m:t>
                      </m:r>
                      <m:r>
                        <a:rPr lang="pl-PL" sz="2400" b="0" i="0">
                          <a:latin typeface="Cambria Math" panose="02040503050406030204" pitchFamily="18" charset="0"/>
                        </a:rPr>
                        <m:t>1</m:t>
                      </m:r>
                    </m:oMath>
                  </m:oMathPara>
                </a14:m>
                <a:endParaRPr lang="pl-PL" sz="2400" b="0">
                  <a:latin typeface="Arial Narrow" panose="020B0606020202030204" pitchFamily="34" charset="0"/>
                </a:endParaRPr>
              </a:p>
            </p:txBody>
          </p:sp>
        </mc:Choice>
        <mc:Fallback xmlns="">
          <p:sp>
            <p:nvSpPr>
              <p:cNvPr id="4" name="TextBox 3">
                <a:extLst>
                  <a:ext uri="{FF2B5EF4-FFF2-40B4-BE49-F238E27FC236}">
                    <a16:creationId xmlns:a16="http://schemas.microsoft.com/office/drawing/2014/main" id="{D7EB8735-2918-5319-B2B8-D7D3900FEBC5}"/>
                  </a:ext>
                </a:extLst>
              </p:cNvPr>
              <p:cNvSpPr txBox="1">
                <a:spLocks noRot="1" noChangeAspect="1" noMove="1" noResize="1" noEditPoints="1" noAdjustHandles="1" noChangeArrowheads="1" noChangeShapeType="1" noTextEdit="1"/>
              </p:cNvSpPr>
              <p:nvPr/>
            </p:nvSpPr>
            <p:spPr>
              <a:xfrm>
                <a:off x="0" y="340421"/>
                <a:ext cx="12115800" cy="6356484"/>
              </a:xfrm>
              <a:prstGeom prst="rect">
                <a:avLst/>
              </a:prstGeom>
              <a:blipFill>
                <a:blip r:embed="rId2"/>
                <a:stretch>
                  <a:fillRect l="-755" t="-767"/>
                </a:stretch>
              </a:blipFill>
            </p:spPr>
            <p:txBody>
              <a:bodyPr/>
              <a:lstStyle/>
              <a:p>
                <a:r>
                  <a:rPr lang="pl-PL">
                    <a:noFill/>
                  </a:rPr>
                  <a:t> </a:t>
                </a:r>
              </a:p>
            </p:txBody>
          </p:sp>
        </mc:Fallback>
      </mc:AlternateContent>
      <p:sp>
        <p:nvSpPr>
          <p:cNvPr id="6" name="Rectangle 2">
            <a:extLst>
              <a:ext uri="{FF2B5EF4-FFF2-40B4-BE49-F238E27FC236}">
                <a16:creationId xmlns:a16="http://schemas.microsoft.com/office/drawing/2014/main" id="{60FC3DB0-1187-D280-D657-F92EEB07B596}"/>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pl-PL" sz="1600">
                <a:latin typeface="Arial" pitchFamily="34" charset="0"/>
                <a:ea typeface="+mj-lt"/>
                <a:cs typeface="Arial" pitchFamily="34" charset="0"/>
              </a:rPr>
              <a:t>Data in ML – normalization</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140697956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4D59906-E400-BE07-C189-B59579FF78B6}"/>
              </a:ext>
            </a:extLst>
          </p:cNvPr>
          <p:cNvSpPr>
            <a:spLocks noGrp="1"/>
          </p:cNvSpPr>
          <p:nvPr>
            <p:ph type="sldNum" sz="quarter" idx="12"/>
          </p:nvPr>
        </p:nvSpPr>
        <p:spPr/>
        <p:txBody>
          <a:bodyPr/>
          <a:lstStyle/>
          <a:p>
            <a:fld id="{20D4B2D9-DB10-4EB9-B7A6-032A6D4E75AC}" type="slidenum">
              <a:rPr lang="pl-PL" smtClean="0"/>
              <a:pPr/>
              <a:t>65</a:t>
            </a:fld>
            <a:endParaRPr lang="pl-PL"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FEFC779-18C3-0709-1CDC-74F93841D032}"/>
                  </a:ext>
                </a:extLst>
              </p:cNvPr>
              <p:cNvSpPr txBox="1"/>
              <p:nvPr/>
            </p:nvSpPr>
            <p:spPr>
              <a:xfrm>
                <a:off x="0" y="304800"/>
                <a:ext cx="12192000" cy="5209055"/>
              </a:xfrm>
              <a:prstGeom prst="rect">
                <a:avLst/>
              </a:prstGeom>
              <a:noFill/>
            </p:spPr>
            <p:txBody>
              <a:bodyPr wrap="square">
                <a:spAutoFit/>
              </a:bodyPr>
              <a:lstStyle/>
              <a:p>
                <a:pPr>
                  <a:buNone/>
                </a:pPr>
                <a:r>
                  <a:rPr lang="pl-PL" sz="2400" b="1">
                    <a:latin typeface="Arial Narrow" panose="020B0606020202030204" pitchFamily="34" charset="0"/>
                  </a:rPr>
                  <a:t>Max normalization</a:t>
                </a:r>
                <a:r>
                  <a:rPr lang="pl-PL" sz="2400">
                    <a:latin typeface="Arial Narrow" panose="020B0606020202030204" pitchFamily="34" charset="0"/>
                  </a:rPr>
                  <a:t> or </a:t>
                </a:r>
                <a:r>
                  <a:rPr lang="pl-PL" sz="2400" b="1">
                    <a:latin typeface="Arial Narrow" panose="020B0606020202030204" pitchFamily="34" charset="0"/>
                  </a:rPr>
                  <a:t>normalization by maximum</a:t>
                </a:r>
                <a:endParaRPr lang="pl-PL" sz="2400">
                  <a:latin typeface="Arial Narrow" panose="020B0606020202030204" pitchFamily="34" charset="0"/>
                </a:endParaRPr>
              </a:p>
              <a:p>
                <a:pPr>
                  <a:buNone/>
                </a:pPr>
                <a:r>
                  <a:rPr lang="pl-PL" sz="2400">
                    <a:latin typeface="Arial Narrow" panose="020B0606020202030204" pitchFamily="34" charset="0"/>
                  </a:rPr>
                  <a:t>divides every value by the largest value in the dataset.</a:t>
                </a:r>
              </a:p>
              <a:p>
                <a:pPr>
                  <a:buNone/>
                </a:pPr>
                <a:r>
                  <a:rPr lang="en-US" sz="2400">
                    <a:latin typeface="Arial Narrow" panose="020B0606020202030204" pitchFamily="34" charset="0"/>
                  </a:rPr>
                  <a:t>The largest value always becomes 1, and all other positive values become numbers between 0 and 1</a:t>
                </a:r>
                <a:r>
                  <a:rPr lang="pl-PL" sz="2400">
                    <a:latin typeface="Arial Narrow" panose="020B0606020202030204" pitchFamily="34" charset="0"/>
                  </a:rPr>
                  <a:t>.</a:t>
                </a:r>
              </a:p>
              <a:p>
                <a:pPr>
                  <a:buNone/>
                </a:pPr>
                <a:r>
                  <a:rPr lang="pl-PL" sz="2400">
                    <a:latin typeface="Arial Narrow" panose="020B0606020202030204" pitchFamily="34" charset="0"/>
                  </a:rPr>
                  <a:t>The formula is:</a:t>
                </a:r>
              </a:p>
              <a:p>
                <a:pPr>
                  <a:buNone/>
                </a:pPr>
                <a14:m>
                  <m:oMathPara xmlns:m="http://schemas.openxmlformats.org/officeDocument/2006/math">
                    <m:oMath>
                      <m:r>
                        <a:rPr lang="pl-PL" sz="2400" b="0" i="1" smtClean="0">
                          <a:latin typeface="Cambria Math" panose="02040503050406030204" pitchFamily="18" charset="0"/>
                        </a:rPr>
                        <m:t>𝑧</m:t>
                      </m:r>
                      <m:r>
                        <a:rPr lang="pl-PL" sz="2400" i="0">
                          <a:latin typeface="Cambria Math" panose="02040503050406030204" pitchFamily="18" charset="0"/>
                        </a:rPr>
                        <m:t>=</m:t>
                      </m:r>
                      <m:f>
                        <m:fPr>
                          <m:ctrlPr>
                            <a:rPr lang="pl-PL" sz="2400" i="1">
                              <a:latin typeface="Cambria Math" panose="02040503050406030204" pitchFamily="18" charset="0"/>
                            </a:rPr>
                          </m:ctrlPr>
                        </m:fPr>
                        <m:num>
                          <m:r>
                            <a:rPr lang="pl-PL" sz="2400" i="1">
                              <a:latin typeface="Cambria Math" panose="02040503050406030204" pitchFamily="18" charset="0"/>
                            </a:rPr>
                            <m:t>𝑥</m:t>
                          </m:r>
                        </m:num>
                        <m:den>
                          <m:r>
                            <m:rPr>
                              <m:sty m:val="p"/>
                            </m:rPr>
                            <a:rPr lang="pl-PL" sz="2400" i="0">
                              <a:latin typeface="Cambria Math" panose="02040503050406030204" pitchFamily="18" charset="0"/>
                            </a:rPr>
                            <m:t>max</m:t>
                          </m:r>
                          <m:r>
                            <a:rPr lang="pl-PL" sz="2400" i="0">
                              <a:latin typeface="Cambria Math" panose="02040503050406030204" pitchFamily="18" charset="0"/>
                            </a:rPr>
                            <m:t>⁡</m:t>
                          </m:r>
                          <m:d>
                            <m:dPr>
                              <m:ctrlPr>
                                <a:rPr lang="pl-PL" sz="2400" i="1">
                                  <a:latin typeface="Cambria Math" panose="02040503050406030204" pitchFamily="18" charset="0"/>
                                </a:rPr>
                              </m:ctrlPr>
                            </m:dPr>
                            <m:e>
                              <m:r>
                                <a:rPr lang="pl-PL" sz="2400" i="1">
                                  <a:latin typeface="Cambria Math" panose="02040503050406030204" pitchFamily="18" charset="0"/>
                                </a:rPr>
                                <m:t>𝑥</m:t>
                              </m:r>
                            </m:e>
                          </m:d>
                        </m:den>
                      </m:f>
                    </m:oMath>
                  </m:oMathPara>
                </a14:m>
                <a:endParaRPr lang="pl-PL" sz="2400">
                  <a:latin typeface="Arial Narrow" panose="020B0606020202030204" pitchFamily="34" charset="0"/>
                </a:endParaRPr>
              </a:p>
              <a:p>
                <a:pPr>
                  <a:buNone/>
                </a:pPr>
                <a:r>
                  <a:rPr lang="pl-PL" sz="2400">
                    <a:latin typeface="Arial Narrow" panose="020B0606020202030204" pitchFamily="34" charset="0"/>
                  </a:rPr>
                  <a:t>where:</a:t>
                </a:r>
              </a:p>
              <a:p>
                <a:pPr>
                  <a:tabLst>
                    <a:tab pos="1168400" algn="l"/>
                  </a:tabLst>
                </a:pPr>
                <a14:m>
                  <m:oMath xmlns:m="http://schemas.openxmlformats.org/officeDocument/2006/math">
                    <m:r>
                      <a:rPr lang="pl-PL" sz="2400" i="1" smtClean="0">
                        <a:latin typeface="Cambria Math" panose="02040503050406030204" pitchFamily="18" charset="0"/>
                      </a:rPr>
                      <m:t>𝑥</m:t>
                    </m:r>
                    <m:r>
                      <a:rPr lang="pl-PL" sz="2400" b="0" i="1" smtClean="0">
                        <a:latin typeface="Cambria Math" panose="02040503050406030204" pitchFamily="18" charset="0"/>
                      </a:rPr>
                      <m:t> </m:t>
                    </m:r>
                  </m:oMath>
                </a14:m>
                <a:r>
                  <a:rPr lang="pl-PL" sz="2400">
                    <a:latin typeface="Arial Narrow" panose="020B0606020202030204" pitchFamily="34" charset="0"/>
                  </a:rPr>
                  <a:t>	is the original value </a:t>
                </a:r>
              </a:p>
              <a:p>
                <a:pPr>
                  <a:tabLst>
                    <a:tab pos="1168400" algn="l"/>
                  </a:tabLst>
                </a:pPr>
                <a14:m>
                  <m:oMath xmlns:m="http://schemas.openxmlformats.org/officeDocument/2006/math">
                    <m:r>
                      <m:rPr>
                        <m:sty m:val="p"/>
                      </m:rPr>
                      <a:rPr lang="pl-PL" sz="2400">
                        <a:latin typeface="Cambria Math" panose="02040503050406030204" pitchFamily="18" charset="0"/>
                      </a:rPr>
                      <m:t>max</m:t>
                    </m:r>
                    <m:r>
                      <a:rPr lang="pl-PL" sz="2400" i="0">
                        <a:latin typeface="Cambria Math" panose="02040503050406030204" pitchFamily="18" charset="0"/>
                      </a:rPr>
                      <m:t>⁡</m:t>
                    </m:r>
                    <m:d>
                      <m:dPr>
                        <m:ctrlPr>
                          <a:rPr lang="pl-PL" sz="2400" i="1">
                            <a:latin typeface="Cambria Math" panose="02040503050406030204" pitchFamily="18" charset="0"/>
                          </a:rPr>
                        </m:ctrlPr>
                      </m:dPr>
                      <m:e>
                        <m:r>
                          <a:rPr lang="pl-PL" sz="2400" i="1">
                            <a:latin typeface="Cambria Math" panose="02040503050406030204" pitchFamily="18" charset="0"/>
                          </a:rPr>
                          <m:t>𝑥</m:t>
                        </m:r>
                      </m:e>
                    </m:d>
                  </m:oMath>
                </a14:m>
                <a:r>
                  <a:rPr lang="pl-PL" sz="2400">
                    <a:latin typeface="Arial Narrow" panose="020B0606020202030204" pitchFamily="34" charset="0"/>
                  </a:rPr>
                  <a:t> 	is the largest value </a:t>
                </a:r>
              </a:p>
              <a:p>
                <a:pPr>
                  <a:tabLst>
                    <a:tab pos="1168400" algn="l"/>
                  </a:tabLst>
                </a:pPr>
                <a14:m>
                  <m:oMath xmlns:m="http://schemas.openxmlformats.org/officeDocument/2006/math">
                    <m:r>
                      <a:rPr lang="pl-PL" sz="2400" b="0" i="1" smtClean="0">
                        <a:latin typeface="Cambria Math" panose="02040503050406030204" pitchFamily="18" charset="0"/>
                      </a:rPr>
                      <m:t>𝑧</m:t>
                    </m:r>
                  </m:oMath>
                </a14:m>
                <a:r>
                  <a:rPr lang="pl-PL" sz="2400">
                    <a:latin typeface="Arial Narrow" panose="020B0606020202030204" pitchFamily="34" charset="0"/>
                  </a:rPr>
                  <a:t> 	is the normalized value </a:t>
                </a:r>
              </a:p>
              <a:p>
                <a:pPr>
                  <a:buNone/>
                </a:pPr>
                <a:endParaRPr lang="pl-PL" sz="2400">
                  <a:latin typeface="Arial Narrow" panose="020B0606020202030204" pitchFamily="34" charset="0"/>
                </a:endParaRPr>
              </a:p>
              <a:p>
                <a:pPr>
                  <a:buNone/>
                </a:pPr>
                <a:r>
                  <a:rPr lang="pl-PL" sz="2400">
                    <a:latin typeface="Arial Narrow" panose="020B0606020202030204" pitchFamily="34" charset="0"/>
                  </a:rPr>
                  <a:t>For example, suppose your data is:</a:t>
                </a:r>
                <a14:m>
                  <m:oMath xmlns:m="http://schemas.openxmlformats.org/officeDocument/2006/math">
                    <m:r>
                      <a:rPr lang="pl-PL" sz="2400" b="0" i="0" smtClean="0">
                        <a:latin typeface="Cambria Math" panose="02040503050406030204" pitchFamily="18" charset="0"/>
                      </a:rPr>
                      <m:t> </m:t>
                    </m:r>
                    <m:r>
                      <a:rPr lang="pl-PL" sz="2400">
                        <a:latin typeface="Cambria Math" panose="02040503050406030204" pitchFamily="18" charset="0"/>
                      </a:rPr>
                      <m:t>10</m:t>
                    </m:r>
                    <m:r>
                      <a:rPr lang="pl-PL" sz="2400" i="0">
                        <a:latin typeface="Cambria Math" panose="02040503050406030204" pitchFamily="18" charset="0"/>
                      </a:rPr>
                      <m:t>,</m:t>
                    </m:r>
                    <m:r>
                      <m:rPr>
                        <m:nor/>
                      </m:rPr>
                      <a:rPr lang="pl-PL" sz="2400" b="0" i="0">
                        <a:latin typeface="Arial Narrow" panose="020B0606020202030204" pitchFamily="34" charset="0"/>
                      </a:rPr>
                      <m:t> </m:t>
                    </m:r>
                    <m:r>
                      <a:rPr lang="pl-PL" sz="2400" b="0" i="0">
                        <a:latin typeface="Cambria Math" panose="02040503050406030204" pitchFamily="18" charset="0"/>
                      </a:rPr>
                      <m:t>20,</m:t>
                    </m:r>
                    <m:r>
                      <m:rPr>
                        <m:nor/>
                      </m:rPr>
                      <a:rPr lang="pl-PL" sz="2400" b="0" i="0">
                        <a:latin typeface="Arial Narrow" panose="020B0606020202030204" pitchFamily="34" charset="0"/>
                      </a:rPr>
                      <m:t> </m:t>
                    </m:r>
                    <m:r>
                      <a:rPr lang="pl-PL" sz="2400" b="0" i="0">
                        <a:latin typeface="Cambria Math" panose="02040503050406030204" pitchFamily="18" charset="0"/>
                      </a:rPr>
                      <m:t>30,</m:t>
                    </m:r>
                    <m:r>
                      <m:rPr>
                        <m:nor/>
                      </m:rPr>
                      <a:rPr lang="pl-PL" sz="2400" b="0" i="0">
                        <a:latin typeface="Arial Narrow" panose="020B0606020202030204" pitchFamily="34" charset="0"/>
                      </a:rPr>
                      <m:t> </m:t>
                    </m:r>
                    <m:r>
                      <a:rPr lang="pl-PL" sz="2400" b="0" i="0">
                        <a:latin typeface="Cambria Math" panose="02040503050406030204" pitchFamily="18" charset="0"/>
                      </a:rPr>
                      <m:t>40,</m:t>
                    </m:r>
                    <m:r>
                      <m:rPr>
                        <m:nor/>
                      </m:rPr>
                      <a:rPr lang="pl-PL" sz="2400" b="0" i="0">
                        <a:latin typeface="Arial Narrow" panose="020B0606020202030204" pitchFamily="34" charset="0"/>
                      </a:rPr>
                      <m:t> </m:t>
                    </m:r>
                    <m:r>
                      <a:rPr lang="pl-PL" sz="2400" b="0" i="0">
                        <a:latin typeface="Cambria Math" panose="02040503050406030204" pitchFamily="18" charset="0"/>
                      </a:rPr>
                      <m:t>50</m:t>
                    </m:r>
                  </m:oMath>
                </a14:m>
                <a:endParaRPr lang="pl-PL" sz="2400" b="0">
                  <a:latin typeface="Arial Narrow" panose="020B0606020202030204" pitchFamily="34" charset="0"/>
                </a:endParaRPr>
              </a:p>
              <a:p>
                <a:pPr>
                  <a:buNone/>
                </a:pPr>
                <a:r>
                  <a:rPr lang="pl-PL" sz="2400">
                    <a:latin typeface="Arial Narrow" panose="020B0606020202030204" pitchFamily="34" charset="0"/>
                  </a:rPr>
                  <a:t>The maximum is </a:t>
                </a:r>
                <a14:m>
                  <m:oMath xmlns:m="http://schemas.openxmlformats.org/officeDocument/2006/math">
                    <m:r>
                      <a:rPr lang="pl-PL" sz="2400">
                        <a:latin typeface="Cambria Math" panose="02040503050406030204" pitchFamily="18" charset="0"/>
                      </a:rPr>
                      <m:t>50</m:t>
                    </m:r>
                  </m:oMath>
                </a14:m>
                <a:r>
                  <a:rPr lang="pl-PL" sz="2400">
                    <a:latin typeface="Arial Narrow" panose="020B0606020202030204" pitchFamily="34" charset="0"/>
                  </a:rPr>
                  <a:t>. Divide every number by </a:t>
                </a:r>
                <a14:m>
                  <m:oMath xmlns:m="http://schemas.openxmlformats.org/officeDocument/2006/math">
                    <m:r>
                      <a:rPr lang="pl-PL" sz="2400">
                        <a:latin typeface="Cambria Math" panose="02040503050406030204" pitchFamily="18" charset="0"/>
                      </a:rPr>
                      <m:t>50</m:t>
                    </m:r>
                    <m:r>
                      <a:rPr lang="pl-PL" sz="2400" b="0" i="0" smtClean="0">
                        <a:latin typeface="Cambria Math" panose="02040503050406030204" pitchFamily="18" charset="0"/>
                      </a:rPr>
                      <m:t>,</m:t>
                    </m:r>
                  </m:oMath>
                </a14:m>
                <a:r>
                  <a:rPr lang="pl-PL" sz="2400">
                    <a:latin typeface="Arial Narrow" panose="020B0606020202030204" pitchFamily="34" charset="0"/>
                  </a:rPr>
                  <a:t> so the normalized data becomes:</a:t>
                </a:r>
              </a:p>
              <a:p>
                <a:pPr>
                  <a:buNone/>
                </a:pPr>
                <a14:m>
                  <m:oMathPara xmlns:m="http://schemas.openxmlformats.org/officeDocument/2006/math">
                    <m:oMath>
                      <m:r>
                        <a:rPr lang="pl-PL" sz="2400">
                          <a:latin typeface="Cambria Math" panose="02040503050406030204" pitchFamily="18" charset="0"/>
                        </a:rPr>
                        <m:t>0.2</m:t>
                      </m:r>
                      <m:r>
                        <a:rPr lang="pl-PL" sz="2400" i="0">
                          <a:latin typeface="Cambria Math" panose="02040503050406030204" pitchFamily="18" charset="0"/>
                        </a:rPr>
                        <m:t>,</m:t>
                      </m:r>
                      <m:r>
                        <m:rPr>
                          <m:nor/>
                        </m:rPr>
                        <a:rPr lang="pl-PL" sz="2400" b="0" i="0">
                          <a:latin typeface="Arial Narrow" panose="020B0606020202030204" pitchFamily="34" charset="0"/>
                        </a:rPr>
                        <m:t> </m:t>
                      </m:r>
                      <m:r>
                        <a:rPr lang="pl-PL" sz="2400" b="0" i="0">
                          <a:latin typeface="Cambria Math" panose="02040503050406030204" pitchFamily="18" charset="0"/>
                        </a:rPr>
                        <m:t>0.4,</m:t>
                      </m:r>
                      <m:r>
                        <m:rPr>
                          <m:nor/>
                        </m:rPr>
                        <a:rPr lang="pl-PL" sz="2400" b="0" i="0">
                          <a:latin typeface="Arial Narrow" panose="020B0606020202030204" pitchFamily="34" charset="0"/>
                        </a:rPr>
                        <m:t> </m:t>
                      </m:r>
                      <m:r>
                        <a:rPr lang="pl-PL" sz="2400" b="0" i="0">
                          <a:latin typeface="Cambria Math" panose="02040503050406030204" pitchFamily="18" charset="0"/>
                        </a:rPr>
                        <m:t>0.6,</m:t>
                      </m:r>
                      <m:r>
                        <m:rPr>
                          <m:nor/>
                        </m:rPr>
                        <a:rPr lang="pl-PL" sz="2400" b="0" i="0">
                          <a:latin typeface="Arial Narrow" panose="020B0606020202030204" pitchFamily="34" charset="0"/>
                        </a:rPr>
                        <m:t> </m:t>
                      </m:r>
                      <m:r>
                        <a:rPr lang="pl-PL" sz="2400" b="0" i="0">
                          <a:latin typeface="Cambria Math" panose="02040503050406030204" pitchFamily="18" charset="0"/>
                        </a:rPr>
                        <m:t>0.8,</m:t>
                      </m:r>
                      <m:r>
                        <m:rPr>
                          <m:nor/>
                        </m:rPr>
                        <a:rPr lang="pl-PL" sz="2400" b="0" i="0">
                          <a:latin typeface="Arial Narrow" panose="020B0606020202030204" pitchFamily="34" charset="0"/>
                        </a:rPr>
                        <m:t> </m:t>
                      </m:r>
                      <m:r>
                        <a:rPr lang="pl-PL" sz="2400" b="0" i="0">
                          <a:latin typeface="Cambria Math" panose="02040503050406030204" pitchFamily="18" charset="0"/>
                        </a:rPr>
                        <m:t>1</m:t>
                      </m:r>
                    </m:oMath>
                  </m:oMathPara>
                </a14:m>
                <a:endParaRPr lang="pl-PL" sz="2400" b="0">
                  <a:latin typeface="Arial Narrow" panose="020B0606020202030204" pitchFamily="34" charset="0"/>
                </a:endParaRPr>
              </a:p>
            </p:txBody>
          </p:sp>
        </mc:Choice>
        <mc:Fallback xmlns="">
          <p:sp>
            <p:nvSpPr>
              <p:cNvPr id="4" name="TextBox 3">
                <a:extLst>
                  <a:ext uri="{FF2B5EF4-FFF2-40B4-BE49-F238E27FC236}">
                    <a16:creationId xmlns:a16="http://schemas.microsoft.com/office/drawing/2014/main" id="{4FEFC779-18C3-0709-1CDC-74F93841D032}"/>
                  </a:ext>
                </a:extLst>
              </p:cNvPr>
              <p:cNvSpPr txBox="1">
                <a:spLocks noRot="1" noChangeAspect="1" noMove="1" noResize="1" noEditPoints="1" noAdjustHandles="1" noChangeArrowheads="1" noChangeShapeType="1" noTextEdit="1"/>
              </p:cNvSpPr>
              <p:nvPr/>
            </p:nvSpPr>
            <p:spPr>
              <a:xfrm>
                <a:off x="0" y="304800"/>
                <a:ext cx="12192000" cy="5209055"/>
              </a:xfrm>
              <a:prstGeom prst="rect">
                <a:avLst/>
              </a:prstGeom>
              <a:blipFill>
                <a:blip r:embed="rId2"/>
                <a:stretch>
                  <a:fillRect l="-750" t="-936"/>
                </a:stretch>
              </a:blipFill>
            </p:spPr>
            <p:txBody>
              <a:bodyPr/>
              <a:lstStyle/>
              <a:p>
                <a:r>
                  <a:rPr lang="pl-PL">
                    <a:noFill/>
                  </a:rPr>
                  <a:t> </a:t>
                </a:r>
              </a:p>
            </p:txBody>
          </p:sp>
        </mc:Fallback>
      </mc:AlternateContent>
      <p:sp>
        <p:nvSpPr>
          <p:cNvPr id="8" name="Rectangle 2">
            <a:extLst>
              <a:ext uri="{FF2B5EF4-FFF2-40B4-BE49-F238E27FC236}">
                <a16:creationId xmlns:a16="http://schemas.microsoft.com/office/drawing/2014/main" id="{3CBB620B-A1CE-4783-C6FD-7C8BDD63E529}"/>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pl-PL" sz="1600">
                <a:latin typeface="Arial" pitchFamily="34" charset="0"/>
                <a:ea typeface="+mj-lt"/>
                <a:cs typeface="Arial" pitchFamily="34" charset="0"/>
              </a:rPr>
              <a:t>Data in ML – normalization</a:t>
            </a:r>
            <a:endParaRPr lang="en-GB" sz="4400" dirty="0">
              <a:latin typeface="Arial" pitchFamily="34" charset="0"/>
              <a:ea typeface="+mj-lt"/>
              <a:cs typeface="Arial" pitchFamily="34" charset="0"/>
            </a:endParaRPr>
          </a:p>
        </p:txBody>
      </p:sp>
    </p:spTree>
    <p:extLst>
      <p:ext uri="{BB962C8B-B14F-4D97-AF65-F5344CB8AC3E}">
        <p14:creationId xmlns:p14="http://schemas.microsoft.com/office/powerpoint/2010/main" val="31407958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E6F425-510B-9E64-04FC-4E05CFD86B0F}"/>
              </a:ext>
            </a:extLst>
          </p:cNvPr>
          <p:cNvSpPr>
            <a:spLocks noGrp="1"/>
          </p:cNvSpPr>
          <p:nvPr>
            <p:ph type="sldNum" sz="quarter" idx="12"/>
          </p:nvPr>
        </p:nvSpPr>
        <p:spPr/>
        <p:txBody>
          <a:bodyPr/>
          <a:lstStyle/>
          <a:p>
            <a:fld id="{20D4B2D9-DB10-4EB9-B7A6-032A6D4E75AC}" type="slidenum">
              <a:rPr lang="pl-PL" smtClean="0"/>
              <a:pPr/>
              <a:t>66</a:t>
            </a:fld>
            <a:endParaRPr lang="pl-PL" dirty="0"/>
          </a:p>
        </p:txBody>
      </p:sp>
      <p:sp>
        <p:nvSpPr>
          <p:cNvPr id="4" name="Rectangle 2">
            <a:extLst>
              <a:ext uri="{FF2B5EF4-FFF2-40B4-BE49-F238E27FC236}">
                <a16:creationId xmlns:a16="http://schemas.microsoft.com/office/drawing/2014/main" id="{8ABE1EA3-BB8A-FA9B-BC39-A8764F2E7046}"/>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pl-PL" sz="1600">
                <a:latin typeface="Arial" pitchFamily="34" charset="0"/>
                <a:ea typeface="+mj-lt"/>
                <a:cs typeface="Arial" pitchFamily="34" charset="0"/>
              </a:rPr>
              <a:t>Data in ML – one hot encoding</a:t>
            </a:r>
            <a:endParaRPr lang="en-GB" sz="4400" dirty="0">
              <a:latin typeface="Arial" pitchFamily="34" charset="0"/>
              <a:ea typeface="+mj-lt"/>
              <a:cs typeface="Arial" pitchFamily="34" charset="0"/>
            </a:endParaRPr>
          </a:p>
        </p:txBody>
      </p:sp>
      <p:sp>
        <p:nvSpPr>
          <p:cNvPr id="5" name="Rectangle 4">
            <a:extLst>
              <a:ext uri="{FF2B5EF4-FFF2-40B4-BE49-F238E27FC236}">
                <a16:creationId xmlns:a16="http://schemas.microsoft.com/office/drawing/2014/main" id="{E9D53F02-946B-F6CE-F72E-2C8F0414CC95}"/>
              </a:ext>
            </a:extLst>
          </p:cNvPr>
          <p:cNvSpPr/>
          <p:nvPr/>
        </p:nvSpPr>
        <p:spPr>
          <a:xfrm>
            <a:off x="0" y="304800"/>
            <a:ext cx="12192000" cy="3477875"/>
          </a:xfrm>
          <a:prstGeom prst="rect">
            <a:avLst/>
          </a:prstGeom>
        </p:spPr>
        <p:txBody>
          <a:bodyPr wrap="square">
            <a:spAutoFit/>
          </a:bodyPr>
          <a:lstStyle/>
          <a:p>
            <a:r>
              <a:rPr lang="pl-PL" sz="2000" b="1">
                <a:solidFill>
                  <a:srgbClr val="000000"/>
                </a:solidFill>
                <a:latin typeface="Arial Narrow" panose="020B0606020202030204" pitchFamily="34" charset="0"/>
                <a:cs typeface="Calibri" panose="020F0502020204030204" pitchFamily="34" charset="0"/>
              </a:rPr>
              <a:t>One-hot encoding</a:t>
            </a:r>
            <a:endParaRPr lang="pl-PL" sz="2000" b="1" dirty="0">
              <a:solidFill>
                <a:srgbClr val="000000"/>
              </a:solidFill>
              <a:latin typeface="Arial Narrow" panose="020B0606020202030204" pitchFamily="34" charset="0"/>
              <a:cs typeface="Calibri" panose="020F0502020204030204" pitchFamily="34" charset="0"/>
            </a:endParaRPr>
          </a:p>
          <a:p>
            <a:r>
              <a:rPr lang="en-US" sz="2000">
                <a:latin typeface="Arial Narrow" panose="020B0606020202030204" pitchFamily="34" charset="0"/>
              </a:rPr>
              <a:t>The technique involves generating a vector representation of a word, sentence, text, </a:t>
            </a:r>
            <a:r>
              <a:rPr lang="pl-PL" sz="2000">
                <a:latin typeface="Arial Narrow" panose="020B0606020202030204" pitchFamily="34" charset="0"/>
              </a:rPr>
              <a:t>categorical data</a:t>
            </a:r>
            <a:r>
              <a:rPr lang="en-US" sz="2000">
                <a:latin typeface="Arial Narrow" panose="020B0606020202030204" pitchFamily="34" charset="0"/>
              </a:rPr>
              <a:t>.</a:t>
            </a:r>
            <a:endParaRPr lang="pl-PL" sz="2000" dirty="0">
              <a:latin typeface="Arial Narrow" panose="020B0606020202030204" pitchFamily="34" charset="0"/>
            </a:endParaRPr>
          </a:p>
          <a:p>
            <a:endParaRPr lang="pl-PL" sz="2000" dirty="0">
              <a:latin typeface="Arial Narrow" panose="020B0606020202030204" pitchFamily="34" charset="0"/>
            </a:endParaRPr>
          </a:p>
          <a:p>
            <a:r>
              <a:rPr lang="pl-PL" sz="2000">
                <a:latin typeface="Arial Narrow" panose="020B0606020202030204" pitchFamily="34" charset="0"/>
              </a:rPr>
              <a:t>Example:</a:t>
            </a:r>
            <a:endParaRPr lang="pl-PL" sz="2000" dirty="0">
              <a:latin typeface="Arial Narrow" panose="020B0606020202030204" pitchFamily="34" charset="0"/>
            </a:endParaRPr>
          </a:p>
          <a:p>
            <a:r>
              <a:rPr lang="pl-PL" sz="2000">
                <a:latin typeface="Arial Narrow" panose="020B0606020202030204" pitchFamily="34" charset="0"/>
              </a:rPr>
              <a:t>Original </a:t>
            </a:r>
            <a:r>
              <a:rPr lang="pl-PL" sz="2000" b="1">
                <a:latin typeface="Arial Narrow" panose="020B0606020202030204" pitchFamily="34" charset="0"/>
              </a:rPr>
              <a:t>colour</a:t>
            </a:r>
            <a:r>
              <a:rPr lang="pl-PL" sz="2000">
                <a:latin typeface="Arial Narrow" panose="020B0606020202030204" pitchFamily="34" charset="0"/>
              </a:rPr>
              <a:t> column contains the following possible colours: </a:t>
            </a:r>
            <a:r>
              <a:rPr lang="pl-PL" sz="2000" b="1">
                <a:latin typeface="Arial Narrow" panose="020B0606020202030204" pitchFamily="34" charset="0"/>
              </a:rPr>
              <a:t>red</a:t>
            </a:r>
            <a:r>
              <a:rPr lang="pl-PL" sz="2000">
                <a:latin typeface="Arial Narrow" panose="020B0606020202030204" pitchFamily="34" charset="0"/>
              </a:rPr>
              <a:t>, </a:t>
            </a:r>
            <a:r>
              <a:rPr lang="pl-PL" sz="2000" b="1">
                <a:latin typeface="Arial Narrow" panose="020B0606020202030204" pitchFamily="34" charset="0"/>
              </a:rPr>
              <a:t>green</a:t>
            </a:r>
            <a:r>
              <a:rPr lang="pl-PL" sz="2000">
                <a:latin typeface="Arial Narrow" panose="020B0606020202030204" pitchFamily="34" charset="0"/>
              </a:rPr>
              <a:t>, </a:t>
            </a:r>
            <a:r>
              <a:rPr lang="pl-PL" sz="2000" b="1">
                <a:latin typeface="Arial Narrow" panose="020B0606020202030204" pitchFamily="34" charset="0"/>
              </a:rPr>
              <a:t>blue</a:t>
            </a:r>
            <a:r>
              <a:rPr lang="pl-PL" sz="2000">
                <a:latin typeface="Arial Narrow" panose="020B0606020202030204" pitchFamily="34" charset="0"/>
              </a:rPr>
              <a:t>, </a:t>
            </a:r>
            <a:r>
              <a:rPr lang="pl-PL" sz="2000" b="1">
                <a:latin typeface="Arial Narrow" panose="020B0606020202030204" pitchFamily="34" charset="0"/>
              </a:rPr>
              <a:t>yellow</a:t>
            </a:r>
            <a:r>
              <a:rPr lang="pl-PL" sz="2000">
                <a:latin typeface="Arial Narrow" panose="020B0606020202030204" pitchFamily="34" charset="0"/>
              </a:rPr>
              <a:t>. Of course, every color appears many times in the column.</a:t>
            </a:r>
          </a:p>
          <a:p>
            <a:r>
              <a:rPr lang="en-US" sz="2000">
                <a:latin typeface="Arial Narrow" panose="020B0606020202030204" pitchFamily="34" charset="0"/>
              </a:rPr>
              <a:t>If we assign the numbers 1, 2, 3, 4 to these colors, we establish an order among them</a:t>
            </a:r>
            <a:r>
              <a:rPr lang="pl-PL" sz="2000">
                <a:latin typeface="Arial Narrow" panose="020B0606020202030204" pitchFamily="34" charset="0"/>
              </a:rPr>
              <a:t> – </a:t>
            </a:r>
            <a:r>
              <a:rPr lang="en-US" sz="2000">
                <a:latin typeface="Arial Narrow" panose="020B0606020202030204" pitchFamily="34" charset="0"/>
              </a:rPr>
              <a:t>that is, implying that colo</a:t>
            </a:r>
            <a:r>
              <a:rPr lang="pl-PL" sz="2000">
                <a:latin typeface="Arial Narrow" panose="020B0606020202030204" pitchFamily="34" charset="0"/>
              </a:rPr>
              <a:t>u</a:t>
            </a:r>
            <a:r>
              <a:rPr lang="en-US" sz="2000">
                <a:latin typeface="Arial Narrow" panose="020B0606020202030204" pitchFamily="34" charset="0"/>
              </a:rPr>
              <a:t>r number 2 is “more important” than colo</a:t>
            </a:r>
            <a:r>
              <a:rPr lang="pl-PL" sz="2000">
                <a:latin typeface="Arial Narrow" panose="020B0606020202030204" pitchFamily="34" charset="0"/>
              </a:rPr>
              <a:t>u</a:t>
            </a:r>
            <a:r>
              <a:rPr lang="en-US" sz="2000">
                <a:latin typeface="Arial Narrow" panose="020B0606020202030204" pitchFamily="34" charset="0"/>
              </a:rPr>
              <a:t>r number 1, and so on</a:t>
            </a:r>
            <a:r>
              <a:rPr lang="pl-PL" sz="2000">
                <a:latin typeface="Arial Narrow" panose="020B0606020202030204" pitchFamily="34" charset="0"/>
              </a:rPr>
              <a:t>, </a:t>
            </a:r>
            <a:r>
              <a:rPr lang="en-US" sz="2000">
                <a:latin typeface="Arial Narrow" panose="020B0606020202030204" pitchFamily="34" charset="0"/>
              </a:rPr>
              <a:t>but that is not </a:t>
            </a:r>
            <a:r>
              <a:rPr lang="pl-PL" sz="2000">
                <a:latin typeface="Arial Narrow" panose="020B0606020202030204" pitchFamily="34" charset="0"/>
              </a:rPr>
              <a:t>true</a:t>
            </a:r>
            <a:r>
              <a:rPr lang="en-US" sz="2000">
                <a:latin typeface="Arial Narrow" panose="020B0606020202030204" pitchFamily="34" charset="0"/>
              </a:rPr>
              <a:t>.</a:t>
            </a:r>
            <a:r>
              <a:rPr lang="pl-PL" sz="2000">
                <a:latin typeface="Arial Narrow" panose="020B0606020202030204" pitchFamily="34" charset="0"/>
              </a:rPr>
              <a:t> </a:t>
            </a:r>
            <a:r>
              <a:rPr lang="en-US" sz="2000">
                <a:latin typeface="Arial Narrow" panose="020B0606020202030204" pitchFamily="34" charset="0"/>
              </a:rPr>
              <a:t>As a result, our data would convey incorrect information</a:t>
            </a:r>
            <a:r>
              <a:rPr lang="pl-PL" sz="2000">
                <a:latin typeface="Arial Narrow" panose="020B0606020202030204" pitchFamily="34" charset="0"/>
              </a:rPr>
              <a:t>.</a:t>
            </a:r>
          </a:p>
          <a:p>
            <a:endParaRPr lang="pl-PL" sz="2000">
              <a:latin typeface="Arial Narrow" panose="020B0606020202030204" pitchFamily="34" charset="0"/>
            </a:endParaRPr>
          </a:p>
          <a:p>
            <a:r>
              <a:rPr lang="en-US" sz="2000">
                <a:latin typeface="Arial Narrow" panose="020B0606020202030204" pitchFamily="34" charset="0"/>
              </a:rPr>
              <a:t>Instead, we use one-hot encoding</a:t>
            </a:r>
            <a:r>
              <a:rPr lang="pl-PL" sz="2000">
                <a:latin typeface="Arial Narrow" panose="020B0606020202030204" pitchFamily="34" charset="0"/>
              </a:rPr>
              <a:t>, which </a:t>
            </a:r>
            <a:r>
              <a:rPr lang="en-US" sz="2000">
                <a:latin typeface="Arial Narrow" panose="020B0606020202030204" pitchFamily="34" charset="0"/>
              </a:rPr>
              <a:t>converts categorical values into separate binary columns. </a:t>
            </a:r>
            <a:endParaRPr lang="pl-PL" sz="2000">
              <a:latin typeface="Arial Narrow" panose="020B0606020202030204" pitchFamily="34" charset="0"/>
            </a:endParaRPr>
          </a:p>
          <a:p>
            <a:r>
              <a:rPr lang="en-US" sz="2000">
                <a:latin typeface="Arial Narrow" panose="020B0606020202030204" pitchFamily="34" charset="0"/>
              </a:rPr>
              <a:t>Each unique colour becomes its own column:</a:t>
            </a:r>
            <a:endParaRPr lang="pl-PL" dirty="0">
              <a:latin typeface="Arial Narrow" panose="020B0606020202030204" pitchFamily="34" charset="0"/>
            </a:endParaRPr>
          </a:p>
        </p:txBody>
      </p:sp>
      <p:graphicFrame>
        <p:nvGraphicFramePr>
          <p:cNvPr id="6" name="Table 5">
            <a:extLst>
              <a:ext uri="{FF2B5EF4-FFF2-40B4-BE49-F238E27FC236}">
                <a16:creationId xmlns:a16="http://schemas.microsoft.com/office/drawing/2014/main" id="{C06C4FE8-5EB3-B12D-8821-369460D35A7F}"/>
              </a:ext>
            </a:extLst>
          </p:cNvPr>
          <p:cNvGraphicFramePr>
            <a:graphicFrameLocks noGrp="1"/>
          </p:cNvGraphicFramePr>
          <p:nvPr>
            <p:extLst>
              <p:ext uri="{D42A27DB-BD31-4B8C-83A1-F6EECF244321}">
                <p14:modId xmlns:p14="http://schemas.microsoft.com/office/powerpoint/2010/main" val="3847551895"/>
              </p:ext>
            </p:extLst>
          </p:nvPr>
        </p:nvGraphicFramePr>
        <p:xfrm>
          <a:off x="1828800" y="3802995"/>
          <a:ext cx="8172000" cy="1828800"/>
        </p:xfrm>
        <a:graphic>
          <a:graphicData uri="http://schemas.openxmlformats.org/drawingml/2006/table">
            <a:tbl>
              <a:tblPr>
                <a:tableStyleId>{5940675A-B579-460E-94D1-54222C63F5DA}</a:tableStyleId>
              </a:tblPr>
              <a:tblGrid>
                <a:gridCol w="1634400">
                  <a:extLst>
                    <a:ext uri="{9D8B030D-6E8A-4147-A177-3AD203B41FA5}">
                      <a16:colId xmlns:a16="http://schemas.microsoft.com/office/drawing/2014/main" val="2524404746"/>
                    </a:ext>
                  </a:extLst>
                </a:gridCol>
                <a:gridCol w="1634400">
                  <a:extLst>
                    <a:ext uri="{9D8B030D-6E8A-4147-A177-3AD203B41FA5}">
                      <a16:colId xmlns:a16="http://schemas.microsoft.com/office/drawing/2014/main" val="3165510162"/>
                    </a:ext>
                  </a:extLst>
                </a:gridCol>
                <a:gridCol w="1634400">
                  <a:extLst>
                    <a:ext uri="{9D8B030D-6E8A-4147-A177-3AD203B41FA5}">
                      <a16:colId xmlns:a16="http://schemas.microsoft.com/office/drawing/2014/main" val="1289991468"/>
                    </a:ext>
                  </a:extLst>
                </a:gridCol>
                <a:gridCol w="1634400">
                  <a:extLst>
                    <a:ext uri="{9D8B030D-6E8A-4147-A177-3AD203B41FA5}">
                      <a16:colId xmlns:a16="http://schemas.microsoft.com/office/drawing/2014/main" val="2527800467"/>
                    </a:ext>
                  </a:extLst>
                </a:gridCol>
                <a:gridCol w="1634400">
                  <a:extLst>
                    <a:ext uri="{9D8B030D-6E8A-4147-A177-3AD203B41FA5}">
                      <a16:colId xmlns:a16="http://schemas.microsoft.com/office/drawing/2014/main" val="1901812247"/>
                    </a:ext>
                  </a:extLst>
                </a:gridCol>
              </a:tblGrid>
              <a:tr h="0">
                <a:tc>
                  <a:txBody>
                    <a:bodyPr/>
                    <a:lstStyle/>
                    <a:p>
                      <a:pPr>
                        <a:buNone/>
                      </a:pPr>
                      <a:r>
                        <a:rPr lang="pl-PL" b="1"/>
                        <a:t>Colour</a:t>
                      </a:r>
                    </a:p>
                  </a:txBody>
                  <a:tcPr anchor="ctr">
                    <a:lnL w="12700" cap="flat" cmpd="sng" algn="ctr">
                      <a:solidFill>
                        <a:schemeClr val="tx1"/>
                      </a:solidFill>
                      <a:prstDash val="solid"/>
                      <a:round/>
                      <a:headEnd type="none" w="med" len="med"/>
                      <a:tailEnd type="none" w="med" len="med"/>
                    </a:lnL>
                  </a:tcPr>
                </a:tc>
                <a:tc>
                  <a:txBody>
                    <a:bodyPr/>
                    <a:lstStyle/>
                    <a:p>
                      <a:pPr>
                        <a:buNone/>
                      </a:pPr>
                      <a:r>
                        <a:rPr lang="pl-PL" b="1"/>
                        <a:t>Colour_red</a:t>
                      </a:r>
                    </a:p>
                  </a:txBody>
                  <a:tcPr anchor="ctr"/>
                </a:tc>
                <a:tc>
                  <a:txBody>
                    <a:bodyPr/>
                    <a:lstStyle/>
                    <a:p>
                      <a:pPr>
                        <a:buNone/>
                      </a:pPr>
                      <a:r>
                        <a:rPr lang="pl-PL" b="1"/>
                        <a:t>Colour_green</a:t>
                      </a:r>
                    </a:p>
                  </a:txBody>
                  <a:tcPr anchor="ctr"/>
                </a:tc>
                <a:tc>
                  <a:txBody>
                    <a:bodyPr/>
                    <a:lstStyle/>
                    <a:p>
                      <a:pPr>
                        <a:buNone/>
                      </a:pPr>
                      <a:r>
                        <a:rPr lang="pl-PL" b="1"/>
                        <a:t>Colour_blue</a:t>
                      </a:r>
                    </a:p>
                  </a:txBody>
                  <a:tcPr anchor="ctr"/>
                </a:tc>
                <a:tc>
                  <a:txBody>
                    <a:bodyPr/>
                    <a:lstStyle/>
                    <a:p>
                      <a:pPr>
                        <a:buNone/>
                      </a:pPr>
                      <a:r>
                        <a:rPr lang="pl-PL" b="1"/>
                        <a:t>Colour_yellow</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307216502"/>
                  </a:ext>
                </a:extLst>
              </a:tr>
              <a:tr h="0">
                <a:tc>
                  <a:txBody>
                    <a:bodyPr/>
                    <a:lstStyle/>
                    <a:p>
                      <a:pPr>
                        <a:buNone/>
                      </a:pPr>
                      <a:r>
                        <a:rPr lang="pl-PL"/>
                        <a:t>red</a:t>
                      </a:r>
                    </a:p>
                  </a:txBody>
                  <a:tcPr anchor="ctr">
                    <a:lnL w="12700" cap="flat" cmpd="sng" algn="ctr">
                      <a:solidFill>
                        <a:schemeClr val="tx1"/>
                      </a:solidFill>
                      <a:prstDash val="solid"/>
                      <a:round/>
                      <a:headEnd type="none" w="med" len="med"/>
                      <a:tailEnd type="none" w="med" len="med"/>
                    </a:lnL>
                  </a:tcPr>
                </a:tc>
                <a:tc>
                  <a:txBody>
                    <a:bodyPr/>
                    <a:lstStyle/>
                    <a:p>
                      <a:pPr algn="ctr">
                        <a:buNone/>
                      </a:pPr>
                      <a:r>
                        <a:rPr lang="pl-PL"/>
                        <a:t>1</a:t>
                      </a:r>
                    </a:p>
                  </a:txBody>
                  <a:tcPr anchor="ctr"/>
                </a:tc>
                <a:tc>
                  <a:txBody>
                    <a:bodyPr/>
                    <a:lstStyle/>
                    <a:p>
                      <a:pPr algn="ctr">
                        <a:buNone/>
                      </a:pPr>
                      <a:r>
                        <a:rPr lang="pl-PL"/>
                        <a:t>0</a:t>
                      </a:r>
                    </a:p>
                  </a:txBody>
                  <a:tcPr anchor="ctr"/>
                </a:tc>
                <a:tc>
                  <a:txBody>
                    <a:bodyPr/>
                    <a:lstStyle/>
                    <a:p>
                      <a:pPr algn="ctr">
                        <a:buNone/>
                      </a:pPr>
                      <a:r>
                        <a:rPr lang="pl-PL"/>
                        <a:t>0</a:t>
                      </a:r>
                    </a:p>
                  </a:txBody>
                  <a:tcPr anchor="ctr"/>
                </a:tc>
                <a:tc>
                  <a:txBody>
                    <a:bodyPr/>
                    <a:lstStyle/>
                    <a:p>
                      <a:pPr algn="ctr">
                        <a:buNone/>
                      </a:pPr>
                      <a:r>
                        <a:rPr lang="pl-PL"/>
                        <a:t>0</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27711685"/>
                  </a:ext>
                </a:extLst>
              </a:tr>
              <a:tr h="0">
                <a:tc>
                  <a:txBody>
                    <a:bodyPr/>
                    <a:lstStyle/>
                    <a:p>
                      <a:pPr>
                        <a:buNone/>
                      </a:pPr>
                      <a:r>
                        <a:rPr lang="pl-PL"/>
                        <a:t>green</a:t>
                      </a:r>
                    </a:p>
                  </a:txBody>
                  <a:tcPr anchor="ctr">
                    <a:lnL w="12700" cap="flat" cmpd="sng" algn="ctr">
                      <a:solidFill>
                        <a:schemeClr val="tx1"/>
                      </a:solidFill>
                      <a:prstDash val="solid"/>
                      <a:round/>
                      <a:headEnd type="none" w="med" len="med"/>
                      <a:tailEnd type="none" w="med" len="med"/>
                    </a:lnL>
                  </a:tcPr>
                </a:tc>
                <a:tc>
                  <a:txBody>
                    <a:bodyPr/>
                    <a:lstStyle/>
                    <a:p>
                      <a:pPr algn="ctr">
                        <a:buNone/>
                      </a:pPr>
                      <a:r>
                        <a:rPr lang="pl-PL"/>
                        <a:t>0</a:t>
                      </a:r>
                    </a:p>
                  </a:txBody>
                  <a:tcPr anchor="ctr"/>
                </a:tc>
                <a:tc>
                  <a:txBody>
                    <a:bodyPr/>
                    <a:lstStyle/>
                    <a:p>
                      <a:pPr algn="ctr">
                        <a:buNone/>
                      </a:pPr>
                      <a:r>
                        <a:rPr lang="pl-PL"/>
                        <a:t>1</a:t>
                      </a:r>
                    </a:p>
                  </a:txBody>
                  <a:tcPr anchor="ctr"/>
                </a:tc>
                <a:tc>
                  <a:txBody>
                    <a:bodyPr/>
                    <a:lstStyle/>
                    <a:p>
                      <a:pPr algn="ctr">
                        <a:buNone/>
                      </a:pPr>
                      <a:r>
                        <a:rPr lang="pl-PL"/>
                        <a:t>0</a:t>
                      </a:r>
                    </a:p>
                  </a:txBody>
                  <a:tcPr anchor="ctr"/>
                </a:tc>
                <a:tc>
                  <a:txBody>
                    <a:bodyPr/>
                    <a:lstStyle/>
                    <a:p>
                      <a:pPr algn="ctr">
                        <a:buNone/>
                      </a:pPr>
                      <a:r>
                        <a:rPr lang="pl-PL"/>
                        <a:t>0</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557960901"/>
                  </a:ext>
                </a:extLst>
              </a:tr>
              <a:tr h="0">
                <a:tc>
                  <a:txBody>
                    <a:bodyPr/>
                    <a:lstStyle/>
                    <a:p>
                      <a:pPr>
                        <a:buNone/>
                      </a:pPr>
                      <a:r>
                        <a:rPr lang="pl-PL"/>
                        <a:t>blue</a:t>
                      </a:r>
                    </a:p>
                  </a:txBody>
                  <a:tcPr anchor="ctr">
                    <a:lnL w="12700" cap="flat" cmpd="sng" algn="ctr">
                      <a:solidFill>
                        <a:schemeClr val="tx1"/>
                      </a:solidFill>
                      <a:prstDash val="solid"/>
                      <a:round/>
                      <a:headEnd type="none" w="med" len="med"/>
                      <a:tailEnd type="none" w="med" len="med"/>
                    </a:lnL>
                  </a:tcPr>
                </a:tc>
                <a:tc>
                  <a:txBody>
                    <a:bodyPr/>
                    <a:lstStyle/>
                    <a:p>
                      <a:pPr algn="ctr">
                        <a:buNone/>
                      </a:pPr>
                      <a:r>
                        <a:rPr lang="pl-PL"/>
                        <a:t>0</a:t>
                      </a:r>
                    </a:p>
                  </a:txBody>
                  <a:tcPr anchor="ctr"/>
                </a:tc>
                <a:tc>
                  <a:txBody>
                    <a:bodyPr/>
                    <a:lstStyle/>
                    <a:p>
                      <a:pPr algn="ctr">
                        <a:buNone/>
                      </a:pPr>
                      <a:r>
                        <a:rPr lang="pl-PL"/>
                        <a:t>0</a:t>
                      </a:r>
                    </a:p>
                  </a:txBody>
                  <a:tcPr anchor="ctr"/>
                </a:tc>
                <a:tc>
                  <a:txBody>
                    <a:bodyPr/>
                    <a:lstStyle/>
                    <a:p>
                      <a:pPr algn="ctr">
                        <a:buNone/>
                      </a:pPr>
                      <a:r>
                        <a:rPr lang="pl-PL"/>
                        <a:t>1</a:t>
                      </a:r>
                    </a:p>
                  </a:txBody>
                  <a:tcPr anchor="ctr"/>
                </a:tc>
                <a:tc>
                  <a:txBody>
                    <a:bodyPr/>
                    <a:lstStyle/>
                    <a:p>
                      <a:pPr algn="ctr">
                        <a:buNone/>
                      </a:pPr>
                      <a:r>
                        <a:rPr lang="pl-PL"/>
                        <a:t>0</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530313552"/>
                  </a:ext>
                </a:extLst>
              </a:tr>
              <a:tr h="0">
                <a:tc>
                  <a:txBody>
                    <a:bodyPr/>
                    <a:lstStyle/>
                    <a:p>
                      <a:pPr>
                        <a:buNone/>
                      </a:pPr>
                      <a:r>
                        <a:rPr lang="pl-PL"/>
                        <a:t>yellow</a:t>
                      </a:r>
                    </a:p>
                  </a:txBody>
                  <a:tcPr anchor="ctr">
                    <a:lnL w="12700" cap="flat" cmpd="sng" algn="ctr">
                      <a:solidFill>
                        <a:schemeClr val="tx1"/>
                      </a:solidFill>
                      <a:prstDash val="solid"/>
                      <a:round/>
                      <a:headEnd type="none" w="med" len="med"/>
                      <a:tailEnd type="none" w="med" len="med"/>
                    </a:lnL>
                  </a:tcPr>
                </a:tc>
                <a:tc>
                  <a:txBody>
                    <a:bodyPr/>
                    <a:lstStyle/>
                    <a:p>
                      <a:pPr algn="ctr">
                        <a:buNone/>
                      </a:pPr>
                      <a:r>
                        <a:rPr lang="pl-PL"/>
                        <a:t>0</a:t>
                      </a:r>
                    </a:p>
                  </a:txBody>
                  <a:tcPr anchor="ctr"/>
                </a:tc>
                <a:tc>
                  <a:txBody>
                    <a:bodyPr/>
                    <a:lstStyle/>
                    <a:p>
                      <a:pPr algn="ctr">
                        <a:buNone/>
                      </a:pPr>
                      <a:r>
                        <a:rPr lang="pl-PL"/>
                        <a:t>0</a:t>
                      </a:r>
                    </a:p>
                  </a:txBody>
                  <a:tcPr anchor="ctr"/>
                </a:tc>
                <a:tc>
                  <a:txBody>
                    <a:bodyPr/>
                    <a:lstStyle/>
                    <a:p>
                      <a:pPr algn="ctr">
                        <a:buNone/>
                      </a:pPr>
                      <a:r>
                        <a:rPr lang="pl-PL"/>
                        <a:t>0</a:t>
                      </a:r>
                    </a:p>
                  </a:txBody>
                  <a:tcPr anchor="ctr"/>
                </a:tc>
                <a:tc>
                  <a:txBody>
                    <a:bodyPr/>
                    <a:lstStyle/>
                    <a:p>
                      <a:pPr algn="ctr">
                        <a:buNone/>
                      </a:pPr>
                      <a:r>
                        <a:rPr lang="pl-PL"/>
                        <a:t>1</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491174590"/>
                  </a:ext>
                </a:extLst>
              </a:tr>
            </a:tbl>
          </a:graphicData>
        </a:graphic>
      </p:graphicFrame>
      <p:sp>
        <p:nvSpPr>
          <p:cNvPr id="9" name="Rectangle 8">
            <a:extLst>
              <a:ext uri="{FF2B5EF4-FFF2-40B4-BE49-F238E27FC236}">
                <a16:creationId xmlns:a16="http://schemas.microsoft.com/office/drawing/2014/main" id="{E10493D6-AD5D-641A-1B8E-7BB6039710A8}"/>
              </a:ext>
            </a:extLst>
          </p:cNvPr>
          <p:cNvSpPr/>
          <p:nvPr/>
        </p:nvSpPr>
        <p:spPr>
          <a:xfrm>
            <a:off x="0" y="5848290"/>
            <a:ext cx="12192000" cy="707886"/>
          </a:xfrm>
          <a:prstGeom prst="rect">
            <a:avLst/>
          </a:prstGeom>
        </p:spPr>
        <p:txBody>
          <a:bodyPr wrap="square">
            <a:spAutoFit/>
          </a:bodyPr>
          <a:lstStyle/>
          <a:p>
            <a:r>
              <a:rPr lang="en-US" sz="2000">
                <a:latin typeface="Arial Narrow" panose="020B0606020202030204" pitchFamily="34" charset="0"/>
              </a:rPr>
              <a:t>As a result, we have more columns, but we aren't introducing any relationships between data that don't actually exist</a:t>
            </a:r>
            <a:r>
              <a:rPr lang="pl-PL" sz="2000">
                <a:latin typeface="Arial Narrow" panose="020B0606020202030204" pitchFamily="34" charset="0"/>
              </a:rPr>
              <a:t>, so our data are correct and more precise.</a:t>
            </a:r>
            <a:endParaRPr lang="pl-PL" dirty="0">
              <a:latin typeface="Arial Narrow" panose="020B0606020202030204" pitchFamily="34" charset="0"/>
            </a:endParaRPr>
          </a:p>
        </p:txBody>
      </p:sp>
    </p:spTree>
    <p:extLst>
      <p:ext uri="{BB962C8B-B14F-4D97-AF65-F5344CB8AC3E}">
        <p14:creationId xmlns:p14="http://schemas.microsoft.com/office/powerpoint/2010/main" val="2460078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 calcmode="lin" valueType="num">
                                      <p:cBhvr additive="base">
                                        <p:cTn id="7"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anim calcmode="lin" valueType="num">
                                      <p:cBhvr additive="base">
                                        <p:cTn id="13"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anim calcmode="lin" valueType="num">
                                      <p:cBhvr additive="base">
                                        <p:cTn id="19"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7" end="7"/>
                                            </p:txEl>
                                          </p:spTgt>
                                        </p:tgtEl>
                                        <p:attrNameLst>
                                          <p:attrName>style.visibility</p:attrName>
                                        </p:attrNameLst>
                                      </p:cBhvr>
                                      <p:to>
                                        <p:strVal val="visible"/>
                                      </p:to>
                                    </p:set>
                                    <p:anim calcmode="lin" valueType="num">
                                      <p:cBhvr additive="base">
                                        <p:cTn id="25"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8" end="8"/>
                                            </p:txEl>
                                          </p:spTgt>
                                        </p:tgtEl>
                                        <p:attrNameLst>
                                          <p:attrName>style.visibility</p:attrName>
                                        </p:attrNameLst>
                                      </p:cBhvr>
                                      <p:to>
                                        <p:strVal val="visible"/>
                                      </p:to>
                                    </p:set>
                                    <p:anim calcmode="lin" valueType="num">
                                      <p:cBhvr additive="base">
                                        <p:cTn id="31"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
                                            <p:txEl>
                                              <p:pRg st="0" end="0"/>
                                            </p:txEl>
                                          </p:spTgt>
                                        </p:tgtEl>
                                        <p:attrNameLst>
                                          <p:attrName>style.visibility</p:attrName>
                                        </p:attrNameLst>
                                      </p:cBhvr>
                                      <p:to>
                                        <p:strVal val="visible"/>
                                      </p:to>
                                    </p:set>
                                    <p:anim calcmode="lin" valueType="num">
                                      <p:cBhvr additive="base">
                                        <p:cTn id="3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CFF790-2792-26FD-AF73-59C76B8329E1}"/>
              </a:ext>
            </a:extLst>
          </p:cNvPr>
          <p:cNvSpPr>
            <a:spLocks noGrp="1"/>
          </p:cNvSpPr>
          <p:nvPr>
            <p:ph type="sldNum" sz="quarter" idx="12"/>
          </p:nvPr>
        </p:nvSpPr>
        <p:spPr/>
        <p:txBody>
          <a:bodyPr/>
          <a:lstStyle/>
          <a:p>
            <a:fld id="{20D4B2D9-DB10-4EB9-B7A6-032A6D4E75AC}" type="slidenum">
              <a:rPr lang="pl-PL" smtClean="0"/>
              <a:pPr/>
              <a:t>67</a:t>
            </a:fld>
            <a:endParaRPr lang="pl-PL" dirty="0"/>
          </a:p>
        </p:txBody>
      </p:sp>
      <p:sp>
        <p:nvSpPr>
          <p:cNvPr id="4" name="Rectangle 2">
            <a:extLst>
              <a:ext uri="{FF2B5EF4-FFF2-40B4-BE49-F238E27FC236}">
                <a16:creationId xmlns:a16="http://schemas.microsoft.com/office/drawing/2014/main" id="{B84A01E2-0201-E25D-5CAA-A0082AAEA73D}"/>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pl-PL" sz="1600">
                <a:latin typeface="Arial" pitchFamily="34" charset="0"/>
                <a:ea typeface="+mj-lt"/>
                <a:cs typeface="Arial" pitchFamily="34" charset="0"/>
              </a:rPr>
              <a:t>Tensors</a:t>
            </a:r>
            <a:endParaRPr lang="en-GB" sz="4400" dirty="0">
              <a:latin typeface="Arial" pitchFamily="34" charset="0"/>
              <a:ea typeface="+mj-lt"/>
              <a:cs typeface="Arial" pitchFamily="34" charset="0"/>
            </a:endParaRPr>
          </a:p>
        </p:txBody>
      </p:sp>
      <p:sp>
        <p:nvSpPr>
          <p:cNvPr id="6" name="Rectangle 5">
            <a:extLst>
              <a:ext uri="{FF2B5EF4-FFF2-40B4-BE49-F238E27FC236}">
                <a16:creationId xmlns:a16="http://schemas.microsoft.com/office/drawing/2014/main" id="{D26AA3B5-63E2-F949-77DB-B6499CF48593}"/>
              </a:ext>
            </a:extLst>
          </p:cNvPr>
          <p:cNvSpPr/>
          <p:nvPr/>
        </p:nvSpPr>
        <p:spPr>
          <a:xfrm>
            <a:off x="0" y="304800"/>
            <a:ext cx="9144000" cy="2739211"/>
          </a:xfrm>
          <a:prstGeom prst="rect">
            <a:avLst/>
          </a:prstGeom>
        </p:spPr>
        <p:txBody>
          <a:bodyPr wrap="square">
            <a:spAutoFit/>
          </a:bodyPr>
          <a:lstStyle/>
          <a:p>
            <a:r>
              <a:rPr lang="pl-PL" sz="2800" b="1">
                <a:solidFill>
                  <a:srgbClr val="FF0000"/>
                </a:solidFill>
                <a:latin typeface="Arial Narrow" panose="020B0606020202030204" pitchFamily="34" charset="0"/>
                <a:cs typeface="Calibri" panose="020F0502020204030204" pitchFamily="34" charset="0"/>
              </a:rPr>
              <a:t>Tensor</a:t>
            </a:r>
            <a:r>
              <a:rPr lang="pl-PL" sz="2400">
                <a:latin typeface="Arial Narrow" panose="020B0606020202030204" pitchFamily="34" charset="0"/>
                <a:cs typeface="Calibri" panose="020F0502020204030204" pitchFamily="34" charset="0"/>
              </a:rPr>
              <a:t> – the basic data structure in ML systems.</a:t>
            </a:r>
          </a:p>
          <a:p>
            <a:endParaRPr lang="pl-PL" sz="2400">
              <a:latin typeface="Arial Narrow" panose="020B0606020202030204" pitchFamily="34" charset="0"/>
              <a:cs typeface="Calibri" panose="020F0502020204030204" pitchFamily="34" charset="0"/>
            </a:endParaRPr>
          </a:p>
          <a:p>
            <a:r>
              <a:rPr lang="pl-PL" sz="2400">
                <a:latin typeface="Arial Narrow" panose="020B0606020202030204" pitchFamily="34" charset="0"/>
                <a:cs typeface="Calibri" panose="020F0502020204030204" pitchFamily="34" charset="0"/>
              </a:rPr>
              <a:t>A tensor is a generalization of a matrix:</a:t>
            </a:r>
          </a:p>
          <a:p>
            <a:pPr marL="263525" indent="-263525">
              <a:buFont typeface="Arial" panose="020B0604020202020204" pitchFamily="34" charset="0"/>
              <a:buChar char="•"/>
            </a:pPr>
            <a:r>
              <a:rPr lang="pl-PL" sz="2400">
                <a:latin typeface="Arial Narrow" panose="020B0606020202030204" pitchFamily="34" charset="0"/>
                <a:cs typeface="Calibri" panose="020F0502020204030204" pitchFamily="34" charset="0"/>
              </a:rPr>
              <a:t>a zero-dimensional tensor is a scalar, e.g. 3.56.</a:t>
            </a:r>
          </a:p>
          <a:p>
            <a:pPr marL="263525" indent="-263525">
              <a:buFont typeface="Arial" panose="020B0604020202020204" pitchFamily="34" charset="0"/>
              <a:buChar char="•"/>
            </a:pPr>
            <a:r>
              <a:rPr lang="pl-PL" sz="2400">
                <a:latin typeface="Arial Narrow" panose="020B0606020202030204" pitchFamily="34" charset="0"/>
                <a:cs typeface="Calibri" panose="020F0502020204030204" pitchFamily="34" charset="0"/>
              </a:rPr>
              <a:t>a one-dimensional tensor is a vector, e.g. [3, 5, 6, 2, 56, 21].</a:t>
            </a:r>
          </a:p>
          <a:p>
            <a:pPr marL="263525" indent="-263525">
              <a:buFont typeface="Arial" panose="020B0604020202020204" pitchFamily="34" charset="0"/>
              <a:buChar char="•"/>
            </a:pPr>
            <a:r>
              <a:rPr lang="pl-PL" sz="2400">
                <a:latin typeface="Arial Narrow" panose="020B0606020202030204" pitchFamily="34" charset="0"/>
                <a:cs typeface="Calibri" panose="020F0502020204030204" pitchFamily="34" charset="0"/>
              </a:rPr>
              <a:t>a two-dimensional tensor is a matrix.</a:t>
            </a:r>
          </a:p>
          <a:p>
            <a:pPr marL="263525" indent="-263525">
              <a:buFont typeface="Arial" panose="020B0604020202020204" pitchFamily="34" charset="0"/>
              <a:buChar char="•"/>
            </a:pPr>
            <a:r>
              <a:rPr lang="pl-PL" sz="2400">
                <a:latin typeface="Arial Narrow" panose="020B0606020202030204" pitchFamily="34" charset="0"/>
                <a:cs typeface="Calibri" panose="020F0502020204030204" pitchFamily="34" charset="0"/>
              </a:rPr>
              <a:t>there are also multidimensional tensors.</a:t>
            </a:r>
            <a:endParaRPr lang="pl-PL" sz="2000" dirty="0">
              <a:latin typeface="Arial Narrow" panose="020B0606020202030204" pitchFamily="34" charset="0"/>
            </a:endParaRPr>
          </a:p>
        </p:txBody>
      </p:sp>
    </p:spTree>
    <p:extLst>
      <p:ext uri="{BB962C8B-B14F-4D97-AF65-F5344CB8AC3E}">
        <p14:creationId xmlns:p14="http://schemas.microsoft.com/office/powerpoint/2010/main" val="401155183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AEF4CE9-5579-7B1B-8DDA-7B4C52D7BBD5}"/>
              </a:ext>
            </a:extLst>
          </p:cNvPr>
          <p:cNvSpPr>
            <a:spLocks noGrp="1"/>
          </p:cNvSpPr>
          <p:nvPr>
            <p:ph type="sldNum" sz="quarter" idx="12"/>
          </p:nvPr>
        </p:nvSpPr>
        <p:spPr/>
        <p:txBody>
          <a:bodyPr/>
          <a:lstStyle/>
          <a:p>
            <a:fld id="{20D4B2D9-DB10-4EB9-B7A6-032A6D4E75AC}" type="slidenum">
              <a:rPr lang="pl-PL" smtClean="0"/>
              <a:pPr/>
              <a:t>68</a:t>
            </a:fld>
            <a:endParaRPr lang="pl-PL" dirty="0"/>
          </a:p>
        </p:txBody>
      </p:sp>
      <p:sp>
        <p:nvSpPr>
          <p:cNvPr id="4" name="Rectangle 2">
            <a:extLst>
              <a:ext uri="{FF2B5EF4-FFF2-40B4-BE49-F238E27FC236}">
                <a16:creationId xmlns:a16="http://schemas.microsoft.com/office/drawing/2014/main" id="{4A924753-3528-6E30-3364-07EF0395FD15}"/>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pl-PL" sz="1600">
                <a:latin typeface="Arial" pitchFamily="34" charset="0"/>
                <a:ea typeface="+mj-lt"/>
                <a:cs typeface="Arial" pitchFamily="34" charset="0"/>
              </a:rPr>
              <a:t>Tensors</a:t>
            </a:r>
            <a:endParaRPr lang="en-GB" sz="4400" dirty="0">
              <a:latin typeface="Arial" pitchFamily="34" charset="0"/>
              <a:ea typeface="+mj-lt"/>
              <a:cs typeface="Arial" pitchFamily="34" charset="0"/>
            </a:endParaRPr>
          </a:p>
        </p:txBody>
      </p:sp>
      <p:sp>
        <p:nvSpPr>
          <p:cNvPr id="6" name="TextBox 5">
            <a:extLst>
              <a:ext uri="{FF2B5EF4-FFF2-40B4-BE49-F238E27FC236}">
                <a16:creationId xmlns:a16="http://schemas.microsoft.com/office/drawing/2014/main" id="{69BCBA34-D383-C89B-E837-21226ED787DC}"/>
              </a:ext>
            </a:extLst>
          </p:cNvPr>
          <p:cNvSpPr txBox="1"/>
          <p:nvPr/>
        </p:nvSpPr>
        <p:spPr>
          <a:xfrm>
            <a:off x="0" y="330200"/>
            <a:ext cx="12192000" cy="6617196"/>
          </a:xfrm>
          <a:prstGeom prst="rect">
            <a:avLst/>
          </a:prstGeom>
          <a:noFill/>
        </p:spPr>
        <p:txBody>
          <a:bodyPr wrap="square">
            <a:spAutoFit/>
          </a:bodyPr>
          <a:lstStyle/>
          <a:p>
            <a:pPr>
              <a:buNone/>
            </a:pPr>
            <a:r>
              <a:rPr lang="pl-PL" sz="2200" b="1">
                <a:latin typeface="Arial Narrow" panose="020B0606020202030204" pitchFamily="34" charset="0"/>
              </a:rPr>
              <a:t>Tensor attributes</a:t>
            </a:r>
            <a:r>
              <a:rPr lang="pl-PL" sz="2200">
                <a:latin typeface="Arial Narrow" panose="020B0606020202030204" pitchFamily="34" charset="0"/>
              </a:rPr>
              <a:t>:</a:t>
            </a:r>
          </a:p>
          <a:p>
            <a:pPr>
              <a:buNone/>
            </a:pPr>
            <a:r>
              <a:rPr lang="pl-PL" sz="2200">
                <a:latin typeface="Arial Narrow" panose="020B0606020202030204" pitchFamily="34" charset="0"/>
              </a:rPr>
              <a:t>1. Number of axes (rank) – for example, a matrix has two axes, so it is a rank-2 tensor.</a:t>
            </a:r>
          </a:p>
          <a:p>
            <a:pPr>
              <a:buNone/>
            </a:pPr>
            <a:r>
              <a:rPr lang="pl-PL" sz="2200">
                <a:latin typeface="Arial Narrow" panose="020B0606020202030204" pitchFamily="34" charset="0"/>
              </a:rPr>
              <a:t>2. Shape – a tuple of integer values that defines the size of each axis of the tensor. </a:t>
            </a:r>
          </a:p>
          <a:p>
            <a:pPr marL="263525">
              <a:buNone/>
            </a:pPr>
            <a:r>
              <a:rPr lang="pl-PL" sz="2200">
                <a:latin typeface="Arial Narrow" panose="020B0606020202030204" pitchFamily="34" charset="0"/>
              </a:rPr>
              <a:t>For example:</a:t>
            </a:r>
          </a:p>
          <a:p>
            <a:pPr marL="538163" indent="-274638">
              <a:buFont typeface="Arial" panose="020B0604020202020204" pitchFamily="34" charset="0"/>
              <a:buChar char="•"/>
            </a:pPr>
            <a:r>
              <a:rPr lang="pl-PL" sz="2200">
                <a:latin typeface="Arial Narrow" panose="020B0606020202030204" pitchFamily="34" charset="0"/>
              </a:rPr>
              <a:t>a scalar, or zero-dimensional tensor, is described by an empty shape tuple: ()</a:t>
            </a:r>
          </a:p>
          <a:p>
            <a:pPr marL="538163" indent="-274638">
              <a:buFont typeface="Arial" panose="020B0604020202020204" pitchFamily="34" charset="0"/>
              <a:buChar char="•"/>
            </a:pPr>
            <a:r>
              <a:rPr lang="pl-PL" sz="2200">
                <a:latin typeface="Arial Narrow" panose="020B0606020202030204" pitchFamily="34" charset="0"/>
              </a:rPr>
              <a:t>a vector, or rank-one tensor, has shape (m,). </a:t>
            </a:r>
            <a:br>
              <a:rPr lang="pl-PL" sz="2200">
                <a:latin typeface="Arial Narrow" panose="020B0606020202030204" pitchFamily="34" charset="0"/>
              </a:rPr>
            </a:br>
            <a:r>
              <a:rPr lang="pl-PL" sz="2200">
                <a:latin typeface="Arial Narrow" panose="020B0606020202030204" pitchFamily="34" charset="0"/>
              </a:rPr>
              <a:t>For example, the vector [3, 5, 6, 2, 56, 21] has shape (6,).</a:t>
            </a:r>
          </a:p>
          <a:p>
            <a:pPr marL="538163" indent="-274638">
              <a:buFont typeface="Arial" panose="020B0604020202020204" pitchFamily="34" charset="0"/>
              <a:buChar char="•"/>
            </a:pPr>
            <a:r>
              <a:rPr lang="pl-PL" sz="2200">
                <a:latin typeface="Arial Narrow" panose="020B0606020202030204" pitchFamily="34" charset="0"/>
              </a:rPr>
              <a:t>a matrix has shape (n, m).</a:t>
            </a:r>
          </a:p>
          <a:p>
            <a:pPr marL="263525" indent="-263525">
              <a:buNone/>
            </a:pPr>
            <a:r>
              <a:rPr lang="pl-PL" sz="2200">
                <a:latin typeface="Arial Narrow" panose="020B0606020202030204" pitchFamily="34" charset="0"/>
              </a:rPr>
              <a:t>3. Data type:</a:t>
            </a:r>
          </a:p>
          <a:p>
            <a:pPr marL="538163" indent="-274638">
              <a:buFont typeface="Arial" panose="020B0604020202020204" pitchFamily="34" charset="0"/>
              <a:buChar char="•"/>
            </a:pPr>
            <a:r>
              <a:rPr lang="pl-PL" sz="2200">
                <a:latin typeface="Arial Narrow" panose="020B0606020202030204" pitchFamily="34" charset="0"/>
              </a:rPr>
              <a:t>real-number type, such as float, or in NumPy, float32 or float64</a:t>
            </a:r>
          </a:p>
          <a:p>
            <a:pPr marL="538163" indent="-274638">
              <a:buFont typeface="Arial" panose="020B0604020202020204" pitchFamily="34" charset="0"/>
              <a:buChar char="•"/>
            </a:pPr>
            <a:r>
              <a:rPr lang="pl-PL" sz="2200">
                <a:latin typeface="Arial Narrow" panose="020B0606020202030204" pitchFamily="34" charset="0"/>
              </a:rPr>
              <a:t>integer type, such as int, int8, int32, or int64</a:t>
            </a:r>
          </a:p>
          <a:p>
            <a:pPr marL="538163" indent="-274638">
              <a:buFont typeface="Arial" panose="020B0604020202020204" pitchFamily="34" charset="0"/>
              <a:buChar char="•"/>
            </a:pPr>
            <a:r>
              <a:rPr lang="pl-PL" sz="2200">
                <a:latin typeface="Arial Narrow" panose="020B0606020202030204" pitchFamily="34" charset="0"/>
              </a:rPr>
              <a:t>text type, such as string</a:t>
            </a:r>
            <a:endParaRPr lang="pl-PL" sz="2400">
              <a:latin typeface="Arial Narrow" panose="020B0606020202030204" pitchFamily="34" charset="0"/>
            </a:endParaRPr>
          </a:p>
          <a:p>
            <a:endParaRPr lang="pl-PL" sz="2000" b="1">
              <a:solidFill>
                <a:srgbClr val="000000"/>
              </a:solidFill>
              <a:latin typeface="Arial Narrow" panose="020B0606020202030204" pitchFamily="34" charset="0"/>
              <a:cs typeface="Calibri" panose="020F0502020204030204" pitchFamily="34" charset="0"/>
            </a:endParaRPr>
          </a:p>
          <a:p>
            <a:pPr lvl="4"/>
            <a:r>
              <a:rPr lang="pl-PL" sz="2000" b="1">
                <a:solidFill>
                  <a:srgbClr val="000000"/>
                </a:solidFill>
                <a:latin typeface="Arial Narrow" panose="020B0606020202030204" pitchFamily="34" charset="0"/>
                <a:cs typeface="Calibri" panose="020F0502020204030204" pitchFamily="34" charset="0"/>
              </a:rPr>
              <a:t>Example:</a:t>
            </a:r>
            <a:endParaRPr lang="pl-PL" sz="2000">
              <a:latin typeface="Arial Narrow" panose="020B0606020202030204" pitchFamily="34" charset="0"/>
            </a:endParaRPr>
          </a:p>
          <a:p>
            <a:pPr lvl="4">
              <a:tabLst>
                <a:tab pos="622300" algn="l"/>
                <a:tab pos="1166813" algn="l"/>
              </a:tabLst>
            </a:pPr>
            <a:r>
              <a:rPr lang="pl-PL" sz="2000">
                <a:latin typeface="Arial Narrow" panose="020B0606020202030204" pitchFamily="34" charset="0"/>
              </a:rPr>
              <a:t> 	2.3	4.2	3.3</a:t>
            </a:r>
          </a:p>
          <a:p>
            <a:pPr lvl="4">
              <a:tabLst>
                <a:tab pos="622300" algn="l"/>
                <a:tab pos="1166813" algn="l"/>
              </a:tabLst>
            </a:pPr>
            <a:r>
              <a:rPr lang="pl-PL" sz="2000">
                <a:latin typeface="Arial Narrow" panose="020B0606020202030204" pitchFamily="34" charset="0"/>
              </a:rPr>
              <a:t> 	4.1	4.6	0.2</a:t>
            </a:r>
          </a:p>
          <a:p>
            <a:pPr lvl="4"/>
            <a:r>
              <a:rPr lang="pl-PL" sz="2000">
                <a:latin typeface="Arial Narrow" panose="020B0606020202030204" pitchFamily="34" charset="0"/>
              </a:rPr>
              <a:t>Is a tensor: </a:t>
            </a:r>
          </a:p>
          <a:p>
            <a:pPr lvl="4"/>
            <a:r>
              <a:rPr lang="pl-PL" sz="2000">
                <a:latin typeface="Arial Narrow" panose="020B0606020202030204" pitchFamily="34" charset="0"/>
              </a:rPr>
              <a:t>rank? </a:t>
            </a:r>
          </a:p>
          <a:p>
            <a:pPr lvl="4"/>
            <a:r>
              <a:rPr lang="pl-PL" sz="2000">
                <a:latin typeface="Arial Narrow" panose="020B0606020202030204" pitchFamily="34" charset="0"/>
              </a:rPr>
              <a:t>shape?</a:t>
            </a:r>
          </a:p>
          <a:p>
            <a:pPr lvl="4"/>
            <a:r>
              <a:rPr lang="pl-PL" sz="2000">
                <a:latin typeface="Arial Narrow" panose="020B0606020202030204" pitchFamily="34" charset="0"/>
              </a:rPr>
              <a:t>data type?</a:t>
            </a:r>
            <a:endParaRPr lang="pl-PL" sz="2400">
              <a:latin typeface="Arial Narrow" panose="020B0606020202030204" pitchFamily="34" charset="0"/>
            </a:endParaRPr>
          </a:p>
        </p:txBody>
      </p:sp>
      <p:sp>
        <p:nvSpPr>
          <p:cNvPr id="7" name="Prostokąt 1">
            <a:extLst>
              <a:ext uri="{FF2B5EF4-FFF2-40B4-BE49-F238E27FC236}">
                <a16:creationId xmlns:a16="http://schemas.microsoft.com/office/drawing/2014/main" id="{61CA10BA-21A1-2542-CE13-3CE3B5E34388}"/>
              </a:ext>
            </a:extLst>
          </p:cNvPr>
          <p:cNvSpPr/>
          <p:nvPr/>
        </p:nvSpPr>
        <p:spPr>
          <a:xfrm>
            <a:off x="3048000" y="5867754"/>
            <a:ext cx="762000" cy="1117229"/>
          </a:xfrm>
          <a:prstGeom prst="rect">
            <a:avLst/>
          </a:prstGeom>
        </p:spPr>
        <p:txBody>
          <a:bodyPr wrap="square">
            <a:spAutoFit/>
          </a:bodyPr>
          <a:lstStyle/>
          <a:p>
            <a:r>
              <a:rPr lang="pl-PL" sz="2000" dirty="0">
                <a:latin typeface="Arial Narrow" panose="020B0606020202030204" pitchFamily="34" charset="0"/>
              </a:rPr>
              <a:t>2 </a:t>
            </a:r>
          </a:p>
          <a:p>
            <a:r>
              <a:rPr lang="pl-PL" sz="2000" dirty="0">
                <a:latin typeface="Arial Narrow" panose="020B0606020202030204" pitchFamily="34" charset="0"/>
              </a:rPr>
              <a:t>(2,3) </a:t>
            </a:r>
          </a:p>
          <a:p>
            <a:r>
              <a:rPr lang="pl-PL" sz="2000" dirty="0">
                <a:latin typeface="Arial Narrow" panose="020B0606020202030204" pitchFamily="34" charset="0"/>
              </a:rPr>
              <a:t>float</a:t>
            </a:r>
          </a:p>
        </p:txBody>
      </p:sp>
    </p:spTree>
    <p:extLst>
      <p:ext uri="{BB962C8B-B14F-4D97-AF65-F5344CB8AC3E}">
        <p14:creationId xmlns:p14="http://schemas.microsoft.com/office/powerpoint/2010/main" val="1318884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E231A3F-CF78-93F7-9276-E6BA643F0677}"/>
              </a:ext>
            </a:extLst>
          </p:cNvPr>
          <p:cNvSpPr>
            <a:spLocks noGrp="1"/>
          </p:cNvSpPr>
          <p:nvPr>
            <p:ph type="sldNum" sz="quarter" idx="12"/>
          </p:nvPr>
        </p:nvSpPr>
        <p:spPr/>
        <p:txBody>
          <a:bodyPr/>
          <a:lstStyle/>
          <a:p>
            <a:fld id="{20D4B2D9-DB10-4EB9-B7A6-032A6D4E75AC}" type="slidenum">
              <a:rPr lang="pl-PL" smtClean="0"/>
              <a:pPr/>
              <a:t>69</a:t>
            </a:fld>
            <a:endParaRPr lang="pl-PL" dirty="0"/>
          </a:p>
        </p:txBody>
      </p:sp>
      <p:sp>
        <p:nvSpPr>
          <p:cNvPr id="4" name="Rectangle 2">
            <a:extLst>
              <a:ext uri="{FF2B5EF4-FFF2-40B4-BE49-F238E27FC236}">
                <a16:creationId xmlns:a16="http://schemas.microsoft.com/office/drawing/2014/main" id="{707FE435-7A32-65E8-3AA2-B19F86BDAEAE}"/>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pl-PL" sz="1600">
                <a:latin typeface="Arial" pitchFamily="34" charset="0"/>
                <a:ea typeface="+mj-lt"/>
                <a:cs typeface="Arial" pitchFamily="34" charset="0"/>
              </a:rPr>
              <a:t>Tensors</a:t>
            </a:r>
            <a:endParaRPr lang="en-GB" sz="4400" dirty="0">
              <a:latin typeface="Arial" pitchFamily="34" charset="0"/>
              <a:ea typeface="+mj-lt"/>
              <a:cs typeface="Arial" pitchFamily="34" charset="0"/>
            </a:endParaRPr>
          </a:p>
        </p:txBody>
      </p:sp>
      <p:sp>
        <p:nvSpPr>
          <p:cNvPr id="5" name="Rectangle 5">
            <a:extLst>
              <a:ext uri="{FF2B5EF4-FFF2-40B4-BE49-F238E27FC236}">
                <a16:creationId xmlns:a16="http://schemas.microsoft.com/office/drawing/2014/main" id="{E6FD38DC-303E-F94F-82DF-F928A7D929F4}"/>
              </a:ext>
            </a:extLst>
          </p:cNvPr>
          <p:cNvSpPr/>
          <p:nvPr/>
        </p:nvSpPr>
        <p:spPr>
          <a:xfrm>
            <a:off x="0" y="304800"/>
            <a:ext cx="12192000" cy="6370975"/>
          </a:xfrm>
          <a:prstGeom prst="rect">
            <a:avLst/>
          </a:prstGeom>
        </p:spPr>
        <p:txBody>
          <a:bodyPr wrap="square">
            <a:spAutoFit/>
          </a:bodyPr>
          <a:lstStyle/>
          <a:p>
            <a:r>
              <a:rPr lang="en-US" sz="2400" b="1">
                <a:solidFill>
                  <a:srgbClr val="000000"/>
                </a:solidFill>
                <a:latin typeface="Arial Narrow" panose="020B0606020202030204" pitchFamily="34" charset="0"/>
                <a:cs typeface="Calibri" panose="020F0502020204030204" pitchFamily="34" charset="0"/>
              </a:rPr>
              <a:t>Examples of tensors</a:t>
            </a:r>
            <a:endParaRPr lang="pl-PL" sz="2400">
              <a:solidFill>
                <a:srgbClr val="000000"/>
              </a:solidFill>
              <a:latin typeface="Arial Narrow" panose="020B0606020202030204" pitchFamily="34" charset="0"/>
              <a:cs typeface="Calibri" panose="020F0502020204030204" pitchFamily="34" charset="0"/>
            </a:endParaRPr>
          </a:p>
          <a:p>
            <a:endParaRPr lang="pl-PL" sz="2400" b="1">
              <a:solidFill>
                <a:srgbClr val="000000"/>
              </a:solidFill>
              <a:latin typeface="Arial Narrow" panose="020B0606020202030204" pitchFamily="34" charset="0"/>
              <a:cs typeface="Calibri" panose="020F0502020204030204" pitchFamily="34" charset="0"/>
            </a:endParaRPr>
          </a:p>
          <a:p>
            <a:r>
              <a:rPr lang="en-US" sz="2400" b="1">
                <a:solidFill>
                  <a:srgbClr val="000000"/>
                </a:solidFill>
                <a:latin typeface="Arial Narrow" panose="020B0606020202030204" pitchFamily="34" charset="0"/>
                <a:cs typeface="Calibri" panose="020F0502020204030204" pitchFamily="34" charset="0"/>
              </a:rPr>
              <a:t>Two-dimensional tensors</a:t>
            </a:r>
            <a:r>
              <a:rPr lang="en-US" sz="2400">
                <a:solidFill>
                  <a:srgbClr val="000000"/>
                </a:solidFill>
                <a:latin typeface="Arial Narrow" panose="020B0606020202030204" pitchFamily="34" charset="0"/>
                <a:cs typeface="Calibri" panose="020F0502020204030204" pitchFamily="34" charset="0"/>
              </a:rPr>
              <a:t> (samples, features) – the most commonly used.</a:t>
            </a:r>
            <a:endParaRPr lang="pl-PL" sz="2400">
              <a:solidFill>
                <a:srgbClr val="000000"/>
              </a:solidFill>
              <a:latin typeface="Arial Narrow" panose="020B0606020202030204" pitchFamily="34" charset="0"/>
              <a:cs typeface="Calibri" panose="020F0502020204030204" pitchFamily="34" charset="0"/>
            </a:endParaRPr>
          </a:p>
          <a:p>
            <a:r>
              <a:rPr lang="en-US" sz="2400">
                <a:solidFill>
                  <a:srgbClr val="000000"/>
                </a:solidFill>
                <a:latin typeface="Arial Narrow" panose="020B0606020202030204" pitchFamily="34" charset="0"/>
                <a:cs typeface="Calibri" panose="020F0502020204030204" pitchFamily="34" charset="0"/>
              </a:rPr>
              <a:t>Example:</a:t>
            </a:r>
            <a:endParaRPr lang="pl-PL" sz="2400">
              <a:solidFill>
                <a:srgbClr val="000000"/>
              </a:solidFill>
              <a:latin typeface="Arial Narrow" panose="020B0606020202030204" pitchFamily="34" charset="0"/>
              <a:cs typeface="Calibri" panose="020F0502020204030204" pitchFamily="34" charset="0"/>
            </a:endParaRPr>
          </a:p>
          <a:p>
            <a:r>
              <a:rPr lang="en-US" sz="2400">
                <a:solidFill>
                  <a:srgbClr val="000000"/>
                </a:solidFill>
                <a:latin typeface="Arial Narrow" panose="020B0606020202030204" pitchFamily="34" charset="0"/>
                <a:cs typeface="Calibri" panose="020F0502020204030204" pitchFamily="34" charset="0"/>
              </a:rPr>
              <a:t>A dataset containing 100,000 people (samples), each described by three attributes: age, height, and weight, will be stored as a tensor with shape</a:t>
            </a:r>
            <a:r>
              <a:rPr lang="pl-PL" sz="2400">
                <a:solidFill>
                  <a:srgbClr val="000000"/>
                </a:solidFill>
                <a:latin typeface="Arial Narrow" panose="020B0606020202030204" pitchFamily="34" charset="0"/>
                <a:cs typeface="Calibri" panose="020F0502020204030204" pitchFamily="34" charset="0"/>
              </a:rPr>
              <a:t>?</a:t>
            </a:r>
          </a:p>
          <a:p>
            <a:r>
              <a:rPr lang="en-US" sz="2400">
                <a:solidFill>
                  <a:srgbClr val="000000"/>
                </a:solidFill>
                <a:latin typeface="Arial Narrow" panose="020B0606020202030204" pitchFamily="34" charset="0"/>
                <a:cs typeface="Calibri" panose="020F0502020204030204" pitchFamily="34" charset="0"/>
              </a:rPr>
              <a:t>(100000, 3)</a:t>
            </a:r>
            <a:endParaRPr lang="pl-PL" sz="2400">
              <a:solidFill>
                <a:srgbClr val="000000"/>
              </a:solidFill>
              <a:latin typeface="Arial Narrow" panose="020B0606020202030204" pitchFamily="34" charset="0"/>
              <a:cs typeface="Calibri" panose="020F0502020204030204" pitchFamily="34" charset="0"/>
            </a:endParaRPr>
          </a:p>
          <a:p>
            <a:r>
              <a:rPr lang="en-US" sz="2400">
                <a:solidFill>
                  <a:srgbClr val="000000"/>
                </a:solidFill>
                <a:latin typeface="Arial Narrow" panose="020B0606020202030204" pitchFamily="34" charset="0"/>
                <a:cs typeface="Calibri" panose="020F0502020204030204" pitchFamily="34" charset="0"/>
              </a:rPr>
              <a:t>The number of axes, or rank, of this tensor is</a:t>
            </a:r>
            <a:r>
              <a:rPr lang="pl-PL" sz="2400">
                <a:solidFill>
                  <a:srgbClr val="000000"/>
                </a:solidFill>
                <a:latin typeface="Arial Narrow" panose="020B0606020202030204" pitchFamily="34" charset="0"/>
                <a:cs typeface="Calibri" panose="020F0502020204030204" pitchFamily="34" charset="0"/>
              </a:rPr>
              <a:t>?</a:t>
            </a:r>
          </a:p>
          <a:p>
            <a:r>
              <a:rPr lang="pl-PL" sz="2400">
                <a:solidFill>
                  <a:srgbClr val="000000"/>
                </a:solidFill>
                <a:latin typeface="Arial Narrow" panose="020B0606020202030204" pitchFamily="34" charset="0"/>
                <a:cs typeface="Calibri" panose="020F0502020204030204" pitchFamily="34" charset="0"/>
              </a:rPr>
              <a:t>2</a:t>
            </a:r>
          </a:p>
          <a:p>
            <a:endParaRPr lang="pl-PL" sz="2400">
              <a:solidFill>
                <a:srgbClr val="000000"/>
              </a:solidFill>
              <a:latin typeface="Arial Narrow" panose="020B0606020202030204" pitchFamily="34" charset="0"/>
              <a:cs typeface="Calibri" panose="020F0502020204030204" pitchFamily="34" charset="0"/>
            </a:endParaRPr>
          </a:p>
          <a:p>
            <a:r>
              <a:rPr lang="en-US" sz="2400" b="1">
                <a:solidFill>
                  <a:srgbClr val="000000"/>
                </a:solidFill>
                <a:latin typeface="Arial Narrow" panose="020B0606020202030204" pitchFamily="34" charset="0"/>
                <a:cs typeface="Calibri" panose="020F0502020204030204" pitchFamily="34" charset="0"/>
              </a:rPr>
              <a:t>Three-dimensional tensors</a:t>
            </a:r>
            <a:r>
              <a:rPr lang="en-US" sz="2400">
                <a:solidFill>
                  <a:srgbClr val="000000"/>
                </a:solidFill>
                <a:latin typeface="Arial Narrow" panose="020B0606020202030204" pitchFamily="34" charset="0"/>
                <a:cs typeface="Calibri" panose="020F0502020204030204" pitchFamily="34" charset="0"/>
              </a:rPr>
              <a:t> (samples, features, time) – used for time-series analysis.</a:t>
            </a:r>
            <a:endParaRPr lang="pl-PL" sz="2400">
              <a:solidFill>
                <a:srgbClr val="000000"/>
              </a:solidFill>
              <a:latin typeface="Arial Narrow" panose="020B0606020202030204" pitchFamily="34" charset="0"/>
              <a:cs typeface="Calibri" panose="020F0502020204030204" pitchFamily="34" charset="0"/>
            </a:endParaRPr>
          </a:p>
          <a:p>
            <a:r>
              <a:rPr lang="en-US" sz="2400">
                <a:solidFill>
                  <a:srgbClr val="000000"/>
                </a:solidFill>
                <a:latin typeface="Arial Narrow" panose="020B0606020202030204" pitchFamily="34" charset="0"/>
                <a:cs typeface="Calibri" panose="020F0502020204030204" pitchFamily="34" charset="0"/>
              </a:rPr>
              <a:t>Example:</a:t>
            </a:r>
            <a:endParaRPr lang="pl-PL" sz="2400">
              <a:solidFill>
                <a:srgbClr val="000000"/>
              </a:solidFill>
              <a:latin typeface="Arial Narrow" panose="020B0606020202030204" pitchFamily="34" charset="0"/>
              <a:cs typeface="Calibri" panose="020F0502020204030204" pitchFamily="34" charset="0"/>
            </a:endParaRPr>
          </a:p>
          <a:p>
            <a:r>
              <a:rPr lang="en-US" sz="2400">
                <a:solidFill>
                  <a:srgbClr val="000000"/>
                </a:solidFill>
                <a:latin typeface="Arial Narrow" panose="020B0606020202030204" pitchFamily="34" charset="0"/>
                <a:cs typeface="Calibri" panose="020F0502020204030204" pitchFamily="34" charset="0"/>
              </a:rPr>
              <a:t>Every minute, the minimum and maximum stock price is recorded as a vector: time, minimum price, maximum price.</a:t>
            </a:r>
            <a:r>
              <a:rPr lang="pl-PL" sz="2400">
                <a:solidFill>
                  <a:srgbClr val="000000"/>
                </a:solidFill>
                <a:latin typeface="Arial Narrow" panose="020B0606020202030204" pitchFamily="34" charset="0"/>
                <a:cs typeface="Calibri" panose="020F0502020204030204" pitchFamily="34" charset="0"/>
              </a:rPr>
              <a:t> </a:t>
            </a:r>
            <a:r>
              <a:rPr lang="en-US" sz="2400">
                <a:solidFill>
                  <a:srgbClr val="000000"/>
                </a:solidFill>
                <a:latin typeface="Arial Narrow" panose="020B0606020202030204" pitchFamily="34" charset="0"/>
                <a:cs typeface="Calibri" panose="020F0502020204030204" pitchFamily="34" charset="0"/>
              </a:rPr>
              <a:t>Data from one whole day </a:t>
            </a:r>
            <a:r>
              <a:rPr lang="pl-PL" sz="2400">
                <a:solidFill>
                  <a:srgbClr val="000000"/>
                </a:solidFill>
                <a:latin typeface="Arial Narrow" panose="020B0606020202030204" pitchFamily="34" charset="0"/>
                <a:cs typeface="Calibri" panose="020F0502020204030204" pitchFamily="34" charset="0"/>
              </a:rPr>
              <a:t>(</a:t>
            </a:r>
            <a:r>
              <a:rPr lang="en-US" sz="2400">
                <a:solidFill>
                  <a:srgbClr val="000000"/>
                </a:solidFill>
                <a:latin typeface="Arial Narrow" panose="020B0606020202030204" pitchFamily="34" charset="0"/>
                <a:cs typeface="Calibri" panose="020F0502020204030204" pitchFamily="34" charset="0"/>
              </a:rPr>
              <a:t>480 minutes</a:t>
            </a:r>
            <a:r>
              <a:rPr lang="pl-PL" sz="2400">
                <a:solidFill>
                  <a:srgbClr val="000000"/>
                </a:solidFill>
                <a:latin typeface="Arial Narrow" panose="020B0606020202030204" pitchFamily="34" charset="0"/>
                <a:cs typeface="Calibri" panose="020F0502020204030204" pitchFamily="34" charset="0"/>
              </a:rPr>
              <a:t>)</a:t>
            </a:r>
            <a:r>
              <a:rPr lang="en-US" sz="2400">
                <a:solidFill>
                  <a:srgbClr val="000000"/>
                </a:solidFill>
                <a:latin typeface="Arial Narrow" panose="020B0606020202030204" pitchFamily="34" charset="0"/>
                <a:cs typeface="Calibri" panose="020F0502020204030204" pitchFamily="34" charset="0"/>
              </a:rPr>
              <a:t> will be stored as a two-dimensional tensor with shape:</a:t>
            </a:r>
            <a:r>
              <a:rPr lang="pl-PL" sz="2400">
                <a:solidFill>
                  <a:srgbClr val="000000"/>
                </a:solidFill>
                <a:latin typeface="Arial Narrow" panose="020B0606020202030204" pitchFamily="34" charset="0"/>
                <a:cs typeface="Calibri" panose="020F0502020204030204" pitchFamily="34" charset="0"/>
              </a:rPr>
              <a:t> </a:t>
            </a:r>
            <a:r>
              <a:rPr lang="en-US" sz="2400">
                <a:solidFill>
                  <a:srgbClr val="000000"/>
                </a:solidFill>
                <a:latin typeface="Arial Narrow" panose="020B0606020202030204" pitchFamily="34" charset="0"/>
                <a:cs typeface="Calibri" panose="020F0502020204030204" pitchFamily="34" charset="0"/>
              </a:rPr>
              <a:t>(480, 3).</a:t>
            </a:r>
            <a:r>
              <a:rPr lang="pl-PL" sz="2400">
                <a:solidFill>
                  <a:srgbClr val="000000"/>
                </a:solidFill>
                <a:latin typeface="Arial Narrow" panose="020B0606020202030204" pitchFamily="34" charset="0"/>
                <a:cs typeface="Calibri" panose="020F0502020204030204" pitchFamily="34" charset="0"/>
              </a:rPr>
              <a:t> </a:t>
            </a:r>
            <a:r>
              <a:rPr lang="en-US" sz="2400">
                <a:solidFill>
                  <a:srgbClr val="000000"/>
                </a:solidFill>
                <a:latin typeface="Arial Narrow" panose="020B0606020202030204" pitchFamily="34" charset="0"/>
                <a:cs typeface="Calibri" panose="020F0502020204030204" pitchFamily="34" charset="0"/>
              </a:rPr>
              <a:t>Data from one whole year, assuming that there are 250 trading days in the year, will be stored as a tensor with shape</a:t>
            </a:r>
            <a:r>
              <a:rPr lang="pl-PL" sz="2400">
                <a:solidFill>
                  <a:srgbClr val="000000"/>
                </a:solidFill>
                <a:latin typeface="Arial Narrow" panose="020B0606020202030204" pitchFamily="34" charset="0"/>
                <a:cs typeface="Calibri" panose="020F0502020204030204" pitchFamily="34" charset="0"/>
              </a:rPr>
              <a:t>?</a:t>
            </a:r>
          </a:p>
          <a:p>
            <a:r>
              <a:rPr lang="en-US" sz="2400">
                <a:solidFill>
                  <a:srgbClr val="000000"/>
                </a:solidFill>
                <a:latin typeface="Arial Narrow" panose="020B0606020202030204" pitchFamily="34" charset="0"/>
                <a:cs typeface="Calibri" panose="020F0502020204030204" pitchFamily="34" charset="0"/>
              </a:rPr>
              <a:t>(250, 480, 3)</a:t>
            </a:r>
            <a:endParaRPr lang="pl-PL" sz="2400" dirty="0">
              <a:solidFill>
                <a:srgbClr val="000000"/>
              </a:solidFill>
              <a:latin typeface="Arial Narrow" panose="020B0606020202030204" pitchFamily="34" charset="0"/>
              <a:cs typeface="Calibri" panose="020F0502020204030204" pitchFamily="34" charset="0"/>
            </a:endParaRPr>
          </a:p>
        </p:txBody>
      </p:sp>
    </p:spTree>
    <p:extLst>
      <p:ext uri="{BB962C8B-B14F-4D97-AF65-F5344CB8AC3E}">
        <p14:creationId xmlns:p14="http://schemas.microsoft.com/office/powerpoint/2010/main" val="1365986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5" end="5"/>
                                            </p:txEl>
                                          </p:spTgt>
                                        </p:tgtEl>
                                        <p:attrNameLst>
                                          <p:attrName>style.visibility</p:attrName>
                                        </p:attrNameLst>
                                      </p:cBhvr>
                                      <p:to>
                                        <p:strVal val="visible"/>
                                      </p:to>
                                    </p:set>
                                    <p:anim calcmode="lin" valueType="num">
                                      <p:cBhvr additive="base">
                                        <p:cTn id="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7" end="7"/>
                                            </p:txEl>
                                          </p:spTgt>
                                        </p:tgtEl>
                                        <p:attrNameLst>
                                          <p:attrName>style.visibility</p:attrName>
                                        </p:attrNameLst>
                                      </p:cBhvr>
                                      <p:to>
                                        <p:strVal val="visible"/>
                                      </p:to>
                                    </p:set>
                                    <p:anim calcmode="lin" valueType="num">
                                      <p:cBhvr additive="base">
                                        <p:cTn id="13"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9" end="9"/>
                                            </p:txEl>
                                          </p:spTgt>
                                        </p:tgtEl>
                                        <p:attrNameLst>
                                          <p:attrName>style.visibility</p:attrName>
                                        </p:attrNameLst>
                                      </p:cBhvr>
                                      <p:to>
                                        <p:strVal val="visible"/>
                                      </p:to>
                                    </p:set>
                                    <p:anim calcmode="lin" valueType="num">
                                      <p:cBhvr additive="base">
                                        <p:cTn id="19"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
                                            <p:txEl>
                                              <p:pRg st="10" end="10"/>
                                            </p:txEl>
                                          </p:spTgt>
                                        </p:tgtEl>
                                        <p:attrNameLst>
                                          <p:attrName>style.visibility</p:attrName>
                                        </p:attrNameLst>
                                      </p:cBhvr>
                                      <p:to>
                                        <p:strVal val="visible"/>
                                      </p:to>
                                    </p:set>
                                    <p:anim calcmode="lin" valueType="num">
                                      <p:cBhvr additive="base">
                                        <p:cTn id="23"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10" end="10"/>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5">
                                            <p:txEl>
                                              <p:pRg st="11" end="11"/>
                                            </p:txEl>
                                          </p:spTgt>
                                        </p:tgtEl>
                                        <p:attrNameLst>
                                          <p:attrName>style.visibility</p:attrName>
                                        </p:attrNameLst>
                                      </p:cBhvr>
                                      <p:to>
                                        <p:strVal val="visible"/>
                                      </p:to>
                                    </p:set>
                                    <p:anim calcmode="lin" valueType="num">
                                      <p:cBhvr additive="base">
                                        <p:cTn id="27" dur="500" fill="hold"/>
                                        <p:tgtEl>
                                          <p:spTgt spid="5">
                                            <p:txEl>
                                              <p:pRg st="11" end="1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5">
                                            <p:txEl>
                                              <p:pRg st="12" end="12"/>
                                            </p:txEl>
                                          </p:spTgt>
                                        </p:tgtEl>
                                        <p:attrNameLst>
                                          <p:attrName>style.visibility</p:attrName>
                                        </p:attrNameLst>
                                      </p:cBhvr>
                                      <p:to>
                                        <p:strVal val="visible"/>
                                      </p:to>
                                    </p:set>
                                    <p:anim calcmode="lin" valueType="num">
                                      <p:cBhvr additive="base">
                                        <p:cTn id="33" dur="500" fill="hold"/>
                                        <p:tgtEl>
                                          <p:spTgt spid="5">
                                            <p:txEl>
                                              <p:pRg st="12" end="12"/>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13DF6C9-FC3D-997F-4AF9-114754C38C85}"/>
              </a:ext>
            </a:extLst>
          </p:cNvPr>
          <p:cNvSpPr>
            <a:spLocks noGrp="1"/>
          </p:cNvSpPr>
          <p:nvPr>
            <p:ph type="sldNum" sz="quarter" idx="12"/>
          </p:nvPr>
        </p:nvSpPr>
        <p:spPr/>
        <p:txBody>
          <a:bodyPr/>
          <a:lstStyle/>
          <a:p>
            <a:fld id="{20D4B2D9-DB10-4EB9-B7A6-032A6D4E75AC}" type="slidenum">
              <a:rPr lang="pl-PL" smtClean="0"/>
              <a:pPr/>
              <a:t>70</a:t>
            </a:fld>
            <a:endParaRPr lang="pl-PL" dirty="0"/>
          </a:p>
        </p:txBody>
      </p:sp>
      <p:sp>
        <p:nvSpPr>
          <p:cNvPr id="4" name="Rectangle 2">
            <a:extLst>
              <a:ext uri="{FF2B5EF4-FFF2-40B4-BE49-F238E27FC236}">
                <a16:creationId xmlns:a16="http://schemas.microsoft.com/office/drawing/2014/main" id="{99B696AB-DC4F-E2E4-48A4-F8E157784575}"/>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pl-PL" sz="1600">
                <a:latin typeface="Arial" pitchFamily="34" charset="0"/>
                <a:ea typeface="+mj-lt"/>
                <a:cs typeface="Arial" pitchFamily="34" charset="0"/>
              </a:rPr>
              <a:t>Tensors</a:t>
            </a:r>
            <a:endParaRPr lang="en-GB" sz="4400" dirty="0">
              <a:latin typeface="Arial" pitchFamily="34" charset="0"/>
              <a:ea typeface="+mj-lt"/>
              <a:cs typeface="Arial" pitchFamily="34" charset="0"/>
            </a:endParaRPr>
          </a:p>
        </p:txBody>
      </p:sp>
      <p:sp>
        <p:nvSpPr>
          <p:cNvPr id="5" name="Rectangle 5">
            <a:extLst>
              <a:ext uri="{FF2B5EF4-FFF2-40B4-BE49-F238E27FC236}">
                <a16:creationId xmlns:a16="http://schemas.microsoft.com/office/drawing/2014/main" id="{602D6679-49C1-A8DB-E606-F3CD96E98DA0}"/>
              </a:ext>
            </a:extLst>
          </p:cNvPr>
          <p:cNvSpPr/>
          <p:nvPr/>
        </p:nvSpPr>
        <p:spPr>
          <a:xfrm>
            <a:off x="0" y="304800"/>
            <a:ext cx="12192000" cy="5632311"/>
          </a:xfrm>
          <a:prstGeom prst="rect">
            <a:avLst/>
          </a:prstGeom>
        </p:spPr>
        <p:txBody>
          <a:bodyPr wrap="square">
            <a:spAutoFit/>
          </a:bodyPr>
          <a:lstStyle/>
          <a:p>
            <a:r>
              <a:rPr lang="en-US" sz="2400" b="1">
                <a:solidFill>
                  <a:srgbClr val="000000"/>
                </a:solidFill>
                <a:latin typeface="Arial Narrow" panose="020B0606020202030204" pitchFamily="34" charset="0"/>
                <a:cs typeface="Calibri" panose="020F0502020204030204" pitchFamily="34" charset="0"/>
              </a:rPr>
              <a:t>Examples of tensors</a:t>
            </a:r>
            <a:r>
              <a:rPr lang="pl-PL" sz="2400" b="1">
                <a:solidFill>
                  <a:srgbClr val="000000"/>
                </a:solidFill>
                <a:latin typeface="Arial Narrow" panose="020B0606020202030204" pitchFamily="34" charset="0"/>
                <a:cs typeface="Calibri" panose="020F0502020204030204" pitchFamily="34" charset="0"/>
              </a:rPr>
              <a:t>, cont.</a:t>
            </a:r>
            <a:endParaRPr lang="pl-PL" sz="2400">
              <a:solidFill>
                <a:srgbClr val="000000"/>
              </a:solidFill>
              <a:latin typeface="Arial Narrow" panose="020B0606020202030204" pitchFamily="34" charset="0"/>
              <a:cs typeface="Calibri" panose="020F0502020204030204" pitchFamily="34" charset="0"/>
            </a:endParaRPr>
          </a:p>
          <a:p>
            <a:endParaRPr lang="pl-PL" sz="2400" dirty="0">
              <a:solidFill>
                <a:srgbClr val="000000"/>
              </a:solidFill>
              <a:latin typeface="Arial Narrow" panose="020B0606020202030204" pitchFamily="34" charset="0"/>
              <a:cs typeface="Calibri" panose="020F0502020204030204" pitchFamily="34" charset="0"/>
            </a:endParaRPr>
          </a:p>
          <a:p>
            <a:r>
              <a:rPr lang="en-US" sz="2400" b="1">
                <a:solidFill>
                  <a:srgbClr val="000000"/>
                </a:solidFill>
                <a:latin typeface="Arial Narrow" panose="020B0606020202030204" pitchFamily="34" charset="0"/>
                <a:cs typeface="Calibri" panose="020F0502020204030204" pitchFamily="34" charset="0"/>
              </a:rPr>
              <a:t>Four-dimensional tensors </a:t>
            </a:r>
            <a:r>
              <a:rPr lang="en-US" sz="2400">
                <a:solidFill>
                  <a:srgbClr val="000000"/>
                </a:solidFill>
                <a:latin typeface="Arial Narrow" panose="020B0606020202030204" pitchFamily="34" charset="0"/>
                <a:cs typeface="Calibri" panose="020F0502020204030204" pitchFamily="34" charset="0"/>
              </a:rPr>
              <a:t>(samples, height, width, color depth) – used for image recognition.</a:t>
            </a:r>
            <a:endParaRPr lang="pl-PL" sz="2400">
              <a:solidFill>
                <a:srgbClr val="000000"/>
              </a:solidFill>
              <a:latin typeface="Arial Narrow" panose="020B0606020202030204" pitchFamily="34" charset="0"/>
              <a:cs typeface="Calibri" panose="020F0502020204030204" pitchFamily="34" charset="0"/>
            </a:endParaRPr>
          </a:p>
          <a:p>
            <a:r>
              <a:rPr lang="pl-PL" sz="2400">
                <a:solidFill>
                  <a:srgbClr val="000000"/>
                </a:solidFill>
                <a:latin typeface="Arial Narrow" panose="020B0606020202030204" pitchFamily="34" charset="0"/>
                <a:cs typeface="Calibri" panose="020F0502020204030204" pitchFamily="34" charset="0"/>
              </a:rPr>
              <a:t>E</a:t>
            </a:r>
            <a:r>
              <a:rPr lang="en-US" sz="2400">
                <a:solidFill>
                  <a:srgbClr val="000000"/>
                </a:solidFill>
                <a:latin typeface="Arial Narrow" panose="020B0606020202030204" pitchFamily="34" charset="0"/>
                <a:cs typeface="Calibri" panose="020F0502020204030204" pitchFamily="34" charset="0"/>
              </a:rPr>
              <a:t>xample</a:t>
            </a:r>
            <a:r>
              <a:rPr lang="pl-PL" sz="2400">
                <a:solidFill>
                  <a:srgbClr val="000000"/>
                </a:solidFill>
                <a:latin typeface="Arial Narrow" panose="020B0606020202030204" pitchFamily="34" charset="0"/>
                <a:cs typeface="Calibri" panose="020F0502020204030204" pitchFamily="34" charset="0"/>
              </a:rPr>
              <a:t>:</a:t>
            </a:r>
          </a:p>
          <a:p>
            <a:r>
              <a:rPr lang="pl-PL" sz="2400">
                <a:solidFill>
                  <a:srgbClr val="000000"/>
                </a:solidFill>
                <a:latin typeface="Arial Narrow" panose="020B0606020202030204" pitchFamily="34" charset="0"/>
                <a:cs typeface="Calibri" panose="020F0502020204030204" pitchFamily="34" charset="0"/>
              </a:rPr>
              <a:t>F</a:t>
            </a:r>
            <a:r>
              <a:rPr lang="en-US" sz="2400">
                <a:solidFill>
                  <a:srgbClr val="000000"/>
                </a:solidFill>
                <a:latin typeface="Arial Narrow" panose="020B0606020202030204" pitchFamily="34" charset="0"/>
                <a:cs typeface="Calibri" panose="020F0502020204030204" pitchFamily="34" charset="0"/>
              </a:rPr>
              <a:t>or 500 colo</a:t>
            </a:r>
            <a:r>
              <a:rPr lang="pl-PL" sz="2400">
                <a:solidFill>
                  <a:srgbClr val="000000"/>
                </a:solidFill>
                <a:latin typeface="Arial Narrow" panose="020B0606020202030204" pitchFamily="34" charset="0"/>
                <a:cs typeface="Calibri" panose="020F0502020204030204" pitchFamily="34" charset="0"/>
              </a:rPr>
              <a:t>u</a:t>
            </a:r>
            <a:r>
              <a:rPr lang="en-US" sz="2400">
                <a:solidFill>
                  <a:srgbClr val="000000"/>
                </a:solidFill>
                <a:latin typeface="Arial Narrow" panose="020B0606020202030204" pitchFamily="34" charset="0"/>
                <a:cs typeface="Calibri" panose="020F0502020204030204" pitchFamily="34" charset="0"/>
              </a:rPr>
              <a:t>r images with a size of 50 × 60 pixels, a tensor with the following shape is required</a:t>
            </a:r>
            <a:r>
              <a:rPr lang="pl-PL" sz="2400">
                <a:solidFill>
                  <a:srgbClr val="000000"/>
                </a:solidFill>
                <a:latin typeface="Arial Narrow" panose="020B0606020202030204" pitchFamily="34" charset="0"/>
                <a:cs typeface="Calibri" panose="020F0502020204030204" pitchFamily="34" charset="0"/>
              </a:rPr>
              <a:t>(?):</a:t>
            </a:r>
          </a:p>
          <a:p>
            <a:r>
              <a:rPr lang="en-US" sz="2400">
                <a:solidFill>
                  <a:srgbClr val="000000"/>
                </a:solidFill>
                <a:latin typeface="Arial Narrow" panose="020B0606020202030204" pitchFamily="34" charset="0"/>
                <a:cs typeface="Calibri" panose="020F0502020204030204" pitchFamily="34" charset="0"/>
              </a:rPr>
              <a:t>(500, 50, 60, 3)</a:t>
            </a:r>
            <a:endParaRPr lang="pl-PL" sz="2400">
              <a:solidFill>
                <a:srgbClr val="000000"/>
              </a:solidFill>
              <a:latin typeface="Arial Narrow" panose="020B0606020202030204" pitchFamily="34" charset="0"/>
              <a:cs typeface="Calibri" panose="020F0502020204030204" pitchFamily="34" charset="0"/>
            </a:endParaRPr>
          </a:p>
          <a:p>
            <a:r>
              <a:rPr lang="en-US" sz="2400">
                <a:solidFill>
                  <a:srgbClr val="000000"/>
                </a:solidFill>
                <a:latin typeface="Arial Narrow" panose="020B0606020202030204" pitchFamily="34" charset="0"/>
                <a:cs typeface="Calibri" panose="020F0502020204030204" pitchFamily="34" charset="0"/>
              </a:rPr>
              <a:t>where the last axis, with dimension 3, represents the color channels (RGB).</a:t>
            </a:r>
            <a:endParaRPr lang="pl-PL" sz="2400">
              <a:solidFill>
                <a:srgbClr val="000000"/>
              </a:solidFill>
              <a:latin typeface="Arial Narrow" panose="020B0606020202030204" pitchFamily="34" charset="0"/>
              <a:cs typeface="Calibri" panose="020F0502020204030204" pitchFamily="34" charset="0"/>
            </a:endParaRPr>
          </a:p>
          <a:p>
            <a:endParaRPr lang="pl-PL" sz="2400">
              <a:solidFill>
                <a:srgbClr val="000000"/>
              </a:solidFill>
              <a:latin typeface="Arial Narrow" panose="020B0606020202030204" pitchFamily="34" charset="0"/>
              <a:cs typeface="Calibri" panose="020F0502020204030204" pitchFamily="34" charset="0"/>
            </a:endParaRPr>
          </a:p>
          <a:p>
            <a:endParaRPr lang="pl-PL" sz="2400">
              <a:solidFill>
                <a:srgbClr val="000000"/>
              </a:solidFill>
              <a:latin typeface="Arial Narrow" panose="020B0606020202030204" pitchFamily="34" charset="0"/>
              <a:cs typeface="Calibri" panose="020F0502020204030204" pitchFamily="34" charset="0"/>
            </a:endParaRPr>
          </a:p>
          <a:p>
            <a:r>
              <a:rPr lang="en-US" sz="2400" b="1">
                <a:latin typeface="Arial Narrow" panose="020B0606020202030204" pitchFamily="34" charset="0"/>
              </a:rPr>
              <a:t>Five-dimensional tensors</a:t>
            </a:r>
            <a:r>
              <a:rPr lang="en-US" sz="2400">
                <a:latin typeface="Arial Narrow" panose="020B0606020202030204" pitchFamily="34" charset="0"/>
              </a:rPr>
              <a:t> (samples, frames, height, width, color depth).</a:t>
            </a:r>
            <a:endParaRPr lang="pl-PL" sz="2400">
              <a:latin typeface="Arial Narrow" panose="020B0606020202030204" pitchFamily="34" charset="0"/>
            </a:endParaRPr>
          </a:p>
          <a:p>
            <a:r>
              <a:rPr lang="en-US" sz="2400">
                <a:latin typeface="Arial Narrow" panose="020B0606020202030204" pitchFamily="34" charset="0"/>
              </a:rPr>
              <a:t>Example:</a:t>
            </a:r>
            <a:endParaRPr lang="pl-PL" sz="2400">
              <a:latin typeface="Arial Narrow" panose="020B0606020202030204" pitchFamily="34" charset="0"/>
            </a:endParaRPr>
          </a:p>
          <a:p>
            <a:r>
              <a:rPr lang="en-US" sz="2400">
                <a:latin typeface="Arial Narrow" panose="020B0606020202030204" pitchFamily="34" charset="0"/>
              </a:rPr>
              <a:t>A video with a resolution of 144 × 256 lasting 60 seconds, at a frame rate of 4 frames per second, would consist of 240 frames (4 × 60).</a:t>
            </a:r>
            <a:endParaRPr lang="pl-PL" sz="2400">
              <a:latin typeface="Arial Narrow" panose="020B0606020202030204" pitchFamily="34" charset="0"/>
            </a:endParaRPr>
          </a:p>
          <a:p>
            <a:r>
              <a:rPr lang="en-US" sz="2400">
                <a:latin typeface="Arial Narrow" panose="020B0606020202030204" pitchFamily="34" charset="0"/>
              </a:rPr>
              <a:t>A sample of five videos can be stored in a tensor with the following shape</a:t>
            </a:r>
            <a:r>
              <a:rPr lang="pl-PL" sz="2400">
                <a:latin typeface="Arial Narrow" panose="020B0606020202030204" pitchFamily="34" charset="0"/>
              </a:rPr>
              <a:t>(?)</a:t>
            </a:r>
            <a:r>
              <a:rPr lang="en-US" sz="2400">
                <a:latin typeface="Arial Narrow" panose="020B0606020202030204" pitchFamily="34" charset="0"/>
              </a:rPr>
              <a:t>:</a:t>
            </a:r>
            <a:endParaRPr lang="pl-PL" sz="2400">
              <a:latin typeface="Arial Narrow" panose="020B0606020202030204" pitchFamily="34" charset="0"/>
            </a:endParaRPr>
          </a:p>
          <a:p>
            <a:r>
              <a:rPr lang="en-US" sz="2400">
                <a:latin typeface="Arial Narrow" panose="020B0606020202030204" pitchFamily="34" charset="0"/>
              </a:rPr>
              <a:t>(5, 240, 144, 256, 3)</a:t>
            </a:r>
            <a:endParaRPr lang="pl-PL" sz="2400" dirty="0">
              <a:latin typeface="Arial Narrow" panose="020B0606020202030204" pitchFamily="34" charset="0"/>
            </a:endParaRPr>
          </a:p>
        </p:txBody>
      </p:sp>
    </p:spTree>
    <p:extLst>
      <p:ext uri="{BB962C8B-B14F-4D97-AF65-F5344CB8AC3E}">
        <p14:creationId xmlns:p14="http://schemas.microsoft.com/office/powerpoint/2010/main" val="2627532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5" end="5"/>
                                            </p:txEl>
                                          </p:spTgt>
                                        </p:tgtEl>
                                        <p:attrNameLst>
                                          <p:attrName>style.visibility</p:attrName>
                                        </p:attrNameLst>
                                      </p:cBhvr>
                                      <p:to>
                                        <p:strVal val="visible"/>
                                      </p:to>
                                    </p:set>
                                    <p:anim calcmode="lin" valueType="num">
                                      <p:cBhvr additive="base">
                                        <p:cTn id="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6" end="6"/>
                                            </p:txEl>
                                          </p:spTgt>
                                        </p:tgtEl>
                                        <p:attrNameLst>
                                          <p:attrName>style.visibility</p:attrName>
                                        </p:attrNameLst>
                                      </p:cBhvr>
                                      <p:to>
                                        <p:strVal val="visible"/>
                                      </p:to>
                                    </p:set>
                                    <p:anim calcmode="lin" valueType="num">
                                      <p:cBhvr additive="base">
                                        <p:cTn id="11"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
                                            <p:txEl>
                                              <p:pRg st="9" end="9"/>
                                            </p:txEl>
                                          </p:spTgt>
                                        </p:tgtEl>
                                        <p:attrNameLst>
                                          <p:attrName>style.visibility</p:attrName>
                                        </p:attrNameLst>
                                      </p:cBhvr>
                                      <p:to>
                                        <p:strVal val="visible"/>
                                      </p:to>
                                    </p:set>
                                    <p:anim calcmode="lin" valueType="num">
                                      <p:cBhvr additive="base">
                                        <p:cTn id="17"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9" end="9"/>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
                                            <p:txEl>
                                              <p:pRg st="10" end="10"/>
                                            </p:txEl>
                                          </p:spTgt>
                                        </p:tgtEl>
                                        <p:attrNameLst>
                                          <p:attrName>style.visibility</p:attrName>
                                        </p:attrNameLst>
                                      </p:cBhvr>
                                      <p:to>
                                        <p:strVal val="visible"/>
                                      </p:to>
                                    </p:set>
                                    <p:anim calcmode="lin" valueType="num">
                                      <p:cBhvr additive="base">
                                        <p:cTn id="21"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
                                            <p:txEl>
                                              <p:pRg st="10" end="10"/>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5">
                                            <p:txEl>
                                              <p:pRg st="11" end="11"/>
                                            </p:txEl>
                                          </p:spTgt>
                                        </p:tgtEl>
                                        <p:attrNameLst>
                                          <p:attrName>style.visibility</p:attrName>
                                        </p:attrNameLst>
                                      </p:cBhvr>
                                      <p:to>
                                        <p:strVal val="visible"/>
                                      </p:to>
                                    </p:set>
                                    <p:anim calcmode="lin" valueType="num">
                                      <p:cBhvr additive="base">
                                        <p:cTn id="25" dur="500" fill="hold"/>
                                        <p:tgtEl>
                                          <p:spTgt spid="5">
                                            <p:txEl>
                                              <p:pRg st="11" end="1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11" end="11"/>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5">
                                            <p:txEl>
                                              <p:pRg st="12" end="12"/>
                                            </p:txEl>
                                          </p:spTgt>
                                        </p:tgtEl>
                                        <p:attrNameLst>
                                          <p:attrName>style.visibility</p:attrName>
                                        </p:attrNameLst>
                                      </p:cBhvr>
                                      <p:to>
                                        <p:strVal val="visible"/>
                                      </p:to>
                                    </p:set>
                                    <p:anim calcmode="lin" valueType="num">
                                      <p:cBhvr additive="base">
                                        <p:cTn id="29" dur="500" fill="hold"/>
                                        <p:tgtEl>
                                          <p:spTgt spid="5">
                                            <p:txEl>
                                              <p:pRg st="12" end="1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5">
                                            <p:txEl>
                                              <p:pRg st="13" end="13"/>
                                            </p:txEl>
                                          </p:spTgt>
                                        </p:tgtEl>
                                        <p:attrNameLst>
                                          <p:attrName>style.visibility</p:attrName>
                                        </p:attrNameLst>
                                      </p:cBhvr>
                                      <p:to>
                                        <p:strVal val="visible"/>
                                      </p:to>
                                    </p:set>
                                    <p:anim calcmode="lin" valueType="num">
                                      <p:cBhvr additive="base">
                                        <p:cTn id="35" dur="500" fill="hold"/>
                                        <p:tgtEl>
                                          <p:spTgt spid="5">
                                            <p:txEl>
                                              <p:pRg st="13" end="1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5">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151D22F-24B8-9D29-8135-E02BA04B8C53}"/>
              </a:ext>
            </a:extLst>
          </p:cNvPr>
          <p:cNvSpPr>
            <a:spLocks noGrp="1"/>
          </p:cNvSpPr>
          <p:nvPr>
            <p:ph type="sldNum" sz="quarter" idx="12"/>
          </p:nvPr>
        </p:nvSpPr>
        <p:spPr/>
        <p:txBody>
          <a:bodyPr/>
          <a:lstStyle/>
          <a:p>
            <a:fld id="{20D4B2D9-DB10-4EB9-B7A6-032A6D4E75AC}" type="slidenum">
              <a:rPr lang="pl-PL" smtClean="0"/>
              <a:pPr/>
              <a:t>71</a:t>
            </a:fld>
            <a:endParaRPr lang="pl-PL" dirty="0"/>
          </a:p>
        </p:txBody>
      </p:sp>
      <p:sp>
        <p:nvSpPr>
          <p:cNvPr id="4" name="Rectangle 2">
            <a:extLst>
              <a:ext uri="{FF2B5EF4-FFF2-40B4-BE49-F238E27FC236}">
                <a16:creationId xmlns:a16="http://schemas.microsoft.com/office/drawing/2014/main" id="{3C278222-D7B1-C6A8-3A14-93DF71BB1D96}"/>
              </a:ext>
            </a:extLst>
          </p:cNvPr>
          <p:cNvSpPr txBox="1">
            <a:spLocks noChangeArrowheads="1"/>
          </p:cNvSpPr>
          <p:nvPr/>
        </p:nvSpPr>
        <p:spPr>
          <a:xfrm>
            <a:off x="0" y="0"/>
            <a:ext cx="12192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lvl="0" algn="ctr">
              <a:defRPr/>
            </a:pPr>
            <a:r>
              <a:rPr lang="pl-PL" sz="1600">
                <a:latin typeface="Arial" pitchFamily="34" charset="0"/>
                <a:ea typeface="+mj-lt"/>
                <a:cs typeface="Arial" pitchFamily="34" charset="0"/>
              </a:rPr>
              <a:t>Tensors</a:t>
            </a:r>
            <a:endParaRPr lang="en-GB" sz="4400" dirty="0">
              <a:latin typeface="Arial" pitchFamily="34" charset="0"/>
              <a:ea typeface="+mj-lt"/>
              <a:cs typeface="Arial" pitchFamily="34" charset="0"/>
            </a:endParaRPr>
          </a:p>
        </p:txBody>
      </p:sp>
      <p:sp>
        <p:nvSpPr>
          <p:cNvPr id="8" name="Rectangle 5">
            <a:extLst>
              <a:ext uri="{FF2B5EF4-FFF2-40B4-BE49-F238E27FC236}">
                <a16:creationId xmlns:a16="http://schemas.microsoft.com/office/drawing/2014/main" id="{23ADBE1C-CA14-45F1-D2FC-7C056EBB77EF}"/>
              </a:ext>
            </a:extLst>
          </p:cNvPr>
          <p:cNvSpPr/>
          <p:nvPr/>
        </p:nvSpPr>
        <p:spPr>
          <a:xfrm>
            <a:off x="-76200" y="309880"/>
            <a:ext cx="12115800" cy="3385542"/>
          </a:xfrm>
          <a:prstGeom prst="rect">
            <a:avLst/>
          </a:prstGeom>
        </p:spPr>
        <p:txBody>
          <a:bodyPr wrap="square">
            <a:spAutoFit/>
          </a:bodyPr>
          <a:lstStyle/>
          <a:p>
            <a:r>
              <a:rPr lang="pl-PL" sz="2400" b="1">
                <a:solidFill>
                  <a:srgbClr val="000000"/>
                </a:solidFill>
                <a:latin typeface="Arial Narrow" panose="020B0606020202030204" pitchFamily="34" charset="0"/>
                <a:cs typeface="Calibri" panose="020F0502020204030204" pitchFamily="34" charset="0"/>
              </a:rPr>
              <a:t>Selected operations on tensors:</a:t>
            </a:r>
            <a:endParaRPr lang="pl-PL" sz="2400" b="1" dirty="0">
              <a:solidFill>
                <a:srgbClr val="000000"/>
              </a:solidFill>
              <a:latin typeface="Arial Narrow" panose="020B0606020202030204" pitchFamily="34" charset="0"/>
              <a:cs typeface="Calibri" panose="020F0502020204030204" pitchFamily="34" charset="0"/>
            </a:endParaRPr>
          </a:p>
          <a:p>
            <a:pPr marL="177800" indent="-177800">
              <a:spcBef>
                <a:spcPts val="1200"/>
              </a:spcBef>
              <a:buFont typeface="Arial" panose="020B0604020202020204" pitchFamily="34" charset="0"/>
              <a:buChar char="•"/>
              <a:tabLst>
                <a:tab pos="177800" algn="l"/>
              </a:tabLst>
            </a:pPr>
            <a:r>
              <a:rPr lang="pl-PL" sz="2000" b="1">
                <a:solidFill>
                  <a:srgbClr val="000000"/>
                </a:solidFill>
                <a:latin typeface="Arial Narrow" panose="020B0606020202030204" pitchFamily="34" charset="0"/>
                <a:cs typeface="Calibri" panose="020F0502020204030204" pitchFamily="34" charset="0"/>
              </a:rPr>
              <a:t>r</a:t>
            </a:r>
            <a:r>
              <a:rPr lang="en-US" sz="2000" b="1">
                <a:solidFill>
                  <a:srgbClr val="000000"/>
                </a:solidFill>
                <a:latin typeface="Arial Narrow" panose="020B0606020202030204" pitchFamily="34" charset="0"/>
                <a:cs typeface="Calibri" panose="020F0502020204030204" pitchFamily="34" charset="0"/>
              </a:rPr>
              <a:t>eshaping </a:t>
            </a:r>
            <a:r>
              <a:rPr lang="en-US" sz="2000">
                <a:solidFill>
                  <a:srgbClr val="000000"/>
                </a:solidFill>
                <a:latin typeface="Arial Narrow" panose="020B0606020202030204" pitchFamily="34" charset="0"/>
                <a:cs typeface="Calibri" panose="020F0502020204030204" pitchFamily="34" charset="0"/>
              </a:rPr>
              <a:t>a tensor</a:t>
            </a:r>
            <a:r>
              <a:rPr lang="pl-PL" sz="2000">
                <a:solidFill>
                  <a:srgbClr val="000000"/>
                </a:solidFill>
                <a:latin typeface="Arial Narrow" panose="020B0606020202030204" pitchFamily="34" charset="0"/>
                <a:cs typeface="Calibri" panose="020F0502020204030204" pitchFamily="34" charset="0"/>
              </a:rPr>
              <a:t> </a:t>
            </a:r>
            <a:r>
              <a:rPr lang="en-US" sz="2000">
                <a:solidFill>
                  <a:srgbClr val="000000"/>
                </a:solidFill>
                <a:latin typeface="Arial Narrow" panose="020B0606020202030204" pitchFamily="34" charset="0"/>
                <a:cs typeface="Calibri" panose="020F0502020204030204" pitchFamily="34" charset="0"/>
              </a:rPr>
              <a:t>– changing the size, number of axes, or rank of a tensor. For example, a one-dimensional tensor </a:t>
            </a:r>
            <a:br>
              <a:rPr lang="pl-PL" sz="2000">
                <a:solidFill>
                  <a:srgbClr val="000000"/>
                </a:solidFill>
                <a:latin typeface="Arial Narrow" panose="020B0606020202030204" pitchFamily="34" charset="0"/>
                <a:cs typeface="Calibri" panose="020F0502020204030204" pitchFamily="34" charset="0"/>
              </a:rPr>
            </a:br>
            <a:r>
              <a:rPr lang="en-US" sz="2000">
                <a:solidFill>
                  <a:srgbClr val="000000"/>
                </a:solidFill>
                <a:latin typeface="Arial Narrow" panose="020B0606020202030204" pitchFamily="34" charset="0"/>
                <a:cs typeface="Calibri" panose="020F0502020204030204" pitchFamily="34" charset="0"/>
              </a:rPr>
              <a:t>can be transformed into a two-dimensional tensor. The reshaped tensor has the same number of elements as the original </a:t>
            </a:r>
            <a:r>
              <a:rPr lang="pl-PL" sz="2000">
                <a:solidFill>
                  <a:srgbClr val="000000"/>
                </a:solidFill>
                <a:latin typeface="Arial Narrow" panose="020B0606020202030204" pitchFamily="34" charset="0"/>
                <a:cs typeface="Calibri" panose="020F0502020204030204" pitchFamily="34" charset="0"/>
              </a:rPr>
              <a:t>one.</a:t>
            </a:r>
            <a:br>
              <a:rPr lang="pl-PL" sz="2000">
                <a:solidFill>
                  <a:srgbClr val="000000"/>
                </a:solidFill>
                <a:latin typeface="Arial Narrow" panose="020B0606020202030204" pitchFamily="34" charset="0"/>
                <a:cs typeface="Calibri" panose="020F0502020204030204" pitchFamily="34" charset="0"/>
              </a:rPr>
            </a:br>
            <a:r>
              <a:rPr lang="pl-PL" sz="2000">
                <a:solidFill>
                  <a:srgbClr val="000000"/>
                </a:solidFill>
                <a:latin typeface="Arial Narrow" panose="020B0606020202030204" pitchFamily="34" charset="0"/>
                <a:cs typeface="Calibri" panose="020F0502020204030204" pitchFamily="34" charset="0"/>
              </a:rPr>
              <a:t>Example:</a:t>
            </a:r>
            <a:br>
              <a:rPr lang="pl-PL" sz="2000" dirty="0">
                <a:solidFill>
                  <a:srgbClr val="000000"/>
                </a:solidFill>
                <a:latin typeface="Arial Narrow" panose="020B0606020202030204" pitchFamily="34" charset="0"/>
                <a:cs typeface="Calibri" panose="020F0502020204030204" pitchFamily="34" charset="0"/>
              </a:rPr>
            </a:br>
            <a:r>
              <a:rPr lang="pl-PL" sz="2000" dirty="0">
                <a:solidFill>
                  <a:srgbClr val="000000"/>
                </a:solidFill>
                <a:latin typeface="Arial Narrow" panose="020B0606020202030204" pitchFamily="34" charset="0"/>
                <a:cs typeface="Calibri" panose="020F0502020204030204" pitchFamily="34" charset="0"/>
              </a:rPr>
              <a:t>tensor (24</a:t>
            </a:r>
            <a:r>
              <a:rPr lang="pl-PL" sz="2000">
                <a:solidFill>
                  <a:srgbClr val="000000"/>
                </a:solidFill>
                <a:latin typeface="Arial Narrow" panose="020B0606020202030204" pitchFamily="34" charset="0"/>
                <a:cs typeface="Calibri" panose="020F0502020204030204" pitchFamily="34" charset="0"/>
              </a:rPr>
              <a:t>,) can be converted into </a:t>
            </a:r>
            <a:r>
              <a:rPr lang="pl-PL" sz="2000" dirty="0">
                <a:solidFill>
                  <a:srgbClr val="000000"/>
                </a:solidFill>
                <a:latin typeface="Arial Narrow" panose="020B0606020202030204" pitchFamily="34" charset="0"/>
                <a:cs typeface="Calibri" panose="020F0502020204030204" pitchFamily="34" charset="0"/>
              </a:rPr>
              <a:t>(8,3</a:t>
            </a:r>
            <a:r>
              <a:rPr lang="pl-PL" sz="2000">
                <a:solidFill>
                  <a:srgbClr val="000000"/>
                </a:solidFill>
                <a:latin typeface="Arial Narrow" panose="020B0606020202030204" pitchFamily="34" charset="0"/>
                <a:cs typeface="Calibri" panose="020F0502020204030204" pitchFamily="34" charset="0"/>
              </a:rPr>
              <a:t>) or </a:t>
            </a:r>
            <a:r>
              <a:rPr lang="pl-PL" sz="2000" dirty="0">
                <a:solidFill>
                  <a:srgbClr val="000000"/>
                </a:solidFill>
                <a:latin typeface="Arial Narrow" panose="020B0606020202030204" pitchFamily="34" charset="0"/>
                <a:cs typeface="Calibri" panose="020F0502020204030204" pitchFamily="34" charset="0"/>
              </a:rPr>
              <a:t>(</a:t>
            </a:r>
            <a:r>
              <a:rPr lang="pl-PL" sz="2000">
                <a:solidFill>
                  <a:srgbClr val="000000"/>
                </a:solidFill>
                <a:latin typeface="Arial Narrow" panose="020B0606020202030204" pitchFamily="34" charset="0"/>
                <a:cs typeface="Calibri" panose="020F0502020204030204" pitchFamily="34" charset="0"/>
              </a:rPr>
              <a:t>4,2,3)</a:t>
            </a:r>
            <a:endParaRPr lang="pl-PL" sz="2000" b="1">
              <a:solidFill>
                <a:srgbClr val="000000"/>
              </a:solidFill>
              <a:latin typeface="Arial Narrow" panose="020B0606020202030204" pitchFamily="34" charset="0"/>
              <a:cs typeface="Calibri" panose="020F0502020204030204" pitchFamily="34" charset="0"/>
            </a:endParaRPr>
          </a:p>
          <a:p>
            <a:pPr marL="177800" indent="-177800">
              <a:spcBef>
                <a:spcPts val="1200"/>
              </a:spcBef>
              <a:buFont typeface="Arial" panose="020B0604020202020204" pitchFamily="34" charset="0"/>
              <a:buChar char="•"/>
              <a:tabLst>
                <a:tab pos="177800" algn="l"/>
              </a:tabLst>
            </a:pPr>
            <a:r>
              <a:rPr lang="pl-PL" sz="2000" b="1">
                <a:solidFill>
                  <a:srgbClr val="000000"/>
                </a:solidFill>
                <a:latin typeface="Arial Narrow" panose="020B0606020202030204" pitchFamily="34" charset="0"/>
                <a:cs typeface="Calibri" panose="020F0502020204030204" pitchFamily="34" charset="0"/>
              </a:rPr>
              <a:t>flattening</a:t>
            </a:r>
            <a:r>
              <a:rPr lang="pl-PL" sz="2000">
                <a:solidFill>
                  <a:srgbClr val="000000"/>
                </a:solidFill>
                <a:latin typeface="Arial Narrow" panose="020B0606020202030204" pitchFamily="34" charset="0"/>
                <a:cs typeface="Calibri" panose="020F0502020204030204" pitchFamily="34" charset="0"/>
              </a:rPr>
              <a:t> – a reshape operation that involves transforming a multidimensional tensor into a one-dimensional tensor</a:t>
            </a:r>
          </a:p>
          <a:p>
            <a:pPr marL="177800" indent="-177800">
              <a:spcBef>
                <a:spcPts val="1200"/>
              </a:spcBef>
              <a:buFont typeface="Arial" panose="020B0604020202020204" pitchFamily="34" charset="0"/>
              <a:buChar char="•"/>
              <a:tabLst>
                <a:tab pos="177800" algn="l"/>
              </a:tabLst>
            </a:pPr>
            <a:r>
              <a:rPr lang="pl-PL" sz="2000" b="1">
                <a:solidFill>
                  <a:srgbClr val="000000"/>
                </a:solidFill>
                <a:latin typeface="Arial Narrow" panose="020B0606020202030204" pitchFamily="34" charset="0"/>
                <a:cs typeface="Calibri" panose="020F0502020204030204" pitchFamily="34" charset="0"/>
              </a:rPr>
              <a:t>split </a:t>
            </a:r>
            <a:r>
              <a:rPr lang="pl-PL" sz="2000">
                <a:solidFill>
                  <a:srgbClr val="000000"/>
                </a:solidFill>
                <a:latin typeface="Arial Narrow" panose="020B0606020202030204" pitchFamily="34" charset="0"/>
                <a:cs typeface="Calibri" panose="020F0502020204030204" pitchFamily="34" charset="0"/>
              </a:rPr>
              <a:t>– </a:t>
            </a:r>
            <a:r>
              <a:rPr lang="en-US" sz="2000">
                <a:solidFill>
                  <a:srgbClr val="000000"/>
                </a:solidFill>
                <a:latin typeface="Arial Narrow" panose="020B0606020202030204" pitchFamily="34" charset="0"/>
                <a:cs typeface="Calibri" panose="020F0502020204030204" pitchFamily="34" charset="0"/>
              </a:rPr>
              <a:t>dividing a tensor into several smaller tensors along a selected axis</a:t>
            </a:r>
            <a:r>
              <a:rPr lang="pl-PL" sz="2000">
                <a:solidFill>
                  <a:srgbClr val="000000"/>
                </a:solidFill>
                <a:latin typeface="Arial Narrow" panose="020B0606020202030204" pitchFamily="34" charset="0"/>
                <a:cs typeface="Calibri" panose="020F0502020204030204" pitchFamily="34" charset="0"/>
              </a:rPr>
              <a:t>.</a:t>
            </a:r>
            <a:br>
              <a:rPr lang="pl-PL" sz="2000">
                <a:solidFill>
                  <a:srgbClr val="000000"/>
                </a:solidFill>
                <a:latin typeface="Arial Narrow" panose="020B0606020202030204" pitchFamily="34" charset="0"/>
                <a:cs typeface="Calibri" panose="020F0502020204030204" pitchFamily="34" charset="0"/>
              </a:rPr>
            </a:br>
            <a:r>
              <a:rPr lang="pl-PL" sz="2000">
                <a:solidFill>
                  <a:srgbClr val="000000"/>
                </a:solidFill>
                <a:latin typeface="Arial Narrow" panose="020B0606020202030204" pitchFamily="34" charset="0"/>
                <a:cs typeface="Calibri" panose="020F0502020204030204" pitchFamily="34" charset="0"/>
              </a:rPr>
              <a:t>E</a:t>
            </a:r>
            <a:r>
              <a:rPr lang="en-US" sz="2000">
                <a:solidFill>
                  <a:srgbClr val="000000"/>
                </a:solidFill>
                <a:latin typeface="Arial Narrow" panose="020B0606020202030204" pitchFamily="34" charset="0"/>
                <a:cs typeface="Calibri" panose="020F0502020204030204" pitchFamily="34" charset="0"/>
              </a:rPr>
              <a:t>xample</a:t>
            </a:r>
            <a:r>
              <a:rPr lang="pl-PL" sz="2000">
                <a:solidFill>
                  <a:srgbClr val="000000"/>
                </a:solidFill>
                <a:latin typeface="Arial Narrow" panose="020B0606020202030204" pitchFamily="34" charset="0"/>
                <a:cs typeface="Calibri" panose="020F0502020204030204" pitchFamily="34" charset="0"/>
              </a:rPr>
              <a:t>:</a:t>
            </a:r>
            <a:br>
              <a:rPr lang="pl-PL" sz="2000">
                <a:solidFill>
                  <a:srgbClr val="000000"/>
                </a:solidFill>
                <a:latin typeface="Arial Narrow" panose="020B0606020202030204" pitchFamily="34" charset="0"/>
                <a:cs typeface="Calibri" panose="020F0502020204030204" pitchFamily="34" charset="0"/>
              </a:rPr>
            </a:br>
            <a:r>
              <a:rPr lang="en-US" sz="2000">
                <a:solidFill>
                  <a:srgbClr val="000000"/>
                </a:solidFill>
                <a:latin typeface="Arial Narrow" panose="020B0606020202030204" pitchFamily="34" charset="0"/>
                <a:cs typeface="Calibri" panose="020F0502020204030204" pitchFamily="34" charset="0"/>
              </a:rPr>
              <a:t>a tensor with dimensions 8×4 can be divided into two tensors with dimensions 6×4 and 2×4.</a:t>
            </a:r>
            <a:endParaRPr lang="pl-PL" sz="2000">
              <a:solidFill>
                <a:srgbClr val="000000"/>
              </a:solidFill>
              <a:latin typeface="Arial Narrow" panose="020B0606020202030204" pitchFamily="34" charset="0"/>
              <a:cs typeface="Calibri" panose="020F0502020204030204" pitchFamily="34" charset="0"/>
            </a:endParaRPr>
          </a:p>
        </p:txBody>
      </p:sp>
    </p:spTree>
    <p:extLst>
      <p:ext uri="{BB962C8B-B14F-4D97-AF65-F5344CB8AC3E}">
        <p14:creationId xmlns:p14="http://schemas.microsoft.com/office/powerpoint/2010/main" val="3809795998"/>
      </p:ext>
    </p:extLst>
  </p:cSld>
  <p:clrMapOvr>
    <a:masterClrMapping/>
  </p:clrMapOvr>
</p:sld>
</file>

<file path=ppt/theme/theme1.xml><?xml version="1.0" encoding="utf-8"?>
<a:theme xmlns:a="http://schemas.openxmlformats.org/drawingml/2006/main" name="Projekt niestandardowy">
  <a:themeElements>
    <a:clrScheme name="Pakiet 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Projekt niestandardowy">
  <a:themeElements>
    <a:clrScheme name="Pakiet 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otyw pakietu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Motyw pakietu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EDI</Template>
  <TotalTime>13025</TotalTime>
  <Words>5751</Words>
  <Application>Microsoft Office PowerPoint</Application>
  <PresentationFormat>Widescreen</PresentationFormat>
  <Paragraphs>721</Paragraphs>
  <Slides>71</Slides>
  <Notes>2</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71</vt:i4>
      </vt:variant>
    </vt:vector>
  </HeadingPairs>
  <TitlesOfParts>
    <vt:vector size="81" baseType="lpstr">
      <vt:lpstr>Aptos Narrow</vt:lpstr>
      <vt:lpstr>Arial</vt:lpstr>
      <vt:lpstr>Arial Narrow</vt:lpstr>
      <vt:lpstr>Avenir Next W1G</vt:lpstr>
      <vt:lpstr>Calibri</vt:lpstr>
      <vt:lpstr>Cambria Math</vt:lpstr>
      <vt:lpstr>Candara</vt:lpstr>
      <vt:lpstr>Garamond</vt:lpstr>
      <vt:lpstr>Projekt niestandardowy</vt:lpstr>
      <vt:lpstr>1_Projekt niestandardowy</vt:lpstr>
      <vt:lpstr>Machine Learning Models  Design  assoc. prof. Dariusz Put Krakow University of Economics, Poland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Dariusz Put</cp:lastModifiedBy>
  <cp:revision>1353</cp:revision>
  <cp:lastPrinted>1601-01-01T00:00:00Z</cp:lastPrinted>
  <dcterms:created xsi:type="dcterms:W3CDTF">1601-01-01T00:00:00Z</dcterms:created>
  <dcterms:modified xsi:type="dcterms:W3CDTF">2026-08-10T15:30:03Z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